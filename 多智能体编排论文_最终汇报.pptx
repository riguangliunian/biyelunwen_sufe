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2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3.xml" ContentType="application/vnd.openxmlformats-officedocument.theme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87" r:id="rId3"/>
    <p:sldMasterId id="2147483700" r:id="rId4"/>
  </p:sldMasterIdLst>
  <p:notesMasterIdLst>
    <p:notesMasterId r:id="rId29"/>
  </p:notesMasterIdLst>
  <p:sldIdLst>
    <p:sldId id="277" r:id="rId5"/>
    <p:sldId id="282" r:id="rId6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9" r:id="rId21"/>
    <p:sldId id="270" r:id="rId22"/>
    <p:sldId id="271" r:id="rId23"/>
    <p:sldId id="272" r:id="rId24"/>
    <p:sldId id="273" r:id="rId25"/>
    <p:sldId id="274" r:id="rId26"/>
    <p:sldId id="275" r:id="rId27"/>
    <p:sldId id="281" r:id="rId2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8"/>
    <p:restoredTop sz="94694"/>
  </p:normalViewPr>
  <p:slideViewPr>
    <p:cSldViewPr snapToGrid="0">
      <p:cViewPr varScale="1">
        <p:scale>
          <a:sx n="121" d="100"/>
          <a:sy n="121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73814-FEB6-4FE5-F6CD-E3085075F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8C0C5D-7DBD-789F-0136-B7BF5CEA7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D38EB-7C61-615A-15F9-7383B745A4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D36F-9394-6EAA-A192-2A74D6CC7239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5406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同时展示三层协议定义与一次任务链：ANP发现、A2A协作、MCP调用。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收束为可执行路径：先按控制需求选择框架，再按协作边界叠加协议，并交给生产设计与评价部分。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用一张完整比较表建立六类框架的共同坐标：核心原语、默认组织、状态恢复与适用场景。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AutoGen与Agents SDK的关键差异是下一步由开放对话动态决定，还是由预定义handoff明确交接。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先讲MetaGPT文档化流水线，再比较DSPy、AgentVerse、DyLAN和GPTSwarm的可调整对象。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收束为可执行路径：先按控制需求选择框架，再按协作边界叠加协议，并交给生产设计与评价部分。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用一张完整比较表建立六类框架的共同坐标：核心原语、默认组织、状态恢复与适用场景。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LangGraph与CrewAI代表控制粒度和上手速度的取舍。强调两者没有绝对优劣。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AutoGen与Agents SDK的关键差异是下一步由开放对话动态决定，还是由预定义handoff明确交接。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先讲MetaGPT文档化流水线，再比较DSPy、AgentVerse、DyLAN和GPTSwarm的可调整对象。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同时展示三层协议定义与一次任务链：ANP发现、A2A协作、MCP调用。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收束为可执行路径：先按控制需求选择框架，再按协作边界叠加协议，并交给生产设计与评价部分。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4F54D-F74C-EA1E-881A-EE24AFAC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5D1ED9-023B-CE9A-10C2-C897B8D1D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3D644-50CA-0A5D-38FF-F97270847E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916AA-AD77-AAFF-34DF-BA5211DB6E0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5834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67EAE2-CDDE-4314-8038-E7E21585CB48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4.png"/><Relationship Id="rId4" Type="http://schemas.openxmlformats.org/officeDocument/2006/relationships/image" Target="../media/image1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1.emf"/><Relationship Id="rId4" Type="http://schemas.openxmlformats.org/officeDocument/2006/relationships/image" Target="../media/image9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1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8.png"/><Relationship Id="rId4" Type="http://schemas.openxmlformats.org/officeDocument/2006/relationships/image" Target="../media/image11.emf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BF779D-706E-41EE-847D-E98566806D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24A88C-5B8F-4A04-9225-E1E87E2EDD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A7E4B-7DFE-43DE-91C9-E51864E9CCC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5839B3-FF10-4309-A781-E68F4CB0588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703B27-D6F0-4DD2-8305-008DF91C59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1A96E9-95EE-40B3-8DC2-AD8D8D80B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F9FFD2-4BD7-4F5C-9B1E-8B3B5FFA8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086FA2-7D1B-43FC-B550-13406309546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81DEC2-2040-4D47-8931-621E22E164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9660456-E87C-40B7-A86F-129CE390BE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CCD040-C8D7-4D04-96F5-B36338535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BB4138-D545-4E52-84FD-AE08AFD41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45B30-9394-4CC7-B2BE-F2C007789C2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C80940-C8DC-44A4-9CE8-99695A0BA9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BFFD1-749D-43A1-B16A-C29CB99F2D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C8D71-00AD-4DCD-A839-8AE87E58E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5AD2CD-69E3-47EA-AD46-635B3DF72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055CFD8-28A5-438F-8930-7E9EABCEF4A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68C311-94B0-4EC9-A258-EEB6FB8517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CB13934-3689-462C-9CCA-B2E46E2956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F2BDF4-D44D-4143-B2BC-E7AD82643F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CB1926-8DE1-4744-B4AB-B41842A3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3F0631F-F5FA-46E9-B686-55C47132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C78553-A565-4163-A6E1-BE7753BA64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24A7CD-E12F-47AF-A900-0084748199C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75BC423-1A67-4CC9-82EE-D770B1CA512B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49DC993-5B8D-4C4C-AC9B-93965D2D214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26D46E9-CB14-46A9-8A84-94FCEA92E6A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51780B4-EC03-4220-A8CA-CEFED1DDC4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1F9261-F4A3-4C3F-97D6-3D186E7CB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D4442BC-F935-4D24-8B9E-0120092F6C1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FE31C67-1FF4-4258-B30A-8893821CF75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EF5ED7-40F7-45A5-A941-46E90C3C49E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58F7B04-E18F-47C7-8C93-FC8BD3E5258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2DECD9B-FA71-4415-A04C-68F288B337B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648C66-3474-4CD5-8F2E-AF0FD36AC0C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69D20-970D-4124-975F-096C2B58E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197834-49E4-4028-8C5D-0D414D61D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192DB6-324F-4768-9F5E-694FF00E153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414A7DE-5E06-47A4-9697-62876D84120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82A34C-5456-428A-9C8C-0F6751492F5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0392D37-FB6D-4B8B-9C2B-172EBBF14D7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0FDDAA-63AB-423C-A21F-2746B9C92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9807F15-9876-4B48-800D-4DF64B6B29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99CA719-F272-49A7-99B6-F3AF9DC0EE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832FBF-BFF8-420F-BEEA-05617FBE3C8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8EBF2A-84A4-4EC4-B6D3-C843CCD5B50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0D753D-5860-48C9-931C-B51527BAB4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901B8-E61B-40B7-A790-E456C57A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BC3CA5C-F98C-4D9C-B7A2-9E171ACBD5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E6AD05-45D0-4BEE-91E4-6CE5E50FBEF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03CC61-AF6D-4967-9D92-EAC51D8432F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DC409C-70BC-42DC-B37D-4313ADB7CD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969FD8-E538-4A41-8B6A-6F4AB9210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8FD935B-BB8E-4E76-A8F6-22BDE04C90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986686-D326-4D3C-A0F6-619E90BE80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8C8AC5-3F46-4DFF-99F6-7DBD2ACA77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1E6AC-F016-46A3-9E49-C3EE758A4D3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33891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图片 2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1" name="图片 14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pic>
        <p:nvPicPr>
          <p:cNvPr id="42" name="图片 17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3212"/>
            <a:ext cx="12220576" cy="6858000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64034E8C-6F84-425E-A972-CD6304D8B8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1DAC36E-1336-4EC8-8952-9DA92A71B0B3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B61D5A4-92F6-4CF7-B2DC-236856268468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相聚统院 \\\</a:t>
            </a:r>
          </a:p>
        </p:txBody>
      </p:sp>
      <p:sp>
        <p:nvSpPr>
          <p:cNvPr id="33" name="平行四边形 4">
            <a:extLst>
              <a:ext uri="{FF2B5EF4-FFF2-40B4-BE49-F238E27FC236}">
                <a16:creationId xmlns:a16="http://schemas.microsoft.com/office/drawing/2014/main" id="{01B7B421-85B4-4BCE-A287-853625543264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5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平行四边形 4">
            <a:extLst>
              <a:ext uri="{FF2B5EF4-FFF2-40B4-BE49-F238E27FC236}">
                <a16:creationId xmlns:a16="http://schemas.microsoft.com/office/drawing/2014/main" id="{5E28E885-71A1-4FFF-B13F-B9C5253FC874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3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直接连接符 34">
            <a:extLst>
              <a:ext uri="{FF2B5EF4-FFF2-40B4-BE49-F238E27FC236}">
                <a16:creationId xmlns:a16="http://schemas.microsoft.com/office/drawing/2014/main" id="{CF93B45D-51F2-47F4-A697-B46866677325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1" name="标题 37">
            <a:extLst>
              <a:ext uri="{FF2B5EF4-FFF2-40B4-BE49-F238E27FC236}">
                <a16:creationId xmlns:a16="http://schemas.microsoft.com/office/drawing/2014/main" id="{B713886A-8566-41FB-922B-E8AB86C14D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pic>
        <p:nvPicPr>
          <p:cNvPr id="50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项图文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图片 36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36" name="图片 37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8C9FDEEB-678A-4F24-8EB1-7F181CFDC12A}"/>
              </a:ext>
            </a:extLst>
          </p:cNvPr>
          <p:cNvSpPr>
            <a:spLocks noGrp="1"/>
          </p:cNvSpPr>
          <p:nvPr/>
        </p:nvSpPr>
        <p:spPr>
          <a:xfrm>
            <a:off x="0" y="6572058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2D93E24-245E-4613-AA27-FDDA12871E0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429270F-8E6A-468B-9449-044AF78FA33E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  <p:sp>
        <p:nvSpPr>
          <p:cNvPr id="21" name="标题 37">
            <a:extLst>
              <a:ext uri="{FF2B5EF4-FFF2-40B4-BE49-F238E27FC236}">
                <a16:creationId xmlns:a16="http://schemas.microsoft.com/office/drawing/2014/main" id="{528F1BE5-FCBB-4911-93C6-F2298CC761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6F25825-AEF4-44C0-9C14-ECCC62820558}"/>
              </a:ext>
            </a:extLst>
          </p:cNvPr>
          <p:cNvSpPr>
            <a:spLocks noGrp="1"/>
          </p:cNvSpPr>
          <p:nvPr/>
        </p:nvSpPr>
        <p:spPr>
          <a:xfrm>
            <a:off x="7735187" y="3892374"/>
            <a:ext cx="3798000" cy="2196000"/>
          </a:xfrm>
          <a:prstGeom prst="rect">
            <a:avLst/>
          </a:prstGeom>
          <a:gradFill>
            <a:gsLst>
              <a:gs pos="17000">
                <a:srgbClr val="C00000">
                  <a:alpha val="64000"/>
                </a:srgbClr>
              </a:gs>
              <a:gs pos="100000">
                <a:srgbClr val="2E64A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84BB22F-7422-4A5B-A097-E57F4DC68EB9}"/>
              </a:ext>
            </a:extLst>
          </p:cNvPr>
          <p:cNvSpPr>
            <a:spLocks noGrp="1"/>
          </p:cNvSpPr>
          <p:nvPr/>
        </p:nvSpPr>
        <p:spPr>
          <a:xfrm>
            <a:off x="651414" y="1275296"/>
            <a:ext cx="3797072" cy="2196000"/>
          </a:xfrm>
          <a:prstGeom prst="rect">
            <a:avLst/>
          </a:prstGeom>
          <a:gradFill>
            <a:gsLst>
              <a:gs pos="17000">
                <a:srgbClr val="C00000">
                  <a:alpha val="64000"/>
                </a:srgbClr>
              </a:gs>
              <a:gs pos="100000">
                <a:srgbClr val="2E64AD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图片占位符 4">
            <a:extLst>
              <a:ext uri="{FF2B5EF4-FFF2-40B4-BE49-F238E27FC236}">
                <a16:creationId xmlns:a16="http://schemas.microsoft.com/office/drawing/2014/main" id="{9ABD654E-65AF-4AFD-90A5-3E7E4BBDC771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91772" y="1398034"/>
            <a:ext cx="3769201" cy="21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9" name="图片占位符 4">
            <a:extLst>
              <a:ext uri="{FF2B5EF4-FFF2-40B4-BE49-F238E27FC236}">
                <a16:creationId xmlns:a16="http://schemas.microsoft.com/office/drawing/2014/main" id="{4F1448C8-EDB8-4D89-9BE3-374DCB853B3A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7626366" y="3777228"/>
            <a:ext cx="3769201" cy="2196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2" name="平行四边形 4">
            <a:extLst>
              <a:ext uri="{FF2B5EF4-FFF2-40B4-BE49-F238E27FC236}">
                <a16:creationId xmlns:a16="http://schemas.microsoft.com/office/drawing/2014/main" id="{C88F30DB-E7DA-41A7-9E93-61B1D0B9E277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平行四边形 4">
            <a:extLst>
              <a:ext uri="{FF2B5EF4-FFF2-40B4-BE49-F238E27FC236}">
                <a16:creationId xmlns:a16="http://schemas.microsoft.com/office/drawing/2014/main" id="{9A581A25-8A29-4E5B-8350-FD7A876841C0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直接连接符 34">
            <a:extLst>
              <a:ext uri="{FF2B5EF4-FFF2-40B4-BE49-F238E27FC236}">
                <a16:creationId xmlns:a16="http://schemas.microsoft.com/office/drawing/2014/main" id="{E568A51A-420B-4A15-93A3-26B1BA83CE5E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48" name="图片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视频播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0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4" name="图片 51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0FF9F7B0-BB9F-4D3C-956B-657B8D7330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3A5D056-FE11-40A3-800F-CB1F3E581A12}"/>
              </a:ext>
            </a:extLst>
          </p:cNvPr>
          <p:cNvSpPr>
            <a:spLocks noGrp="1"/>
          </p:cNvSpPr>
          <p:nvPr/>
        </p:nvSpPr>
        <p:spPr>
          <a:xfrm flipH="1">
            <a:off x="-1776792" y="4839937"/>
            <a:ext cx="3981728" cy="982265"/>
          </a:xfrm>
          <a:custGeom>
            <a:avLst/>
            <a:gdLst>
              <a:gd name="connsiteX0" fmla="*/ 0 w 1719561"/>
              <a:gd name="connsiteY0" fmla="*/ 0 h 140210"/>
              <a:gd name="connsiteX1" fmla="*/ 1719561 w 1719561"/>
              <a:gd name="connsiteY1" fmla="*/ 0 h 140210"/>
              <a:gd name="connsiteX2" fmla="*/ 1684509 w 1719561"/>
              <a:gd name="connsiteY2" fmla="*/ 140210 h 140210"/>
              <a:gd name="connsiteX3" fmla="*/ 0 w 1719561"/>
              <a:gd name="connsiteY3" fmla="*/ 140210 h 140210"/>
            </a:gdLst>
            <a:ahLst/>
            <a:cxnLst/>
            <a:rect l="l" t="t" r="r" b="b"/>
            <a:pathLst>
              <a:path w="1719561" h="140210">
                <a:moveTo>
                  <a:pt x="0" y="0"/>
                </a:moveTo>
                <a:lnTo>
                  <a:pt x="1719561" y="0"/>
                </a:lnTo>
                <a:lnTo>
                  <a:pt x="1684509" y="140210"/>
                </a:lnTo>
                <a:lnTo>
                  <a:pt x="0" y="140210"/>
                </a:lnTo>
                <a:close/>
              </a:path>
            </a:pathLst>
          </a:custGeom>
          <a:grpFill/>
          <a:ln>
            <a:noFill/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3E84D85D-1AD3-453B-8F11-F6D5443D46D7}"/>
              </a:ext>
            </a:extLst>
          </p:cNvPr>
          <p:cNvSpPr>
            <a:spLocks noGrp="1"/>
          </p:cNvSpPr>
          <p:nvPr/>
        </p:nvSpPr>
        <p:spPr>
          <a:xfrm flipH="1">
            <a:off x="-1776792" y="6132862"/>
            <a:ext cx="3859731" cy="0"/>
          </a:xfrm>
          <a:prstGeom prst="line">
            <a:avLst/>
          </a:prstGeom>
          <a:grpFill/>
          <a:ln w="25400">
            <a:gradFill rotWithShape="1">
              <a:gsLst>
                <a:gs pos="3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97DDDB7D-2FB9-4B56-8130-E9095DB459B9}"/>
              </a:ext>
            </a:extLst>
          </p:cNvPr>
          <p:cNvSpPr>
            <a:spLocks noGrp="1"/>
          </p:cNvSpPr>
          <p:nvPr/>
        </p:nvSpPr>
        <p:spPr>
          <a:xfrm>
            <a:off x="10251936" y="1580175"/>
            <a:ext cx="3981728" cy="1747803"/>
          </a:xfrm>
          <a:custGeom>
            <a:avLst/>
            <a:gdLst>
              <a:gd name="connsiteX0" fmla="*/ 0 w 1719561"/>
              <a:gd name="connsiteY0" fmla="*/ 0 h 140210"/>
              <a:gd name="connsiteX1" fmla="*/ 1719561 w 1719561"/>
              <a:gd name="connsiteY1" fmla="*/ 0 h 140210"/>
              <a:gd name="connsiteX2" fmla="*/ 1684509 w 1719561"/>
              <a:gd name="connsiteY2" fmla="*/ 140210 h 140210"/>
              <a:gd name="connsiteX3" fmla="*/ 0 w 1719561"/>
              <a:gd name="connsiteY3" fmla="*/ 140210 h 140210"/>
            </a:gdLst>
            <a:ahLst/>
            <a:cxnLst/>
            <a:rect l="l" t="t" r="r" b="b"/>
            <a:pathLst>
              <a:path w="1719561" h="140210">
                <a:moveTo>
                  <a:pt x="0" y="0"/>
                </a:moveTo>
                <a:lnTo>
                  <a:pt x="1719561" y="0"/>
                </a:lnTo>
                <a:lnTo>
                  <a:pt x="1684509" y="140210"/>
                </a:lnTo>
                <a:lnTo>
                  <a:pt x="0" y="140210"/>
                </a:lnTo>
                <a:close/>
              </a:path>
            </a:pathLst>
          </a:custGeom>
          <a:grpFill/>
          <a:ln>
            <a:noFill/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20117925-D555-41B9-A42C-CF4A5A81A290}"/>
              </a:ext>
            </a:extLst>
          </p:cNvPr>
          <p:cNvSpPr>
            <a:spLocks noGrp="1"/>
          </p:cNvSpPr>
          <p:nvPr/>
        </p:nvSpPr>
        <p:spPr>
          <a:xfrm>
            <a:off x="10251936" y="3880754"/>
            <a:ext cx="3859731" cy="0"/>
          </a:xfrm>
          <a:prstGeom prst="line">
            <a:avLst/>
          </a:prstGeom>
          <a:grpFill/>
          <a:ln w="25400">
            <a:gradFill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C00000">
                    <a:lumMod val="30000"/>
                    <a:lumOff val="70000"/>
                  </a:srgb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3" name="媒体占位符 2">
            <a:extLst>
              <a:ext uri="{FF2B5EF4-FFF2-40B4-BE49-F238E27FC236}">
                <a16:creationId xmlns:a16="http://schemas.microsoft.com/office/drawing/2014/main" id="{6276288C-3B81-4634-8DB2-1993748F1FBD}"/>
              </a:ext>
            </a:extLst>
          </p:cNvPr>
          <p:cNvSpPr>
            <a:spLocks noGrp="1"/>
          </p:cNvSpPr>
          <p:nvPr>
            <p:ph type="media" idx="10"/>
          </p:nvPr>
        </p:nvSpPr>
        <p:spPr>
          <a:xfrm>
            <a:off x="1778000" y="1371600"/>
            <a:ext cx="8917091" cy="4584700"/>
          </a:xfrm>
          <a:prstGeom prst="roundRect">
            <a:avLst>
              <a:gd name="adj" fmla="val 2817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gradFill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41000">
                  <a:schemeClr val="accent1">
                    <a:lumMod val="0"/>
                    <a:lumOff val="100000"/>
                  </a:schemeClr>
                </a:gs>
                <a:gs pos="59000">
                  <a:srgbClr val="2E64AD"/>
                </a:gs>
                <a:gs pos="100000">
                  <a:srgbClr val="C00000"/>
                </a:gs>
              </a:gsLst>
              <a:lin ang="2700000" scaled="1"/>
              <a:tileRect/>
            </a:gradFill>
          </a:ln>
        </p:spPr>
        <p:txBody>
          <a:bodyPr/>
          <a:lstStyle/>
          <a:p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DB4C86E-3A96-41F5-8B03-2C125C720C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标题 37">
            <a:extLst>
              <a:ext uri="{FF2B5EF4-FFF2-40B4-BE49-F238E27FC236}">
                <a16:creationId xmlns:a16="http://schemas.microsoft.com/office/drawing/2014/main" id="{442EFE96-8DD8-4AC0-BDDE-57DDA50CA0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43" name="平行四边形 4">
            <a:extLst>
              <a:ext uri="{FF2B5EF4-FFF2-40B4-BE49-F238E27FC236}">
                <a16:creationId xmlns:a16="http://schemas.microsoft.com/office/drawing/2014/main" id="{E941E8B0-E4EC-4097-BFBC-BAA5E06F0624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平行四边形 4">
            <a:extLst>
              <a:ext uri="{FF2B5EF4-FFF2-40B4-BE49-F238E27FC236}">
                <a16:creationId xmlns:a16="http://schemas.microsoft.com/office/drawing/2014/main" id="{83114550-290B-40A6-A14C-A32FCF856227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直接连接符 34">
            <a:extLst>
              <a:ext uri="{FF2B5EF4-FFF2-40B4-BE49-F238E27FC236}">
                <a16:creationId xmlns:a16="http://schemas.microsoft.com/office/drawing/2014/main" id="{6DBDCE50-02AC-46D4-89CC-2EA1A45C7E41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6" name="图片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8" name="矩形 47">
            <a:extLst>
              <a:ext uri="{FF2B5EF4-FFF2-40B4-BE49-F238E27FC236}">
                <a16:creationId xmlns:a16="http://schemas.microsoft.com/office/drawing/2014/main" id="{64298FF4-8151-4E23-B621-D1333B2E10C9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5929FE-D11F-46F0-97AA-1A35D14A1B9C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多项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40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60" name="图片 41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48" name="图片占位符 2">
            <a:extLst>
              <a:ext uri="{FF2B5EF4-FFF2-40B4-BE49-F238E27FC236}">
                <a16:creationId xmlns:a16="http://schemas.microsoft.com/office/drawing/2014/main" id="{B74A2290-A0C3-4CBC-8B4A-48CC0DCF34BE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839788" y="1535114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9" name="图片占位符 2">
            <a:extLst>
              <a:ext uri="{FF2B5EF4-FFF2-40B4-BE49-F238E27FC236}">
                <a16:creationId xmlns:a16="http://schemas.microsoft.com/office/drawing/2014/main" id="{28FDF41A-07CA-4E4A-A1FD-948B206860EC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033181" y="1535114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51" name="图片占位符 2">
            <a:extLst>
              <a:ext uri="{FF2B5EF4-FFF2-40B4-BE49-F238E27FC236}">
                <a16:creationId xmlns:a16="http://schemas.microsoft.com/office/drawing/2014/main" id="{0A51A7CA-C3B0-4143-9930-02DE74F90900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839788" y="3753432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52" name="图片占位符 2">
            <a:extLst>
              <a:ext uri="{FF2B5EF4-FFF2-40B4-BE49-F238E27FC236}">
                <a16:creationId xmlns:a16="http://schemas.microsoft.com/office/drawing/2014/main" id="{38641F1A-A96D-4EFF-9A6C-FF9C0EA4D964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5033181" y="3753432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54" name="图片占位符 2">
            <a:extLst>
              <a:ext uri="{FF2B5EF4-FFF2-40B4-BE49-F238E27FC236}">
                <a16:creationId xmlns:a16="http://schemas.microsoft.com/office/drawing/2014/main" id="{845E156F-BF83-427D-948D-88901C348A79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725683" y="1535114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55" name="图片占位符 2">
            <a:extLst>
              <a:ext uri="{FF2B5EF4-FFF2-40B4-BE49-F238E27FC236}">
                <a16:creationId xmlns:a16="http://schemas.microsoft.com/office/drawing/2014/main" id="{8C5075C9-45F0-4400-9A87-82FF66E07D61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725683" y="3753432"/>
            <a:ext cx="2704317" cy="154801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B9D3CD9-9F5D-437E-815C-6116FBD719E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3387230-EE32-4FAB-8DA1-8B7278F2F5A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标题 37">
            <a:extLst>
              <a:ext uri="{FF2B5EF4-FFF2-40B4-BE49-F238E27FC236}">
                <a16:creationId xmlns:a16="http://schemas.microsoft.com/office/drawing/2014/main" id="{557728A6-7BAC-4912-83C6-C110D60AF7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4" name="平行四边形 4">
            <a:extLst>
              <a:ext uri="{FF2B5EF4-FFF2-40B4-BE49-F238E27FC236}">
                <a16:creationId xmlns:a16="http://schemas.microsoft.com/office/drawing/2014/main" id="{CFBC76A5-027C-4E76-A208-5C6B04FCC6E6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D18EDD3C-1ED7-4B89-B985-11E96DFEB22B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直接连接符 34">
            <a:extLst>
              <a:ext uri="{FF2B5EF4-FFF2-40B4-BE49-F238E27FC236}">
                <a16:creationId xmlns:a16="http://schemas.microsoft.com/office/drawing/2014/main" id="{F7551EF0-28DF-4684-8006-E3C1C33F441B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3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9CB4263F-1627-4DAC-8957-545579CF22A1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F4C1FFB-DDD7-4D9D-9919-F996388E507F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项图文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36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31" name="图片 37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CB5E933-7969-4F9B-8B35-FCCDAA5505E6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39788" y="1244600"/>
            <a:ext cx="10585450" cy="2286000"/>
          </a:xfrm>
          <a:prstGeom prst="roundRect">
            <a:avLst>
              <a:gd name="adj" fmla="val 777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2B7D72C-939B-4020-8592-5A5907C017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1DDEB8-688F-405C-B590-394EBF7316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6" name="标题 37">
            <a:extLst>
              <a:ext uri="{FF2B5EF4-FFF2-40B4-BE49-F238E27FC236}">
                <a16:creationId xmlns:a16="http://schemas.microsoft.com/office/drawing/2014/main" id="{3DD12BEE-F509-4CC9-A413-88F0D2E831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19" name="平行四边形 4">
            <a:extLst>
              <a:ext uri="{FF2B5EF4-FFF2-40B4-BE49-F238E27FC236}">
                <a16:creationId xmlns:a16="http://schemas.microsoft.com/office/drawing/2014/main" id="{7CED4BC3-6602-4E09-A131-845955BD8B8C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平行四边形 4">
            <a:extLst>
              <a:ext uri="{FF2B5EF4-FFF2-40B4-BE49-F238E27FC236}">
                <a16:creationId xmlns:a16="http://schemas.microsoft.com/office/drawing/2014/main" id="{41CFCA3A-812E-4442-8C4C-9F049E5E075B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直接连接符 34">
            <a:extLst>
              <a:ext uri="{FF2B5EF4-FFF2-40B4-BE49-F238E27FC236}">
                <a16:creationId xmlns:a16="http://schemas.microsoft.com/office/drawing/2014/main" id="{608CBE3B-E8BD-4ADB-990E-C2561A3C1E5C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39" name="图片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730A7B7E-87EE-4ED5-AE3B-F1278C53F69C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B6C423A-7B27-4339-8686-32AA35E5683D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项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24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5" name="图片 25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26B744DD-568D-4C58-A95B-248EF1F5AB88}"/>
              </a:ext>
            </a:extLst>
          </p:cNvPr>
          <p:cNvSpPr>
            <a:spLocks noGrp="1"/>
          </p:cNvSpPr>
          <p:nvPr/>
        </p:nvSpPr>
        <p:spPr>
          <a:xfrm flipH="1">
            <a:off x="150448" y="5165881"/>
            <a:ext cx="3981728" cy="385004"/>
          </a:xfrm>
          <a:custGeom>
            <a:avLst/>
            <a:gdLst>
              <a:gd name="connsiteX0" fmla="*/ 0 w 1719561"/>
              <a:gd name="connsiteY0" fmla="*/ 0 h 140210"/>
              <a:gd name="connsiteX1" fmla="*/ 1719561 w 1719561"/>
              <a:gd name="connsiteY1" fmla="*/ 0 h 140210"/>
              <a:gd name="connsiteX2" fmla="*/ 1684509 w 1719561"/>
              <a:gd name="connsiteY2" fmla="*/ 140210 h 140210"/>
              <a:gd name="connsiteX3" fmla="*/ 0 w 1719561"/>
              <a:gd name="connsiteY3" fmla="*/ 140210 h 140210"/>
            </a:gdLst>
            <a:ahLst/>
            <a:cxnLst/>
            <a:rect l="l" t="t" r="r" b="b"/>
            <a:pathLst>
              <a:path w="1719561" h="140210">
                <a:moveTo>
                  <a:pt x="0" y="0"/>
                </a:moveTo>
                <a:lnTo>
                  <a:pt x="1719561" y="0"/>
                </a:lnTo>
                <a:lnTo>
                  <a:pt x="1684509" y="140210"/>
                </a:lnTo>
                <a:lnTo>
                  <a:pt x="0" y="140210"/>
                </a:lnTo>
                <a:close/>
              </a:path>
            </a:pathLst>
          </a:custGeom>
          <a:grpFill/>
          <a:ln>
            <a:noFill/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81960247-19D2-45F7-80DD-50F700CCEEC7}"/>
              </a:ext>
            </a:extLst>
          </p:cNvPr>
          <p:cNvSpPr>
            <a:spLocks noGrp="1"/>
          </p:cNvSpPr>
          <p:nvPr/>
        </p:nvSpPr>
        <p:spPr>
          <a:xfrm flipH="1">
            <a:off x="150448" y="5672650"/>
            <a:ext cx="3859731" cy="0"/>
          </a:xfrm>
          <a:prstGeom prst="line">
            <a:avLst/>
          </a:prstGeom>
          <a:grpFill/>
          <a:ln w="25400">
            <a:gradFill rotWithShape="1">
              <a:gsLst>
                <a:gs pos="300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3" name="图片占位符 65">
            <a:extLst>
              <a:ext uri="{FF2B5EF4-FFF2-40B4-BE49-F238E27FC236}">
                <a16:creationId xmlns:a16="http://schemas.microsoft.com/office/drawing/2014/main" id="{01F9AEFC-42AF-4948-A917-684D6E6693B6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935690" y="3200400"/>
            <a:ext cx="2062164" cy="2646879"/>
          </a:xfrm>
          <a:custGeom>
            <a:avLst/>
            <a:gdLst>
              <a:gd name="connsiteX0" fmla="*/ 0 w 2306169"/>
              <a:gd name="connsiteY0" fmla="*/ 0 h 2960070"/>
              <a:gd name="connsiteX1" fmla="*/ 2306169 w 2306169"/>
              <a:gd name="connsiteY1" fmla="*/ 0 h 2960070"/>
              <a:gd name="connsiteX2" fmla="*/ 2306169 w 2306169"/>
              <a:gd name="connsiteY2" fmla="*/ 2960070 h 2960070"/>
              <a:gd name="connsiteX3" fmla="*/ 0 w 2306169"/>
              <a:gd name="connsiteY3" fmla="*/ 2960070 h 2960070"/>
            </a:gdLst>
            <a:ahLst/>
            <a:cxnLst/>
            <a:rect l="l" t="t" r="r" b="b"/>
            <a:pathLst>
              <a:path w="2306169" h="2960070">
                <a:moveTo>
                  <a:pt x="0" y="0"/>
                </a:moveTo>
                <a:lnTo>
                  <a:pt x="2306169" y="0"/>
                </a:lnTo>
                <a:lnTo>
                  <a:pt x="2306169" y="2960070"/>
                </a:lnTo>
                <a:lnTo>
                  <a:pt x="0" y="296007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txBody>
          <a:bodyPr wrap="square">
            <a:noAutofit/>
          </a:bodyPr>
          <a:lstStyle/>
          <a:p>
            <a:endParaRPr/>
          </a:p>
        </p:txBody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1A3A7144-8008-4953-89CC-5D2AE81D492A}"/>
              </a:ext>
            </a:extLst>
          </p:cNvPr>
          <p:cNvSpPr>
            <a:spLocks noGrp="1"/>
          </p:cNvSpPr>
          <p:nvPr/>
        </p:nvSpPr>
        <p:spPr>
          <a:xfrm>
            <a:off x="8155692" y="4213381"/>
            <a:ext cx="3981728" cy="385004"/>
          </a:xfrm>
          <a:custGeom>
            <a:avLst/>
            <a:gdLst>
              <a:gd name="connsiteX0" fmla="*/ 0 w 1719561"/>
              <a:gd name="connsiteY0" fmla="*/ 0 h 140210"/>
              <a:gd name="connsiteX1" fmla="*/ 1719561 w 1719561"/>
              <a:gd name="connsiteY1" fmla="*/ 0 h 140210"/>
              <a:gd name="connsiteX2" fmla="*/ 1684509 w 1719561"/>
              <a:gd name="connsiteY2" fmla="*/ 140210 h 140210"/>
              <a:gd name="connsiteX3" fmla="*/ 0 w 1719561"/>
              <a:gd name="connsiteY3" fmla="*/ 140210 h 140210"/>
            </a:gdLst>
            <a:ahLst/>
            <a:cxnLst/>
            <a:rect l="l" t="t" r="r" b="b"/>
            <a:pathLst>
              <a:path w="1719561" h="140210">
                <a:moveTo>
                  <a:pt x="0" y="0"/>
                </a:moveTo>
                <a:lnTo>
                  <a:pt x="1719561" y="0"/>
                </a:lnTo>
                <a:lnTo>
                  <a:pt x="1684509" y="140210"/>
                </a:lnTo>
                <a:lnTo>
                  <a:pt x="0" y="140210"/>
                </a:lnTo>
                <a:close/>
              </a:path>
            </a:pathLst>
          </a:custGeom>
          <a:grpFill/>
          <a:ln>
            <a:noFill/>
          </a:ln>
          <a:effectLst>
            <a:outerShdw blurRad="190500" sx="97000" sy="97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8" name="直接连接符 37">
            <a:extLst>
              <a:ext uri="{FF2B5EF4-FFF2-40B4-BE49-F238E27FC236}">
                <a16:creationId xmlns:a16="http://schemas.microsoft.com/office/drawing/2014/main" id="{D274E898-841B-4435-910F-ABB08576F4A6}"/>
              </a:ext>
            </a:extLst>
          </p:cNvPr>
          <p:cNvSpPr>
            <a:spLocks noGrp="1"/>
          </p:cNvSpPr>
          <p:nvPr/>
        </p:nvSpPr>
        <p:spPr>
          <a:xfrm>
            <a:off x="8155692" y="4720150"/>
            <a:ext cx="3859731" cy="0"/>
          </a:xfrm>
          <a:prstGeom prst="line">
            <a:avLst/>
          </a:prstGeom>
          <a:grpFill/>
          <a:ln w="25400">
            <a:gradFill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图片占位符 68">
            <a:extLst>
              <a:ext uri="{FF2B5EF4-FFF2-40B4-BE49-F238E27FC236}">
                <a16:creationId xmlns:a16="http://schemas.microsoft.com/office/drawing/2014/main" id="{4C759284-2DA2-4939-9A47-3CA641C65C8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5997851" y="2705100"/>
            <a:ext cx="2698760" cy="3263445"/>
          </a:xfrm>
          <a:custGeom>
            <a:avLst/>
            <a:gdLst>
              <a:gd name="connsiteX0" fmla="*/ 0 w 2698760"/>
              <a:gd name="connsiteY0" fmla="*/ 0 h 3463979"/>
              <a:gd name="connsiteX1" fmla="*/ 2698760 w 2698760"/>
              <a:gd name="connsiteY1" fmla="*/ 0 h 3463979"/>
              <a:gd name="connsiteX2" fmla="*/ 2698760 w 2698760"/>
              <a:gd name="connsiteY2" fmla="*/ 3463979 h 3463979"/>
              <a:gd name="connsiteX3" fmla="*/ 0 w 2698760"/>
              <a:gd name="connsiteY3" fmla="*/ 3463979 h 3463979"/>
            </a:gdLst>
            <a:ahLst/>
            <a:cxnLst/>
            <a:rect l="l" t="t" r="r" b="b"/>
            <a:pathLst>
              <a:path w="2698760" h="3463979">
                <a:moveTo>
                  <a:pt x="0" y="0"/>
                </a:moveTo>
                <a:lnTo>
                  <a:pt x="2698760" y="0"/>
                </a:lnTo>
                <a:lnTo>
                  <a:pt x="2698760" y="3463979"/>
                </a:lnTo>
                <a:lnTo>
                  <a:pt x="0" y="346397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bg1"/>
            </a:solidFill>
          </a:ln>
          <a:effectLst>
            <a:outerShdw blurRad="571500" sx="102000" sy="102000" algn="ctr" rotWithShape="0">
              <a:prstClr val="black">
                <a:alpha val="24000"/>
              </a:prstClr>
            </a:outerShdw>
          </a:effectLst>
        </p:spPr>
        <p:txBody>
          <a:bodyPr wrap="square">
            <a:noAutofit/>
          </a:bodyPr>
          <a:lstStyle/>
          <a:p>
            <a:endParaRPr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A06820C-A811-4650-A7EA-BD6C4243EA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994EDCD-FBEC-48F8-B4E8-6AA9AD4E6F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标题 37">
            <a:extLst>
              <a:ext uri="{FF2B5EF4-FFF2-40B4-BE49-F238E27FC236}">
                <a16:creationId xmlns:a16="http://schemas.microsoft.com/office/drawing/2014/main" id="{7B712FBB-CCF8-4C0C-A5DF-3F3FD92C04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44" name="平行四边形 4">
            <a:extLst>
              <a:ext uri="{FF2B5EF4-FFF2-40B4-BE49-F238E27FC236}">
                <a16:creationId xmlns:a16="http://schemas.microsoft.com/office/drawing/2014/main" id="{B2471123-10A7-49AF-95AE-91851E9BA153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平行四边形 4">
            <a:extLst>
              <a:ext uri="{FF2B5EF4-FFF2-40B4-BE49-F238E27FC236}">
                <a16:creationId xmlns:a16="http://schemas.microsoft.com/office/drawing/2014/main" id="{CC42D24D-6A96-4D80-8A41-65C0E2FA3989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直接连接符 34">
            <a:extLst>
              <a:ext uri="{FF2B5EF4-FFF2-40B4-BE49-F238E27FC236}">
                <a16:creationId xmlns:a16="http://schemas.microsoft.com/office/drawing/2014/main" id="{EEB6BF1F-DC4C-4825-AC6F-337B9C4D2F50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8" name="图片 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D8854913-F549-485B-8742-29EC10792576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A194DE6E-4A6F-4A59-8DC7-F34CC2268CC4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一项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14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3" name="图片 15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2" name="图片占位符 61">
            <a:extLst>
              <a:ext uri="{FF2B5EF4-FFF2-40B4-BE49-F238E27FC236}">
                <a16:creationId xmlns:a16="http://schemas.microsoft.com/office/drawing/2014/main" id="{8FD2C23B-9C42-4C52-BF0B-895A86B57119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1091719" y="1370264"/>
            <a:ext cx="3061181" cy="4446334"/>
          </a:xfrm>
          <a:custGeom>
            <a:avLst/>
            <a:gdLst>
              <a:gd name="connsiteX0" fmla="*/ 0 w 3282796"/>
              <a:gd name="connsiteY0" fmla="*/ 0 h 4716212"/>
              <a:gd name="connsiteX1" fmla="*/ 3282796 w 3282796"/>
              <a:gd name="connsiteY1" fmla="*/ 0 h 4716212"/>
              <a:gd name="connsiteX2" fmla="*/ 3282796 w 3282796"/>
              <a:gd name="connsiteY2" fmla="*/ 4716212 h 4716212"/>
              <a:gd name="connsiteX3" fmla="*/ 0 w 3282796"/>
              <a:gd name="connsiteY3" fmla="*/ 4716212 h 4716212"/>
            </a:gdLst>
            <a:ahLst/>
            <a:cxnLst/>
            <a:rect l="l" t="t" r="r" b="b"/>
            <a:pathLst>
              <a:path w="3282796" h="4716212">
                <a:moveTo>
                  <a:pt x="0" y="0"/>
                </a:moveTo>
                <a:lnTo>
                  <a:pt x="3282796" y="0"/>
                </a:lnTo>
                <a:lnTo>
                  <a:pt x="3282796" y="4716212"/>
                </a:lnTo>
                <a:lnTo>
                  <a:pt x="0" y="4716212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8425">
            <a:solidFill>
              <a:schemeClr val="bg1"/>
            </a:solidFill>
          </a:ln>
          <a:effectLst>
            <a:outerShdw blurRad="698500" dist="406400" dir="5400000" sx="97000" sy="97000" algn="t" rotWithShape="0">
              <a:prstClr val="black">
                <a:alpha val="26000"/>
              </a:prstClr>
            </a:outerShdw>
          </a:effectLst>
        </p:spPr>
        <p:txBody>
          <a:bodyPr wrap="square">
            <a:noAutofit/>
          </a:bodyPr>
          <a:lstStyle>
            <a:lvl1pPr>
              <a:buNone/>
              <a:defRPr sz="2800"/>
            </a:lvl1pPr>
          </a:lstStyle>
          <a:p>
            <a:r>
              <a:t>单机中间图标添加图片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DD89A9-54F1-4A69-914F-445B6A17129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DF00DCE-AE00-4456-91E3-911B2966F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0" name="标题 37">
            <a:extLst>
              <a:ext uri="{FF2B5EF4-FFF2-40B4-BE49-F238E27FC236}">
                <a16:creationId xmlns:a16="http://schemas.microsoft.com/office/drawing/2014/main" id="{C2E0F003-4ECD-463F-9EC0-F758C85178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2" name="平行四边形 4">
            <a:extLst>
              <a:ext uri="{FF2B5EF4-FFF2-40B4-BE49-F238E27FC236}">
                <a16:creationId xmlns:a16="http://schemas.microsoft.com/office/drawing/2014/main" id="{B1CCE03E-020C-4BAF-A93A-3C7E3F9D33DC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平行四边形 4">
            <a:extLst>
              <a:ext uri="{FF2B5EF4-FFF2-40B4-BE49-F238E27FC236}">
                <a16:creationId xmlns:a16="http://schemas.microsoft.com/office/drawing/2014/main" id="{983717B6-2A89-4C1E-8F59-85C30BAC929F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直接连接符 34">
            <a:extLst>
              <a:ext uri="{FF2B5EF4-FFF2-40B4-BE49-F238E27FC236}">
                <a16:creationId xmlns:a16="http://schemas.microsoft.com/office/drawing/2014/main" id="{CB8D7E78-1D1F-4FC1-8DB0-59D342F9E3B2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1" name="图片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2735D173-6A97-4ECE-94C6-F44F266833DE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8AE8D2C-BD0A-44E6-AF89-8BF5D97FD84A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四项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1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3" name="图片 22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63E9CF2-811E-4D79-8322-0131E3C03325}"/>
              </a:ext>
            </a:extLst>
          </p:cNvPr>
          <p:cNvSpPr>
            <a:spLocks noGrp="1"/>
          </p:cNvSpPr>
          <p:nvPr/>
        </p:nvSpPr>
        <p:spPr>
          <a:xfrm>
            <a:off x="3654100" y="1475828"/>
            <a:ext cx="2160000" cy="2160000"/>
          </a:xfrm>
          <a:prstGeom prst="roundRect">
            <a:avLst>
              <a:gd name="adj" fmla="val 8629"/>
            </a:avLst>
          </a:prstGeom>
          <a:gradFill>
            <a:gsLst>
              <a:gs pos="0">
                <a:srgbClr val="2E64AD"/>
              </a:gs>
              <a:gs pos="100000">
                <a:srgbClr val="C00000">
                  <a:lumMod val="41000"/>
                  <a:lumOff val="59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1558BDF-1D90-454D-9B5A-A8B247695C2F}"/>
              </a:ext>
            </a:extLst>
          </p:cNvPr>
          <p:cNvSpPr>
            <a:spLocks noGrp="1"/>
          </p:cNvSpPr>
          <p:nvPr/>
        </p:nvSpPr>
        <p:spPr>
          <a:xfrm>
            <a:off x="6543428" y="1475828"/>
            <a:ext cx="2160000" cy="2160000"/>
          </a:xfrm>
          <a:prstGeom prst="roundRect">
            <a:avLst>
              <a:gd name="adj" fmla="val 8629"/>
            </a:avLst>
          </a:prstGeom>
          <a:gradFill>
            <a:gsLst>
              <a:gs pos="0">
                <a:srgbClr val="2E64AD"/>
              </a:gs>
              <a:gs pos="100000">
                <a:srgbClr val="C00000">
                  <a:lumMod val="41000"/>
                  <a:lumOff val="59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E7FCB87-9FD9-4FD6-8460-5A3741401A4C}"/>
              </a:ext>
            </a:extLst>
          </p:cNvPr>
          <p:cNvSpPr>
            <a:spLocks noGrp="1"/>
          </p:cNvSpPr>
          <p:nvPr/>
        </p:nvSpPr>
        <p:spPr>
          <a:xfrm>
            <a:off x="9423878" y="1475828"/>
            <a:ext cx="2160000" cy="2160000"/>
          </a:xfrm>
          <a:prstGeom prst="roundRect">
            <a:avLst>
              <a:gd name="adj" fmla="val 8629"/>
            </a:avLst>
          </a:prstGeom>
          <a:gradFill>
            <a:gsLst>
              <a:gs pos="0">
                <a:srgbClr val="2E64AD"/>
              </a:gs>
              <a:gs pos="100000">
                <a:srgbClr val="C00000">
                  <a:lumMod val="41000"/>
                  <a:lumOff val="59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328F1CC-129E-4F04-8D38-76EF6159C4DE}"/>
              </a:ext>
            </a:extLst>
          </p:cNvPr>
          <p:cNvSpPr>
            <a:spLocks noGrp="1"/>
          </p:cNvSpPr>
          <p:nvPr/>
        </p:nvSpPr>
        <p:spPr>
          <a:xfrm>
            <a:off x="773650" y="1475828"/>
            <a:ext cx="2160000" cy="2160000"/>
          </a:xfrm>
          <a:prstGeom prst="roundRect">
            <a:avLst>
              <a:gd name="adj" fmla="val 8629"/>
            </a:avLst>
          </a:prstGeom>
          <a:gradFill>
            <a:gsLst>
              <a:gs pos="0">
                <a:srgbClr val="2E64AD"/>
              </a:gs>
              <a:gs pos="100000">
                <a:srgbClr val="C00000">
                  <a:lumMod val="41000"/>
                  <a:lumOff val="59000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5" name="图片占位符 2">
            <a:extLst>
              <a:ext uri="{FF2B5EF4-FFF2-40B4-BE49-F238E27FC236}">
                <a16:creationId xmlns:a16="http://schemas.microsoft.com/office/drawing/2014/main" id="{6A1DE908-06BC-44C6-8006-0677958B309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15376" y="1569432"/>
            <a:ext cx="2131072" cy="2168709"/>
          </a:xfrm>
          <a:prstGeom prst="roundRect">
            <a:avLst>
              <a:gd name="adj" fmla="val 594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6" name="图片占位符 2">
            <a:extLst>
              <a:ext uri="{FF2B5EF4-FFF2-40B4-BE49-F238E27FC236}">
                <a16:creationId xmlns:a16="http://schemas.microsoft.com/office/drawing/2014/main" id="{1F143DC5-32F7-42A2-957A-229A0C65FD18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3584653" y="1569432"/>
            <a:ext cx="2131072" cy="2168709"/>
          </a:xfrm>
          <a:prstGeom prst="roundRect">
            <a:avLst>
              <a:gd name="adj" fmla="val 594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7" name="图片占位符 2">
            <a:extLst>
              <a:ext uri="{FF2B5EF4-FFF2-40B4-BE49-F238E27FC236}">
                <a16:creationId xmlns:a16="http://schemas.microsoft.com/office/drawing/2014/main" id="{D187C04E-DB98-4CFA-B1F9-347F6C3F036D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453930" y="1569432"/>
            <a:ext cx="2131072" cy="2168709"/>
          </a:xfrm>
          <a:prstGeom prst="roundRect">
            <a:avLst>
              <a:gd name="adj" fmla="val 594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8" name="图片占位符 2">
            <a:extLst>
              <a:ext uri="{FF2B5EF4-FFF2-40B4-BE49-F238E27FC236}">
                <a16:creationId xmlns:a16="http://schemas.microsoft.com/office/drawing/2014/main" id="{15E1019A-9CBE-4169-A83F-84A9701AF2E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349469" y="1569432"/>
            <a:ext cx="2131072" cy="2168709"/>
          </a:xfrm>
          <a:prstGeom prst="roundRect">
            <a:avLst>
              <a:gd name="adj" fmla="val 5940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14A4D64-175D-4C54-99C9-6AD40DB606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72A8CCC-F11D-4909-BF5D-88F64989B0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标题 37">
            <a:extLst>
              <a:ext uri="{FF2B5EF4-FFF2-40B4-BE49-F238E27FC236}">
                <a16:creationId xmlns:a16="http://schemas.microsoft.com/office/drawing/2014/main" id="{7E09285A-0762-4DDA-8070-310B763572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37" name="平行四边形 4">
            <a:extLst>
              <a:ext uri="{FF2B5EF4-FFF2-40B4-BE49-F238E27FC236}">
                <a16:creationId xmlns:a16="http://schemas.microsoft.com/office/drawing/2014/main" id="{B526D83E-17AF-409B-8B56-D211DC837242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平行四边形 4">
            <a:extLst>
              <a:ext uri="{FF2B5EF4-FFF2-40B4-BE49-F238E27FC236}">
                <a16:creationId xmlns:a16="http://schemas.microsoft.com/office/drawing/2014/main" id="{9247EF78-B5E4-48B8-B73D-8C8A7F9ABBC6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直接连接符 34">
            <a:extLst>
              <a:ext uri="{FF2B5EF4-FFF2-40B4-BE49-F238E27FC236}">
                <a16:creationId xmlns:a16="http://schemas.microsoft.com/office/drawing/2014/main" id="{E8A69B67-81F9-49A4-A528-8BCD0EF86CBD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8" name="图片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2" name="矩形 41">
            <a:extLst>
              <a:ext uri="{FF2B5EF4-FFF2-40B4-BE49-F238E27FC236}">
                <a16:creationId xmlns:a16="http://schemas.microsoft.com/office/drawing/2014/main" id="{07C794B8-8AAB-4AFF-9E6D-48FFCE1DB8C2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0939ED86-2922-438C-9310-0AEEE7EC2158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三项图文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图片 19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2" name="图片 20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34764F2-FE92-44DC-9354-6065FBFAE512}"/>
              </a:ext>
            </a:extLst>
          </p:cNvPr>
          <p:cNvSpPr>
            <a:spLocks noGrp="1"/>
          </p:cNvSpPr>
          <p:nvPr/>
        </p:nvSpPr>
        <p:spPr>
          <a:xfrm>
            <a:off x="4505937" y="1349544"/>
            <a:ext cx="3198248" cy="4541969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254000" sx="96000" sy="9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ABE1B78-2C37-414C-9FB4-84816C904459}"/>
              </a:ext>
            </a:extLst>
          </p:cNvPr>
          <p:cNvSpPr>
            <a:spLocks noGrp="1"/>
          </p:cNvSpPr>
          <p:nvPr/>
        </p:nvSpPr>
        <p:spPr>
          <a:xfrm>
            <a:off x="8298426" y="1349544"/>
            <a:ext cx="3198248" cy="4541969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254000" sx="96000" sy="9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AF8A9B0-4CC2-4612-AAF0-6C3E0770AB7F}"/>
              </a:ext>
            </a:extLst>
          </p:cNvPr>
          <p:cNvSpPr>
            <a:spLocks noGrp="1"/>
          </p:cNvSpPr>
          <p:nvPr/>
        </p:nvSpPr>
        <p:spPr>
          <a:xfrm>
            <a:off x="695326" y="1349544"/>
            <a:ext cx="3198248" cy="4541969"/>
          </a:xfrm>
          <a:prstGeom prst="roundRect">
            <a:avLst>
              <a:gd name="adj" fmla="val 4724"/>
            </a:avLst>
          </a:prstGeom>
          <a:solidFill>
            <a:schemeClr val="bg1"/>
          </a:solidFill>
          <a:ln>
            <a:noFill/>
          </a:ln>
          <a:effectLst>
            <a:outerShdw blurRad="254000" sx="96000" sy="96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5" name="图片占位符 2">
            <a:extLst>
              <a:ext uri="{FF2B5EF4-FFF2-40B4-BE49-F238E27FC236}">
                <a16:creationId xmlns:a16="http://schemas.microsoft.com/office/drawing/2014/main" id="{09D897AE-93CE-4334-804D-D4298A594EC7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95325" y="1349375"/>
            <a:ext cx="3198248" cy="1727200"/>
          </a:xfrm>
          <a:prstGeom prst="roundRect">
            <a:avLst>
              <a:gd name="adj" fmla="val 814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6" name="图片占位符 2">
            <a:extLst>
              <a:ext uri="{FF2B5EF4-FFF2-40B4-BE49-F238E27FC236}">
                <a16:creationId xmlns:a16="http://schemas.microsoft.com/office/drawing/2014/main" id="{94EB772B-CE6A-4318-A558-25729D1769F9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490897" y="1363992"/>
            <a:ext cx="3198248" cy="1727200"/>
          </a:xfrm>
          <a:prstGeom prst="roundRect">
            <a:avLst>
              <a:gd name="adj" fmla="val 814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47" name="图片占位符 2">
            <a:extLst>
              <a:ext uri="{FF2B5EF4-FFF2-40B4-BE49-F238E27FC236}">
                <a16:creationId xmlns:a16="http://schemas.microsoft.com/office/drawing/2014/main" id="{3D7432DB-6E45-4A1A-8010-080634FDAC04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283386" y="1356372"/>
            <a:ext cx="3198248" cy="1727200"/>
          </a:xfrm>
          <a:prstGeom prst="roundRect">
            <a:avLst>
              <a:gd name="adj" fmla="val 814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DF56E2A-1534-4475-B104-0DEDCB379D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ACEA489-BAAD-411B-8C76-79994DCE7CD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标题 37">
            <a:extLst>
              <a:ext uri="{FF2B5EF4-FFF2-40B4-BE49-F238E27FC236}">
                <a16:creationId xmlns:a16="http://schemas.microsoft.com/office/drawing/2014/main" id="{84A820A4-005E-4095-9AD7-A32DA43262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6" name="平行四边形 4">
            <a:extLst>
              <a:ext uri="{FF2B5EF4-FFF2-40B4-BE49-F238E27FC236}">
                <a16:creationId xmlns:a16="http://schemas.microsoft.com/office/drawing/2014/main" id="{EFCE6E54-4DC6-40B0-AD7E-BD9253164994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平行四边形 4">
            <a:extLst>
              <a:ext uri="{FF2B5EF4-FFF2-40B4-BE49-F238E27FC236}">
                <a16:creationId xmlns:a16="http://schemas.microsoft.com/office/drawing/2014/main" id="{CA5C6666-818F-4BE6-ABE6-460AF5A2A955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直接连接符 34">
            <a:extLst>
              <a:ext uri="{FF2B5EF4-FFF2-40B4-BE49-F238E27FC236}">
                <a16:creationId xmlns:a16="http://schemas.microsoft.com/office/drawing/2014/main" id="{93511E5A-E09D-42C8-B6A1-14017E77AB2A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5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826EEB93-5B88-4B5C-B674-BB34681AAA28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FDEB0ED8-3D6D-43C7-B5AA-2D359A0CDE81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五人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80" name="图片 19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71" name="图片占位符 9">
            <a:extLst>
              <a:ext uri="{FF2B5EF4-FFF2-40B4-BE49-F238E27FC236}">
                <a16:creationId xmlns:a16="http://schemas.microsoft.com/office/drawing/2014/main" id="{0BAD1991-893F-4F33-AF77-F858163B7E22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28718" y="1526384"/>
            <a:ext cx="987425" cy="996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2" name="图片占位符 9">
            <a:extLst>
              <a:ext uri="{FF2B5EF4-FFF2-40B4-BE49-F238E27FC236}">
                <a16:creationId xmlns:a16="http://schemas.microsoft.com/office/drawing/2014/main" id="{94907EC3-417F-4C76-9BDA-95190AA3AE8D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4687600" y="1526384"/>
            <a:ext cx="987425" cy="996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73" name="图片占位符 9">
            <a:extLst>
              <a:ext uri="{FF2B5EF4-FFF2-40B4-BE49-F238E27FC236}">
                <a16:creationId xmlns:a16="http://schemas.microsoft.com/office/drawing/2014/main" id="{F8E488C4-B407-4E8F-9FC5-B396BD3BA04A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8646482" y="1526384"/>
            <a:ext cx="987425" cy="996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74" name="图片占位符 9">
            <a:extLst>
              <a:ext uri="{FF2B5EF4-FFF2-40B4-BE49-F238E27FC236}">
                <a16:creationId xmlns:a16="http://schemas.microsoft.com/office/drawing/2014/main" id="{00DA0E3C-7CBB-4561-A655-09A59B664B8A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2551337" y="3891366"/>
            <a:ext cx="987425" cy="996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75" name="图片占位符 9">
            <a:extLst>
              <a:ext uri="{FF2B5EF4-FFF2-40B4-BE49-F238E27FC236}">
                <a16:creationId xmlns:a16="http://schemas.microsoft.com/office/drawing/2014/main" id="{E324E987-E41C-4E70-BA3B-1F8AB093AB4C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669637" y="3891366"/>
            <a:ext cx="987425" cy="99695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/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4432C49-901F-43F3-811D-0671E90B72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0DB5185-49EE-45AF-88DA-A275AC63C5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标题 37">
            <a:extLst>
              <a:ext uri="{FF2B5EF4-FFF2-40B4-BE49-F238E27FC236}">
                <a16:creationId xmlns:a16="http://schemas.microsoft.com/office/drawing/2014/main" id="{064B3E1A-3845-43D6-979A-04B748C98A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58D21C54-B9AA-4803-9F66-9ABD87F9DCA5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平行四边形 4">
            <a:extLst>
              <a:ext uri="{FF2B5EF4-FFF2-40B4-BE49-F238E27FC236}">
                <a16:creationId xmlns:a16="http://schemas.microsoft.com/office/drawing/2014/main" id="{3F7D0AF7-C909-4DBD-9E73-D1C4942CC9B4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接连接符 34">
            <a:extLst>
              <a:ext uri="{FF2B5EF4-FFF2-40B4-BE49-F238E27FC236}">
                <a16:creationId xmlns:a16="http://schemas.microsoft.com/office/drawing/2014/main" id="{30C5049E-BCB4-473E-B3D1-F3D28E968835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92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E97D03A9-A0CB-4F69-A745-82336F419035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9C80FDD-3819-4FAE-A898-878291325C2F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六人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25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3" name="图片 35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2" name="椭圆 11">
            <a:extLst>
              <a:ext uri="{FF2B5EF4-FFF2-40B4-BE49-F238E27FC236}">
                <a16:creationId xmlns:a16="http://schemas.microsoft.com/office/drawing/2014/main" id="{FF4F4253-D4D2-4CAA-9D0A-A9477C06D89B}"/>
              </a:ext>
            </a:extLst>
          </p:cNvPr>
          <p:cNvSpPr>
            <a:spLocks noGrp="1"/>
          </p:cNvSpPr>
          <p:nvPr/>
        </p:nvSpPr>
        <p:spPr>
          <a:xfrm>
            <a:off x="4493439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0FD5F885-5A7D-4F23-8F86-363F6DC6B507}"/>
              </a:ext>
            </a:extLst>
          </p:cNvPr>
          <p:cNvSpPr>
            <a:spLocks noGrp="1"/>
          </p:cNvSpPr>
          <p:nvPr/>
        </p:nvSpPr>
        <p:spPr>
          <a:xfrm>
            <a:off x="680584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DD1A7D5-9202-4A06-9155-82A75240FAEC}"/>
              </a:ext>
            </a:extLst>
          </p:cNvPr>
          <p:cNvSpPr>
            <a:spLocks noGrp="1"/>
          </p:cNvSpPr>
          <p:nvPr/>
        </p:nvSpPr>
        <p:spPr>
          <a:xfrm>
            <a:off x="8306295" y="1699885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F5A3C68A-4CD2-47E0-88F4-0EC7FF860818}"/>
              </a:ext>
            </a:extLst>
          </p:cNvPr>
          <p:cNvSpPr>
            <a:spLocks noGrp="1"/>
          </p:cNvSpPr>
          <p:nvPr/>
        </p:nvSpPr>
        <p:spPr>
          <a:xfrm>
            <a:off x="4493439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A1A6F66-465F-4639-81DA-3ABD25C7964A}"/>
              </a:ext>
            </a:extLst>
          </p:cNvPr>
          <p:cNvSpPr>
            <a:spLocks noGrp="1"/>
          </p:cNvSpPr>
          <p:nvPr/>
        </p:nvSpPr>
        <p:spPr>
          <a:xfrm>
            <a:off x="680584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5C1DECA0-CEE6-4FE9-B109-F9860FEBD1AF}"/>
              </a:ext>
            </a:extLst>
          </p:cNvPr>
          <p:cNvSpPr>
            <a:spLocks noGrp="1"/>
          </p:cNvSpPr>
          <p:nvPr/>
        </p:nvSpPr>
        <p:spPr>
          <a:xfrm>
            <a:off x="8306295" y="3818970"/>
            <a:ext cx="1603012" cy="1603012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  <a:alpha val="10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R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/>
          </a:p>
        </p:txBody>
      </p:sp>
      <p:sp>
        <p:nvSpPr>
          <p:cNvPr id="19" name="图片占位符 4">
            <a:extLst>
              <a:ext uri="{FF2B5EF4-FFF2-40B4-BE49-F238E27FC236}">
                <a16:creationId xmlns:a16="http://schemas.microsoft.com/office/drawing/2014/main" id="{F1E289A9-E548-4827-BE93-A31800D6EC2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745612" y="1764913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0" name="图片占位符 4">
            <a:extLst>
              <a:ext uri="{FF2B5EF4-FFF2-40B4-BE49-F238E27FC236}">
                <a16:creationId xmlns:a16="http://schemas.microsoft.com/office/drawing/2014/main" id="{856CBE6C-99A4-4CBD-A731-AED437E9352A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745612" y="3884276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1" name="图片占位符 4">
            <a:extLst>
              <a:ext uri="{FF2B5EF4-FFF2-40B4-BE49-F238E27FC236}">
                <a16:creationId xmlns:a16="http://schemas.microsoft.com/office/drawing/2014/main" id="{EC0E861F-CBDF-41B2-BCA2-CEB49DDDC2B8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558745" y="1765191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2" name="图片占位符 4">
            <a:extLst>
              <a:ext uri="{FF2B5EF4-FFF2-40B4-BE49-F238E27FC236}">
                <a16:creationId xmlns:a16="http://schemas.microsoft.com/office/drawing/2014/main" id="{FA9547D9-ACA8-4A1F-916D-B6770F90653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371601" y="1765191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3" name="图片占位符 4">
            <a:extLst>
              <a:ext uri="{FF2B5EF4-FFF2-40B4-BE49-F238E27FC236}">
                <a16:creationId xmlns:a16="http://schemas.microsoft.com/office/drawing/2014/main" id="{6E0C0563-8087-4A8E-8A6F-8153912917E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58745" y="3884276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4" name="图片占位符 4">
            <a:extLst>
              <a:ext uri="{FF2B5EF4-FFF2-40B4-BE49-F238E27FC236}">
                <a16:creationId xmlns:a16="http://schemas.microsoft.com/office/drawing/2014/main" id="{BBAF28CC-6E9D-4484-BC2E-C071E38ACCC7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8371601" y="3884276"/>
            <a:ext cx="1472400" cy="14724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accent1">
                <a:alpha val="50000"/>
              </a:schemeClr>
            </a:solidFill>
          </a:ln>
        </p:spPr>
        <p:txBody>
          <a:bodyPr vert="horz" lIns="91440" tIns="45720" rIns="91440" bIns="45720">
            <a:norm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B20333A-7E04-4AC9-B656-BB5A6588E4B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46B9950-61BB-45B9-9F36-8F6391D8F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标题 37">
            <a:extLst>
              <a:ext uri="{FF2B5EF4-FFF2-40B4-BE49-F238E27FC236}">
                <a16:creationId xmlns:a16="http://schemas.microsoft.com/office/drawing/2014/main" id="{1E23D654-5918-48D7-8AD2-CEAD984E4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41" name="平行四边形 4">
            <a:extLst>
              <a:ext uri="{FF2B5EF4-FFF2-40B4-BE49-F238E27FC236}">
                <a16:creationId xmlns:a16="http://schemas.microsoft.com/office/drawing/2014/main" id="{75FEBAC7-E23B-4874-A921-4BE66CBF1694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平行四边形 4">
            <a:extLst>
              <a:ext uri="{FF2B5EF4-FFF2-40B4-BE49-F238E27FC236}">
                <a16:creationId xmlns:a16="http://schemas.microsoft.com/office/drawing/2014/main" id="{DA1523D2-A884-4CD5-A014-1BF6B93A660C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直接连接符 34">
            <a:extLst>
              <a:ext uri="{FF2B5EF4-FFF2-40B4-BE49-F238E27FC236}">
                <a16:creationId xmlns:a16="http://schemas.microsoft.com/office/drawing/2014/main" id="{72E7E697-4B10-4062-A21E-8ADB5FB62FC1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72" name="图片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27506A42-9ED8-461F-A804-99590D7205A5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CD12215-E930-47C6-8DF3-3728C76A7BD5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四人介绍页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5" name="图片 19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2" name="图片占位符 64">
            <a:extLst>
              <a:ext uri="{FF2B5EF4-FFF2-40B4-BE49-F238E27FC236}">
                <a16:creationId xmlns:a16="http://schemas.microsoft.com/office/drawing/2014/main" id="{22230AAC-849A-4281-B312-ABB78D9CA987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1100685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/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endParaRPr/>
          </a:p>
        </p:txBody>
      </p:sp>
      <p:sp>
        <p:nvSpPr>
          <p:cNvPr id="13" name="图片占位符 67">
            <a:extLst>
              <a:ext uri="{FF2B5EF4-FFF2-40B4-BE49-F238E27FC236}">
                <a16:creationId xmlns:a16="http://schemas.microsoft.com/office/drawing/2014/main" id="{FC30007D-4FE1-404C-9055-1341EDAF29D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839227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/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14" name="图片占位符 69">
            <a:extLst>
              <a:ext uri="{FF2B5EF4-FFF2-40B4-BE49-F238E27FC236}">
                <a16:creationId xmlns:a16="http://schemas.microsoft.com/office/drawing/2014/main" id="{1F9BCF45-C6F7-441B-8AD3-6A5C74E6D49A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77769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/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15" name="图片占位符 71">
            <a:extLst>
              <a:ext uri="{FF2B5EF4-FFF2-40B4-BE49-F238E27FC236}">
                <a16:creationId xmlns:a16="http://schemas.microsoft.com/office/drawing/2014/main" id="{CB9D8C5F-6B09-4C0D-9E2F-BA8155F70722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9316312" y="1606744"/>
            <a:ext cx="1767682" cy="1767682"/>
          </a:xfrm>
          <a:custGeom>
            <a:avLst/>
            <a:gdLst>
              <a:gd name="connsiteX0" fmla="*/ 883841 w 1767682"/>
              <a:gd name="connsiteY0" fmla="*/ 0 h 1767682"/>
              <a:gd name="connsiteX1" fmla="*/ 1767682 w 1767682"/>
              <a:gd name="connsiteY1" fmla="*/ 883841 h 1767682"/>
              <a:gd name="connsiteX2" fmla="*/ 883841 w 1767682"/>
              <a:gd name="connsiteY2" fmla="*/ 1767682 h 1767682"/>
              <a:gd name="connsiteX3" fmla="*/ 0 w 1767682"/>
              <a:gd name="connsiteY3" fmla="*/ 883841 h 1767682"/>
              <a:gd name="connsiteX4" fmla="*/ 883841 w 1767682"/>
              <a:gd name="connsiteY4" fmla="*/ 0 h 1767682"/>
            </a:gdLst>
            <a:ahLst/>
            <a:cxnLst/>
            <a:rect l="l" t="t" r="r" b="b"/>
            <a:pathLst>
              <a:path w="1767682" h="1767682">
                <a:moveTo>
                  <a:pt x="883841" y="0"/>
                </a:moveTo>
                <a:cubicBezTo>
                  <a:pt x="1371973" y="0"/>
                  <a:pt x="1767682" y="395710"/>
                  <a:pt x="1767682" y="883841"/>
                </a:cubicBezTo>
                <a:cubicBezTo>
                  <a:pt x="1767682" y="1371973"/>
                  <a:pt x="1371973" y="1767682"/>
                  <a:pt x="883841" y="1767682"/>
                </a:cubicBezTo>
                <a:cubicBezTo>
                  <a:pt x="395709" y="1767682"/>
                  <a:pt x="0" y="1371973"/>
                  <a:pt x="0" y="883841"/>
                </a:cubicBezTo>
                <a:cubicBezTo>
                  <a:pt x="0" y="395710"/>
                  <a:pt x="395709" y="0"/>
                  <a:pt x="883841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E4A8EA1-39EC-4F26-B0EF-BBAB29B3D2C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8BC0BD6-F58F-4C0C-A770-32A488152D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标题 37">
            <a:extLst>
              <a:ext uri="{FF2B5EF4-FFF2-40B4-BE49-F238E27FC236}">
                <a16:creationId xmlns:a16="http://schemas.microsoft.com/office/drawing/2014/main" id="{7F1C6D11-771F-4177-A5BD-1E774B1539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B1D03FE4-E775-43A5-BD0F-041912ECEC3A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平行四边形 4">
            <a:extLst>
              <a:ext uri="{FF2B5EF4-FFF2-40B4-BE49-F238E27FC236}">
                <a16:creationId xmlns:a16="http://schemas.microsoft.com/office/drawing/2014/main" id="{513E12E4-101E-44E2-BEA0-DEF0AF0F3C21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接连接符 34">
            <a:extLst>
              <a:ext uri="{FF2B5EF4-FFF2-40B4-BE49-F238E27FC236}">
                <a16:creationId xmlns:a16="http://schemas.microsoft.com/office/drawing/2014/main" id="{17DA99EB-B256-4E3B-8117-369BA2AA8A38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6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DE9E898F-47E8-49B7-A50D-5BFA87379DBB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762EAAC3-F4D4-4CB5-B022-5DB1FA45973C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团队三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图片 16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55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48" name="图片占位符 2">
            <a:extLst>
              <a:ext uri="{FF2B5EF4-FFF2-40B4-BE49-F238E27FC236}">
                <a16:creationId xmlns:a16="http://schemas.microsoft.com/office/drawing/2014/main" id="{1D3187B9-B699-4BD6-AAF7-942B39523EB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4305886" y="2351595"/>
            <a:ext cx="1881830" cy="19494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49" name="图片占位符 2">
            <a:extLst>
              <a:ext uri="{FF2B5EF4-FFF2-40B4-BE49-F238E27FC236}">
                <a16:creationId xmlns:a16="http://schemas.microsoft.com/office/drawing/2014/main" id="{843F1FB7-B5FF-4D1A-86C4-B0437A0B5804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8085554" y="2359854"/>
            <a:ext cx="1881830" cy="19494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50" name="图片占位符 2">
            <a:extLst>
              <a:ext uri="{FF2B5EF4-FFF2-40B4-BE49-F238E27FC236}">
                <a16:creationId xmlns:a16="http://schemas.microsoft.com/office/drawing/2014/main" id="{CE2C0F17-7C0C-4A05-A035-BF5D41EFEDBD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87607" y="2372332"/>
            <a:ext cx="1881830" cy="194943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solidFill>
              <a:schemeClr val="accent1">
                <a:lumMod val="20000"/>
                <a:lumOff val="80000"/>
                <a:alpha val="30000"/>
              </a:schemeClr>
            </a:solidFill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F4471D-CDED-4B78-B79B-BA6C51FD0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CF88AC0-A5B8-441D-971B-A22CED96AE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标题 37">
            <a:extLst>
              <a:ext uri="{FF2B5EF4-FFF2-40B4-BE49-F238E27FC236}">
                <a16:creationId xmlns:a16="http://schemas.microsoft.com/office/drawing/2014/main" id="{C0F3971F-FCE4-4E38-9101-983D16D3F6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4" name="平行四边形 4">
            <a:extLst>
              <a:ext uri="{FF2B5EF4-FFF2-40B4-BE49-F238E27FC236}">
                <a16:creationId xmlns:a16="http://schemas.microsoft.com/office/drawing/2014/main" id="{2C59FCA9-D998-4488-8B64-A2A705762207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63C20418-3E5D-439F-8BAE-720E86CF4EA7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直接连接符 34">
            <a:extLst>
              <a:ext uri="{FF2B5EF4-FFF2-40B4-BE49-F238E27FC236}">
                <a16:creationId xmlns:a16="http://schemas.microsoft.com/office/drawing/2014/main" id="{414B7496-8314-4B5A-90E8-387DDDAAFB53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65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724F8DC2-5778-4869-ACB7-B92EC469A289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924E5D5-1374-4662-98CE-EB38EBDC041A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双人介绍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6" name="图片 19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0542911-A7D6-4CE7-83CE-95F32AA06F16}"/>
              </a:ext>
            </a:extLst>
          </p:cNvPr>
          <p:cNvSpPr>
            <a:spLocks noGrp="1"/>
          </p:cNvSpPr>
          <p:nvPr/>
        </p:nvSpPr>
        <p:spPr>
          <a:xfrm>
            <a:off x="8890198" y="3787722"/>
            <a:ext cx="2497158" cy="2064982"/>
          </a:xfrm>
          <a:prstGeom prst="rect">
            <a:avLst/>
          </a:prstGeom>
          <a:gradFill>
            <a:gsLst>
              <a:gs pos="16000">
                <a:srgbClr val="C00000">
                  <a:alpha val="51000"/>
                </a:srgbClr>
              </a:gs>
              <a:gs pos="95000">
                <a:srgbClr val="3063AD">
                  <a:alpha val="69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CB2B447-519A-4507-A5C9-3DAF39464D31}"/>
              </a:ext>
            </a:extLst>
          </p:cNvPr>
          <p:cNvSpPr>
            <a:spLocks noGrp="1"/>
          </p:cNvSpPr>
          <p:nvPr/>
        </p:nvSpPr>
        <p:spPr>
          <a:xfrm>
            <a:off x="990461" y="1261931"/>
            <a:ext cx="2497158" cy="2064982"/>
          </a:xfrm>
          <a:prstGeom prst="rect">
            <a:avLst/>
          </a:prstGeom>
          <a:gradFill>
            <a:gsLst>
              <a:gs pos="16000">
                <a:srgbClr val="C00000">
                  <a:alpha val="51000"/>
                </a:srgbClr>
              </a:gs>
              <a:gs pos="95000">
                <a:srgbClr val="3063AD">
                  <a:alpha val="69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5" name="图片占位符 4">
            <a:extLst>
              <a:ext uri="{FF2B5EF4-FFF2-40B4-BE49-F238E27FC236}">
                <a16:creationId xmlns:a16="http://schemas.microsoft.com/office/drawing/2014/main" id="{819ED157-2763-4B82-94C4-223C3ADAEF10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862010" y="1129802"/>
            <a:ext cx="2497147" cy="20649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noFill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16" name="图片占位符 4">
            <a:extLst>
              <a:ext uri="{FF2B5EF4-FFF2-40B4-BE49-F238E27FC236}">
                <a16:creationId xmlns:a16="http://schemas.microsoft.com/office/drawing/2014/main" id="{5784BF7C-C707-4385-9BBC-7D68764777DD}"/>
              </a:ext>
            </a:extLst>
          </p:cNvPr>
          <p:cNvSpPr>
            <a:spLocks noGrp="1"/>
          </p:cNvSpPr>
          <p:nvPr>
            <p:ph type="pic" idx="11"/>
          </p:nvPr>
        </p:nvSpPr>
        <p:spPr>
          <a:xfrm>
            <a:off x="9036041" y="3910110"/>
            <a:ext cx="2497147" cy="20649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noFill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14E25E-103A-4390-80DC-CA08F017264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D6D0485-AF3A-411E-9991-DCD56571A4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标题 37">
            <a:extLst>
              <a:ext uri="{FF2B5EF4-FFF2-40B4-BE49-F238E27FC236}">
                <a16:creationId xmlns:a16="http://schemas.microsoft.com/office/drawing/2014/main" id="{CCD69078-F4D5-4FA0-8A7E-C1B4EAEE6A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C0076AF9-2678-4F24-A4E1-E296AEE9F606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平行四边形 4">
            <a:extLst>
              <a:ext uri="{FF2B5EF4-FFF2-40B4-BE49-F238E27FC236}">
                <a16:creationId xmlns:a16="http://schemas.microsoft.com/office/drawing/2014/main" id="{F061A57D-762D-42AE-9301-EAA9E9A2239B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直接连接符 34">
            <a:extLst>
              <a:ext uri="{FF2B5EF4-FFF2-40B4-BE49-F238E27FC236}">
                <a16:creationId xmlns:a16="http://schemas.microsoft.com/office/drawing/2014/main" id="{62EF47D5-A965-4090-AC48-BE49E2F02F6D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9" name="矩形 38">
            <a:extLst>
              <a:ext uri="{FF2B5EF4-FFF2-40B4-BE49-F238E27FC236}">
                <a16:creationId xmlns:a16="http://schemas.microsoft.com/office/drawing/2014/main" id="{58FA25E3-1D15-4300-B8DD-05798D059167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6EA5105-AFC0-43DC-8461-36DDF24ACFEE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自我介绍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6" name="图片 20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5" name="图片占位符 11">
            <a:extLst>
              <a:ext uri="{FF2B5EF4-FFF2-40B4-BE49-F238E27FC236}">
                <a16:creationId xmlns:a16="http://schemas.microsoft.com/office/drawing/2014/main" id="{E127BA83-A907-4C6A-BF44-BCF7579B6EEB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506922" y="1511301"/>
            <a:ext cx="2817164" cy="280877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noFill/>
          </a:ln>
          <a:effectLst>
            <a:outerShdw blurRad="1270000" dist="457200" dir="5400000" sx="80000" sy="80000" algn="t" rotWithShape="0">
              <a:prstClr val="black"/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B8D251-7A0F-42EE-8508-B1A0C205841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7C76AB2-8095-4874-9EF7-E4707E50E9B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4" name="标题 37">
            <a:extLst>
              <a:ext uri="{FF2B5EF4-FFF2-40B4-BE49-F238E27FC236}">
                <a16:creationId xmlns:a16="http://schemas.microsoft.com/office/drawing/2014/main" id="{260A24FC-E62A-4765-8401-A035BBB00E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6" name="平行四边形 4">
            <a:extLst>
              <a:ext uri="{FF2B5EF4-FFF2-40B4-BE49-F238E27FC236}">
                <a16:creationId xmlns:a16="http://schemas.microsoft.com/office/drawing/2014/main" id="{2DC42A83-F3F0-454C-85C0-329C98342B48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平行四边形 4">
            <a:extLst>
              <a:ext uri="{FF2B5EF4-FFF2-40B4-BE49-F238E27FC236}">
                <a16:creationId xmlns:a16="http://schemas.microsoft.com/office/drawing/2014/main" id="{D3FFD685-656B-4778-B6DB-D994193BD547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直接连接符 34">
            <a:extLst>
              <a:ext uri="{FF2B5EF4-FFF2-40B4-BE49-F238E27FC236}">
                <a16:creationId xmlns:a16="http://schemas.microsoft.com/office/drawing/2014/main" id="{27979108-AC17-4142-95AA-613157E691E3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4" name="图片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40" name="矩形 39">
            <a:extLst>
              <a:ext uri="{FF2B5EF4-FFF2-40B4-BE49-F238E27FC236}">
                <a16:creationId xmlns:a16="http://schemas.microsoft.com/office/drawing/2014/main" id="{D5B0E29A-D5B2-4D19-886F-3B175B818E64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C3506436-FE01-4924-9AD7-59F66BCD2AC2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单人自我介绍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16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-784506" y="4068912"/>
            <a:ext cx="6880506" cy="2425378"/>
          </a:xfrm>
          <a:prstGeom prst="rect">
            <a:avLst/>
          </a:prstGeom>
        </p:spPr>
      </p:pic>
      <p:pic>
        <p:nvPicPr>
          <p:cNvPr id="44" name="图片 18"/>
          <p:cNvPicPr>
            <a:picLocks noChangeAspect="1"/>
          </p:cNvPicPr>
          <p:nvPr/>
        </p:nvPicPr>
        <p:blipFill>
          <a:blip r:embed="rId2">
            <a:alphaModFix amt="2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5182244" y="3981964"/>
            <a:ext cx="7009756" cy="2470939"/>
          </a:xfrm>
          <a:prstGeom prst="rect">
            <a:avLst/>
          </a:prstGeom>
        </p:spPr>
      </p:pic>
      <p:sp>
        <p:nvSpPr>
          <p:cNvPr id="13" name="图片占位符 11">
            <a:extLst>
              <a:ext uri="{FF2B5EF4-FFF2-40B4-BE49-F238E27FC236}">
                <a16:creationId xmlns:a16="http://schemas.microsoft.com/office/drawing/2014/main" id="{78EE4EDD-3B06-42B4-B569-D7523D429B49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1407936" y="2019276"/>
            <a:ext cx="2887489" cy="2878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0">
            <a:noFill/>
          </a:ln>
          <a:effectLst>
            <a:outerShdw blurRad="774700" dist="457200" dir="5400000" sx="75000" sy="75000" algn="t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>
            <a:noAutofit/>
          </a:bodyPr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3ACA2A-DE96-4670-BB0B-570C2DF7C1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6981EDD-28EC-499A-87A4-F338175E34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20575" cy="657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2" name="标题 37">
            <a:extLst>
              <a:ext uri="{FF2B5EF4-FFF2-40B4-BE49-F238E27FC236}">
                <a16:creationId xmlns:a16="http://schemas.microsoft.com/office/drawing/2014/main" id="{C0C7362D-A7B8-48D6-A04A-8AF383F0BF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8348" y="265114"/>
            <a:ext cx="8917091" cy="414224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2400" b="1" kern="1200" spc="150">
                <a:gradFill flip="none" rotWithShape="1">
                  <a:gsLst>
                    <a:gs pos="33000">
                      <a:schemeClr val="accent1"/>
                    </a:gs>
                    <a:gs pos="100000">
                      <a:schemeClr val="accent3"/>
                    </a:gs>
                  </a:gsLst>
                  <a:lin ang="18900000" scaled="1"/>
                  <a:tileRect/>
                </a:gradFill>
                <a:latin typeface="微软雅黑"/>
                <a:ea typeface="微软雅黑"/>
                <a:cs typeface="微软雅黑"/>
              </a:defRPr>
            </a:lvl1pPr>
          </a:lstStyle>
          <a:p>
            <a: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输入你的标题</a:t>
            </a:r>
          </a:p>
        </p:txBody>
      </p:sp>
      <p:sp>
        <p:nvSpPr>
          <p:cNvPr id="24" name="平行四边形 4">
            <a:extLst>
              <a:ext uri="{FF2B5EF4-FFF2-40B4-BE49-F238E27FC236}">
                <a16:creationId xmlns:a16="http://schemas.microsoft.com/office/drawing/2014/main" id="{2F98326F-6B8B-4CB7-9AA9-5C424E94802C}"/>
              </a:ext>
            </a:extLst>
          </p:cNvPr>
          <p:cNvSpPr>
            <a:spLocks noGrp="1"/>
          </p:cNvSpPr>
          <p:nvPr/>
        </p:nvSpPr>
        <p:spPr>
          <a:xfrm rot="5400000" flipV="1">
            <a:off x="-7710486" y="505776"/>
            <a:ext cx="1172231" cy="319114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  <a:gd name="connsiteX0-101" fmla="*/ 0 w 1778000"/>
              <a:gd name="connsiteY0-102" fmla="*/ 932309 h 932312"/>
              <a:gd name="connsiteX1-103" fmla="*/ 914403 w 1778000"/>
              <a:gd name="connsiteY1-104" fmla="*/ 0 h 932312"/>
              <a:gd name="connsiteX2-105" fmla="*/ 1778000 w 1778000"/>
              <a:gd name="connsiteY2-106" fmla="*/ 976 h 932312"/>
              <a:gd name="connsiteX3-107" fmla="*/ 814919 w 1778000"/>
              <a:gd name="connsiteY3-108" fmla="*/ 932312 h 932312"/>
              <a:gd name="connsiteX4-109" fmla="*/ 0 w 1778000"/>
              <a:gd name="connsiteY4-110" fmla="*/ 932309 h 932312"/>
            </a:gdLst>
            <a:ahLst/>
            <a:cxnLst/>
            <a:rect l="l" t="t" r="r" b="b"/>
            <a:pathLst>
              <a:path w="1778000" h="932312">
                <a:moveTo>
                  <a:pt x="0" y="932309"/>
                </a:moveTo>
                <a:cubicBezTo>
                  <a:pt x="298450" y="616221"/>
                  <a:pt x="615953" y="307622"/>
                  <a:pt x="914403" y="0"/>
                </a:cubicBezTo>
                <a:lnTo>
                  <a:pt x="1778000" y="976"/>
                </a:lnTo>
                <a:lnTo>
                  <a:pt x="814919" y="932312"/>
                </a:lnTo>
                <a:lnTo>
                  <a:pt x="0" y="932309"/>
                </a:lnTo>
                <a:close/>
              </a:path>
            </a:pathLst>
          </a:custGeom>
          <a:solidFill>
            <a:srgbClr val="3063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平行四边形 4">
            <a:extLst>
              <a:ext uri="{FF2B5EF4-FFF2-40B4-BE49-F238E27FC236}">
                <a16:creationId xmlns:a16="http://schemas.microsoft.com/office/drawing/2014/main" id="{E93B8767-5C74-4CE3-B32E-F8D41087AE52}"/>
              </a:ext>
            </a:extLst>
          </p:cNvPr>
          <p:cNvSpPr>
            <a:spLocks noGrp="1"/>
          </p:cNvSpPr>
          <p:nvPr/>
        </p:nvSpPr>
        <p:spPr>
          <a:xfrm rot="16200000" flipH="1" flipV="1">
            <a:off x="-7668191" y="177044"/>
            <a:ext cx="1256175" cy="318778"/>
          </a:xfrm>
          <a:custGeom>
            <a:avLst/>
            <a:gdLst>
              <a:gd name="connsiteX0" fmla="*/ 0 w 1515534"/>
              <a:gd name="connsiteY0" fmla="*/ 1540933 h 1540933"/>
              <a:gd name="connsiteX1" fmla="*/ 802218 w 1515534"/>
              <a:gd name="connsiteY1" fmla="*/ 0 h 1540933"/>
              <a:gd name="connsiteX2" fmla="*/ 1515534 w 1515534"/>
              <a:gd name="connsiteY2" fmla="*/ 0 h 1540933"/>
              <a:gd name="connsiteX3" fmla="*/ 713316 w 1515534"/>
              <a:gd name="connsiteY3" fmla="*/ 1540933 h 1540933"/>
              <a:gd name="connsiteX4" fmla="*/ 0 w 1515534"/>
              <a:gd name="connsiteY4" fmla="*/ 1540933 h 1540933"/>
              <a:gd name="connsiteX0-1" fmla="*/ 0 w 1515534"/>
              <a:gd name="connsiteY0-2" fmla="*/ 1540933 h 1540936"/>
              <a:gd name="connsiteX1-3" fmla="*/ 802218 w 1515534"/>
              <a:gd name="connsiteY1-4" fmla="*/ 0 h 1540936"/>
              <a:gd name="connsiteX2-5" fmla="*/ 1515534 w 1515534"/>
              <a:gd name="connsiteY2-6" fmla="*/ 0 h 1540936"/>
              <a:gd name="connsiteX3-7" fmla="*/ 823386 w 1515534"/>
              <a:gd name="connsiteY3-8" fmla="*/ 1540936 h 1540936"/>
              <a:gd name="connsiteX4-9" fmla="*/ 0 w 1515534"/>
              <a:gd name="connsiteY4-10" fmla="*/ 1540933 h 1540936"/>
              <a:gd name="connsiteX0-11" fmla="*/ 0 w 1794934"/>
              <a:gd name="connsiteY0-12" fmla="*/ 1540933 h 1540936"/>
              <a:gd name="connsiteX1-13" fmla="*/ 802218 w 1794934"/>
              <a:gd name="connsiteY1-14" fmla="*/ 0 h 1540936"/>
              <a:gd name="connsiteX2-15" fmla="*/ 1794934 w 1794934"/>
              <a:gd name="connsiteY2-16" fmla="*/ 609600 h 1540936"/>
              <a:gd name="connsiteX3-17" fmla="*/ 823386 w 1794934"/>
              <a:gd name="connsiteY3-18" fmla="*/ 1540936 h 1540936"/>
              <a:gd name="connsiteX4-19" fmla="*/ 0 w 1794934"/>
              <a:gd name="connsiteY4-20" fmla="*/ 1540933 h 1540936"/>
              <a:gd name="connsiteX0-21" fmla="*/ 0 w 1794934"/>
              <a:gd name="connsiteY0-22" fmla="*/ 931333 h 931336"/>
              <a:gd name="connsiteX1-23" fmla="*/ 785284 w 1794934"/>
              <a:gd name="connsiteY1-24" fmla="*/ 42333 h 931336"/>
              <a:gd name="connsiteX2-25" fmla="*/ 1794934 w 1794934"/>
              <a:gd name="connsiteY2-26" fmla="*/ 0 h 931336"/>
              <a:gd name="connsiteX3-27" fmla="*/ 823386 w 1794934"/>
              <a:gd name="connsiteY3-28" fmla="*/ 931336 h 931336"/>
              <a:gd name="connsiteX4-29" fmla="*/ 0 w 1794934"/>
              <a:gd name="connsiteY4-30" fmla="*/ 931333 h 931336"/>
              <a:gd name="connsiteX0-31" fmla="*/ 0 w 1794934"/>
              <a:gd name="connsiteY0-32" fmla="*/ 931333 h 931336"/>
              <a:gd name="connsiteX1-33" fmla="*/ 912284 w 1794934"/>
              <a:gd name="connsiteY1-34" fmla="*/ 16933 h 931336"/>
              <a:gd name="connsiteX2-35" fmla="*/ 1794934 w 1794934"/>
              <a:gd name="connsiteY2-36" fmla="*/ 0 h 931336"/>
              <a:gd name="connsiteX3-37" fmla="*/ 823386 w 1794934"/>
              <a:gd name="connsiteY3-38" fmla="*/ 931336 h 931336"/>
              <a:gd name="connsiteX4-39" fmla="*/ 0 w 1794934"/>
              <a:gd name="connsiteY4-40" fmla="*/ 931333 h 931336"/>
              <a:gd name="connsiteX0-41" fmla="*/ 0 w 1778000"/>
              <a:gd name="connsiteY0-42" fmla="*/ 931333 h 931336"/>
              <a:gd name="connsiteX1-43" fmla="*/ 895350 w 1778000"/>
              <a:gd name="connsiteY1-44" fmla="*/ 16933 h 931336"/>
              <a:gd name="connsiteX2-45" fmla="*/ 1778000 w 1778000"/>
              <a:gd name="connsiteY2-46" fmla="*/ 0 h 931336"/>
              <a:gd name="connsiteX3-47" fmla="*/ 806452 w 1778000"/>
              <a:gd name="connsiteY3-48" fmla="*/ 931336 h 931336"/>
              <a:gd name="connsiteX4-49" fmla="*/ 0 w 1778000"/>
              <a:gd name="connsiteY4-50" fmla="*/ 931333 h 931336"/>
              <a:gd name="connsiteX0-51" fmla="*/ 0 w 1778000"/>
              <a:gd name="connsiteY0-52" fmla="*/ 905933 h 931336"/>
              <a:gd name="connsiteX1-53" fmla="*/ 895350 w 1778000"/>
              <a:gd name="connsiteY1-54" fmla="*/ 16933 h 931336"/>
              <a:gd name="connsiteX2-55" fmla="*/ 1778000 w 1778000"/>
              <a:gd name="connsiteY2-56" fmla="*/ 0 h 931336"/>
              <a:gd name="connsiteX3-57" fmla="*/ 806452 w 1778000"/>
              <a:gd name="connsiteY3-58" fmla="*/ 931336 h 931336"/>
              <a:gd name="connsiteX4-59" fmla="*/ 0 w 1778000"/>
              <a:gd name="connsiteY4-60" fmla="*/ 905933 h 931336"/>
              <a:gd name="connsiteX0-61" fmla="*/ 0 w 1778000"/>
              <a:gd name="connsiteY0-62" fmla="*/ 905933 h 931336"/>
              <a:gd name="connsiteX1-63" fmla="*/ 895350 w 1778000"/>
              <a:gd name="connsiteY1-64" fmla="*/ 8466 h 931336"/>
              <a:gd name="connsiteX2-65" fmla="*/ 1778000 w 1778000"/>
              <a:gd name="connsiteY2-66" fmla="*/ 0 h 931336"/>
              <a:gd name="connsiteX3-67" fmla="*/ 806452 w 1778000"/>
              <a:gd name="connsiteY3-68" fmla="*/ 931336 h 931336"/>
              <a:gd name="connsiteX4-69" fmla="*/ 0 w 1778000"/>
              <a:gd name="connsiteY4-70" fmla="*/ 905933 h 931336"/>
              <a:gd name="connsiteX0-71" fmla="*/ 0 w 1778000"/>
              <a:gd name="connsiteY0-72" fmla="*/ 905933 h 931336"/>
              <a:gd name="connsiteX1-73" fmla="*/ 895350 w 1778000"/>
              <a:gd name="connsiteY1-74" fmla="*/ 8466 h 931336"/>
              <a:gd name="connsiteX2-75" fmla="*/ 1778000 w 1778000"/>
              <a:gd name="connsiteY2-76" fmla="*/ 0 h 931336"/>
              <a:gd name="connsiteX3-77" fmla="*/ 814919 w 1778000"/>
              <a:gd name="connsiteY3-78" fmla="*/ 931336 h 931336"/>
              <a:gd name="connsiteX4-79" fmla="*/ 0 w 1778000"/>
              <a:gd name="connsiteY4-80" fmla="*/ 905933 h 931336"/>
              <a:gd name="connsiteX0-81" fmla="*/ 0 w 1778000"/>
              <a:gd name="connsiteY0-82" fmla="*/ 931333 h 931336"/>
              <a:gd name="connsiteX1-83" fmla="*/ 895350 w 1778000"/>
              <a:gd name="connsiteY1-84" fmla="*/ 8466 h 931336"/>
              <a:gd name="connsiteX2-85" fmla="*/ 1778000 w 1778000"/>
              <a:gd name="connsiteY2-86" fmla="*/ 0 h 931336"/>
              <a:gd name="connsiteX3-87" fmla="*/ 814919 w 1778000"/>
              <a:gd name="connsiteY3-88" fmla="*/ 931336 h 931336"/>
              <a:gd name="connsiteX4-89" fmla="*/ 0 w 1778000"/>
              <a:gd name="connsiteY4-90" fmla="*/ 931333 h 931336"/>
              <a:gd name="connsiteX0-91" fmla="*/ 0 w 1778000"/>
              <a:gd name="connsiteY0-92" fmla="*/ 931333 h 931336"/>
              <a:gd name="connsiteX1-93" fmla="*/ 895350 w 1778000"/>
              <a:gd name="connsiteY1-94" fmla="*/ 8466 h 931336"/>
              <a:gd name="connsiteX2-95" fmla="*/ 1778000 w 1778000"/>
              <a:gd name="connsiteY2-96" fmla="*/ 0 h 931336"/>
              <a:gd name="connsiteX3-97" fmla="*/ 814919 w 1778000"/>
              <a:gd name="connsiteY3-98" fmla="*/ 931336 h 931336"/>
              <a:gd name="connsiteX4-99" fmla="*/ 0 w 1778000"/>
              <a:gd name="connsiteY4-100" fmla="*/ 931333 h 931336"/>
            </a:gdLst>
            <a:ahLst/>
            <a:cxnLst/>
            <a:rect l="l" t="t" r="r" b="b"/>
            <a:pathLst>
              <a:path w="1778000" h="931336">
                <a:moveTo>
                  <a:pt x="0" y="931333"/>
                </a:moveTo>
                <a:cubicBezTo>
                  <a:pt x="298450" y="615245"/>
                  <a:pt x="596900" y="316088"/>
                  <a:pt x="895350" y="8466"/>
                </a:cubicBezTo>
                <a:lnTo>
                  <a:pt x="1778000" y="0"/>
                </a:lnTo>
                <a:lnTo>
                  <a:pt x="814919" y="931336"/>
                </a:lnTo>
                <a:lnTo>
                  <a:pt x="0" y="931333"/>
                </a:lnTo>
                <a:close/>
              </a:path>
            </a:pathLst>
          </a:custGeom>
          <a:gradFill rotWithShape="1">
            <a:gsLst>
              <a:gs pos="17980">
                <a:srgbClr val="B81717">
                  <a:alpha val="42000"/>
                </a:srgbClr>
              </a:gs>
              <a:gs pos="0">
                <a:srgbClr val="ED402F">
                  <a:alpha val="0"/>
                </a:srgbClr>
              </a:gs>
              <a:gs pos="57000">
                <a:srgbClr val="86252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6" name="直接连接符 34">
            <a:extLst>
              <a:ext uri="{FF2B5EF4-FFF2-40B4-BE49-F238E27FC236}">
                <a16:creationId xmlns:a16="http://schemas.microsoft.com/office/drawing/2014/main" id="{5C9B6038-124D-4BE2-94A2-D1EA06FF50A6}"/>
              </a:ext>
            </a:extLst>
          </p:cNvPr>
          <p:cNvSpPr>
            <a:spLocks noGrp="1"/>
          </p:cNvSpPr>
          <p:nvPr/>
        </p:nvSpPr>
        <p:spPr>
          <a:xfrm>
            <a:off x="839788" y="666247"/>
            <a:ext cx="11380787" cy="0"/>
          </a:xfrm>
          <a:prstGeom prst="line">
            <a:avLst/>
          </a:prstGeom>
          <a:ln w="6350">
            <a:gradFill>
              <a:gsLst>
                <a:gs pos="0">
                  <a:srgbClr val="C00000"/>
                </a:gs>
                <a:gs pos="100000">
                  <a:srgbClr val="3063AD"/>
                </a:gs>
              </a:gsLst>
              <a:lin ang="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52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5722" y="246677"/>
            <a:ext cx="1814762" cy="392269"/>
          </a:xfrm>
          <a:prstGeom prst="rect">
            <a:avLst/>
          </a:prstGeom>
        </p:spPr>
      </p:pic>
      <p:sp>
        <p:nvSpPr>
          <p:cNvPr id="38" name="矩形 37">
            <a:extLst>
              <a:ext uri="{FF2B5EF4-FFF2-40B4-BE49-F238E27FC236}">
                <a16:creationId xmlns:a16="http://schemas.microsoft.com/office/drawing/2014/main" id="{1874BD0D-F71F-4DA7-848B-1F784F6B99BD}"/>
              </a:ext>
            </a:extLst>
          </p:cNvPr>
          <p:cNvSpPr>
            <a:spLocks noGrp="1"/>
          </p:cNvSpPr>
          <p:nvPr/>
        </p:nvSpPr>
        <p:spPr>
          <a:xfrm>
            <a:off x="0" y="6565463"/>
            <a:ext cx="12207240" cy="307777"/>
          </a:xfrm>
          <a:prstGeom prst="rect">
            <a:avLst/>
          </a:prstGeom>
          <a:gradFill>
            <a:gsLst>
              <a:gs pos="84000">
                <a:srgbClr val="5B4579">
                  <a:alpha val="0"/>
                </a:srgbClr>
              </a:gs>
              <a:gs pos="0">
                <a:srgbClr val="3063AD"/>
              </a:gs>
              <a:gs pos="100000">
                <a:srgbClr val="C00000">
                  <a:lumMod val="42000"/>
                  <a:alpha val="0"/>
                </a:srgb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C0C9FC-697E-484E-814D-B6E50C6579D3}"/>
              </a:ext>
            </a:extLst>
          </p:cNvPr>
          <p:cNvSpPr>
            <a:spLocks noGrp="1"/>
          </p:cNvSpPr>
          <p:nvPr/>
        </p:nvSpPr>
        <p:spPr>
          <a:xfrm>
            <a:off x="9258300" y="6578163"/>
            <a:ext cx="29845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/// 如约而至  相聚明德 \\\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10"/>
          <p:cNvPicPr>
            <a:picLocks noChangeAspect="1"/>
          </p:cNvPicPr>
          <p:nvPr/>
        </p:nvPicPr>
        <p:blipFill rotWithShape="1">
          <a:blip r:embed="rId2"/>
          <a:srcRect b="14693"/>
          <a:stretch>
            <a:fillRect/>
          </a:stretch>
        </p:blipFill>
        <p:spPr>
          <a:xfrm>
            <a:off x="0" y="0"/>
            <a:ext cx="12192000" cy="5850363"/>
          </a:xfrm>
          <a:prstGeom prst="rect">
            <a:avLst/>
          </a:prstGeom>
        </p:spPr>
      </p:pic>
      <p:pic>
        <p:nvPicPr>
          <p:cNvPr id="44" name="图片 12"/>
          <p:cNvPicPr>
            <a:picLocks noChangeAspect="1"/>
          </p:cNvPicPr>
          <p:nvPr/>
        </p:nvPicPr>
        <p:blipFill rotWithShape="1">
          <a:blip r:embed="rId3"/>
          <a:srcRect l="46158" t="-706" r="-12510" b="3198"/>
          <a:stretch>
            <a:fillRect/>
          </a:stretch>
        </p:blipFill>
        <p:spPr>
          <a:xfrm>
            <a:off x="0" y="69842"/>
            <a:ext cx="3910514" cy="5704525"/>
          </a:xfrm>
          <a:prstGeom prst="rect">
            <a:avLst/>
          </a:prstGeom>
        </p:spPr>
      </p:pic>
      <p:pic>
        <p:nvPicPr>
          <p:cNvPr id="45" name="图片 13"/>
          <p:cNvPicPr>
            <a:picLocks noChangeAspect="1"/>
          </p:cNvPicPr>
          <p:nvPr/>
        </p:nvPicPr>
        <p:blipFill rotWithShape="1">
          <a:blip r:embed="rId4"/>
          <a:srcRect l="-8617" t="288" r="46464" b="3117"/>
          <a:stretch>
            <a:fillRect/>
          </a:stretch>
        </p:blipFill>
        <p:spPr>
          <a:xfrm>
            <a:off x="8482841" y="72920"/>
            <a:ext cx="3697683" cy="5704525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D874213A-7EBA-49F8-BDC4-5858468D4260}"/>
              </a:ext>
            </a:extLst>
          </p:cNvPr>
          <p:cNvSpPr>
            <a:spLocks noGrp="1"/>
          </p:cNvSpPr>
          <p:nvPr/>
        </p:nvSpPr>
        <p:spPr>
          <a:xfrm>
            <a:off x="5130967" y="6295416"/>
            <a:ext cx="2187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chemeClr val="tx2">
                    <a:lumMod val="50000"/>
                  </a:schemeClr>
                </a:solidFill>
                <a:latin typeface="微软雅黑 Light"/>
                <a:ea typeface="微软雅黑 Light"/>
                <a:cs typeface="微软雅黑 Light"/>
              </a:rPr>
              <a:t>如约而至  相聚明德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1176B8E-F22C-47B7-BEDE-B59F63B3386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217400" cy="5867398"/>
          </a:xfrm>
          <a:prstGeom prst="rect">
            <a:avLst/>
          </a:prstGeom>
          <a:gradFill>
            <a:gsLst>
              <a:gs pos="0">
                <a:srgbClr val="C00000">
                  <a:lumMod val="67000"/>
                  <a:alpha val="95000"/>
                </a:srgbClr>
              </a:gs>
              <a:gs pos="100000">
                <a:schemeClr val="accent1">
                  <a:alpha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8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7888" y="604671"/>
            <a:ext cx="778865" cy="655294"/>
          </a:xfrm>
          <a:prstGeom prst="rect">
            <a:avLst/>
          </a:prstGeom>
        </p:spPr>
      </p:pic>
      <p:pic>
        <p:nvPicPr>
          <p:cNvPr id="49" name="图片 36"/>
          <p:cNvPicPr>
            <a:picLocks noChangeAspect="1"/>
          </p:cNvPicPr>
          <p:nvPr/>
        </p:nvPicPr>
        <p:blipFill rotWithShape="1">
          <a:blip r:embed="rId6"/>
          <a:srcRect l="21472"/>
          <a:stretch>
            <a:fillRect/>
          </a:stretch>
        </p:blipFill>
        <p:spPr>
          <a:xfrm>
            <a:off x="4501223" y="1225744"/>
            <a:ext cx="3155692" cy="655294"/>
          </a:xfrm>
          <a:prstGeom prst="rect">
            <a:avLst/>
          </a:prstGeom>
        </p:spPr>
      </p:pic>
      <p:pic>
        <p:nvPicPr>
          <p:cNvPr id="50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72372" y="1264659"/>
            <a:ext cx="1985923" cy="671944"/>
          </a:xfrm>
          <a:prstGeom prst="rect">
            <a:avLst/>
          </a:prstGeom>
        </p:spPr>
      </p:pic>
      <p:pic>
        <p:nvPicPr>
          <p:cNvPr id="51" name="图片 4"/>
          <p:cNvPicPr>
            <a:picLocks noChangeAspect="1"/>
          </p:cNvPicPr>
          <p:nvPr/>
        </p:nvPicPr>
        <p:blipFill rotWithShape="1">
          <a:blip r:embed="rId8"/>
          <a:srcRect l="33894" t="38889" r="33546" b="38611"/>
          <a:stretch>
            <a:fillRect/>
          </a:stretch>
        </p:blipFill>
        <p:spPr>
          <a:xfrm>
            <a:off x="5249097" y="614634"/>
            <a:ext cx="687152" cy="671944"/>
          </a:xfrm>
          <a:prstGeom prst="ellipse">
            <a:avLst/>
          </a:prstGeom>
        </p:spPr>
      </p:pic>
      <p:pic>
        <p:nvPicPr>
          <p:cNvPr id="52" name="图片 15"/>
          <p:cNvPicPr>
            <a:picLocks noChangeAspect="1"/>
          </p:cNvPicPr>
          <p:nvPr/>
        </p:nvPicPr>
        <p:blipFill rotWithShape="1">
          <a:blip r:embed="rId9"/>
          <a:srcRect l="6843" t="16805" r="9985" b="18356"/>
          <a:stretch>
            <a:fillRect/>
          </a:stretch>
        </p:blipFill>
        <p:spPr>
          <a:xfrm>
            <a:off x="6294914" y="591295"/>
            <a:ext cx="682045" cy="682046"/>
          </a:xfrm>
          <a:prstGeom prst="ellipse">
            <a:avLst/>
          </a:prstGeom>
        </p:spPr>
      </p:pic>
      <p:sp>
        <p:nvSpPr>
          <p:cNvPr id="7" name="直线连接符 6">
            <a:extLst>
              <a:ext uri="{FF2B5EF4-FFF2-40B4-BE49-F238E27FC236}">
                <a16:creationId xmlns:a16="http://schemas.microsoft.com/office/drawing/2014/main" id="{8EEA038A-F375-4C59-B18D-01D0DE5580C8}"/>
              </a:ext>
            </a:extLst>
          </p:cNvPr>
          <p:cNvSpPr>
            <a:spLocks noGrp="1"/>
          </p:cNvSpPr>
          <p:nvPr/>
        </p:nvSpPr>
        <p:spPr>
          <a:xfrm>
            <a:off x="6107320" y="758452"/>
            <a:ext cx="0" cy="40282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图片 32"/>
          <p:cNvPicPr>
            <a:picLocks noChangeAspect="1"/>
          </p:cNvPicPr>
          <p:nvPr/>
        </p:nvPicPr>
        <p:blipFill rotWithShape="1">
          <a:blip r:embed="rId2"/>
          <a:srcRect b="14693"/>
          <a:stretch>
            <a:fillRect/>
          </a:stretch>
        </p:blipFill>
        <p:spPr>
          <a:xfrm>
            <a:off x="0" y="575838"/>
            <a:ext cx="12192000" cy="5704525"/>
          </a:xfrm>
          <a:prstGeom prst="rect">
            <a:avLst/>
          </a:prstGeom>
        </p:spPr>
      </p:pic>
      <p:pic>
        <p:nvPicPr>
          <p:cNvPr id="45" name="图片 33"/>
          <p:cNvPicPr>
            <a:picLocks noChangeAspect="1"/>
          </p:cNvPicPr>
          <p:nvPr/>
        </p:nvPicPr>
        <p:blipFill rotWithShape="1">
          <a:blip r:embed="rId3"/>
          <a:srcRect l="-1597" t="18" r="34459" b="-18"/>
          <a:stretch>
            <a:fillRect/>
          </a:stretch>
        </p:blipFill>
        <p:spPr>
          <a:xfrm>
            <a:off x="8713408" y="859026"/>
            <a:ext cx="3478591" cy="5136347"/>
          </a:xfrm>
          <a:prstGeom prst="rect">
            <a:avLst/>
          </a:prstGeom>
        </p:spPr>
      </p:pic>
      <p:sp>
        <p:nvSpPr>
          <p:cNvPr id="36" name="矩形 35">
            <a:extLst>
              <a:ext uri="{FF2B5EF4-FFF2-40B4-BE49-F238E27FC236}">
                <a16:creationId xmlns:a16="http://schemas.microsoft.com/office/drawing/2014/main" id="{4FAF4CBF-3994-4A1C-B912-81159EBB316E}"/>
              </a:ext>
            </a:extLst>
          </p:cNvPr>
          <p:cNvSpPr>
            <a:spLocks noGrp="1"/>
          </p:cNvSpPr>
          <p:nvPr/>
        </p:nvSpPr>
        <p:spPr>
          <a:xfrm>
            <a:off x="1126" y="574039"/>
            <a:ext cx="12190874" cy="5704525"/>
          </a:xfrm>
          <a:prstGeom prst="rect">
            <a:avLst/>
          </a:prstGeom>
          <a:gradFill rotWithShape="1">
            <a:gsLst>
              <a:gs pos="0">
                <a:srgbClr val="862528"/>
              </a:gs>
              <a:gs pos="75000">
                <a:schemeClr val="accent1">
                  <a:alpha val="95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B60C566A-3802-4457-9C21-840696F10C95}"/>
              </a:ext>
            </a:extLst>
          </p:cNvPr>
          <p:cNvSpPr>
            <a:spLocks noGrp="1"/>
          </p:cNvSpPr>
          <p:nvPr/>
        </p:nvSpPr>
        <p:spPr>
          <a:xfrm>
            <a:off x="9970759" y="6518754"/>
            <a:ext cx="2187397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buNone/>
            </a:pPr>
            <a:r>
              <a:rPr sz="1400">
                <a:solidFill>
                  <a:schemeClr val="tx2">
                    <a:lumMod val="50000"/>
                  </a:schemeClr>
                </a:solidFill>
                <a:latin typeface="微软雅黑 Light"/>
                <a:ea typeface="微软雅黑 Light"/>
                <a:cs typeface="微软雅黑 Light"/>
              </a:rPr>
              <a:t>如约而至  相聚统院</a:t>
            </a:r>
          </a:p>
        </p:txBody>
      </p:sp>
      <p:pic>
        <p:nvPicPr>
          <p:cNvPr id="48" name="图片 10"/>
          <p:cNvPicPr>
            <a:picLocks noChangeAspect="1"/>
          </p:cNvPicPr>
          <p:nvPr/>
        </p:nvPicPr>
        <p:blipFill rotWithShape="1">
          <a:blip r:embed="rId4"/>
          <a:srcRect l="33894" t="38889" r="33546" b="38611"/>
          <a:stretch>
            <a:fillRect/>
          </a:stretch>
        </p:blipFill>
        <p:spPr>
          <a:xfrm>
            <a:off x="373079" y="2525407"/>
            <a:ext cx="432133" cy="422569"/>
          </a:xfrm>
          <a:prstGeom prst="ellipse">
            <a:avLst/>
          </a:prstGeom>
        </p:spPr>
      </p:pic>
      <p:pic>
        <p:nvPicPr>
          <p:cNvPr id="49" name="图片 11"/>
          <p:cNvPicPr>
            <a:picLocks noChangeAspect="1"/>
          </p:cNvPicPr>
          <p:nvPr/>
        </p:nvPicPr>
        <p:blipFill rotWithShape="1">
          <a:blip r:embed="rId5"/>
          <a:srcRect b="24656"/>
          <a:stretch>
            <a:fillRect/>
          </a:stretch>
        </p:blipFill>
        <p:spPr>
          <a:xfrm>
            <a:off x="805212" y="2474103"/>
            <a:ext cx="1579173" cy="402576"/>
          </a:xfrm>
          <a:prstGeom prst="rect">
            <a:avLst/>
          </a:prstGeom>
        </p:spPr>
      </p:pic>
      <p:pic>
        <p:nvPicPr>
          <p:cNvPr id="50" name="图片 13"/>
          <p:cNvPicPr>
            <a:picLocks noChangeAspect="1"/>
          </p:cNvPicPr>
          <p:nvPr/>
        </p:nvPicPr>
        <p:blipFill rotWithShape="1">
          <a:blip r:embed="rId5"/>
          <a:srcRect t="71319" b="-1646"/>
          <a:stretch>
            <a:fillRect/>
          </a:stretch>
        </p:blipFill>
        <p:spPr>
          <a:xfrm>
            <a:off x="805212" y="2824105"/>
            <a:ext cx="1579173" cy="16204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10"/>
          <p:cNvPicPr>
            <a:picLocks noChangeAspect="1"/>
          </p:cNvPicPr>
          <p:nvPr/>
        </p:nvPicPr>
        <p:blipFill rotWithShape="1">
          <a:blip r:embed="rId2"/>
          <a:srcRect b="14693"/>
          <a:stretch>
            <a:fillRect/>
          </a:stretch>
        </p:blipFill>
        <p:spPr>
          <a:xfrm>
            <a:off x="0" y="0"/>
            <a:ext cx="12192000" cy="60579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A7AB908-BDE1-4DC8-B315-8284E0CC1047}"/>
              </a:ext>
            </a:extLst>
          </p:cNvPr>
          <p:cNvSpPr>
            <a:spLocks noGrp="1"/>
          </p:cNvSpPr>
          <p:nvPr/>
        </p:nvSpPr>
        <p:spPr>
          <a:xfrm>
            <a:off x="0" y="-1"/>
            <a:ext cx="12217400" cy="6026149"/>
          </a:xfrm>
          <a:prstGeom prst="rect">
            <a:avLst/>
          </a:prstGeom>
          <a:gradFill>
            <a:gsLst>
              <a:gs pos="0">
                <a:srgbClr val="C00000">
                  <a:lumMod val="67000"/>
                  <a:alpha val="95000"/>
                </a:srgbClr>
              </a:gs>
              <a:gs pos="100000">
                <a:schemeClr val="accent1">
                  <a:alpha val="9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矩形 33" hidden="1">
            <a:extLst>
              <a:ext uri="{FF2B5EF4-FFF2-40B4-BE49-F238E27FC236}">
                <a16:creationId xmlns:a16="http://schemas.microsoft.com/office/drawing/2014/main" id="{435BD155-0ED0-46B5-B449-82F0C8430334}"/>
              </a:ext>
            </a:extLst>
          </p:cNvPr>
          <p:cNvSpPr>
            <a:spLocks noGrp="1"/>
          </p:cNvSpPr>
          <p:nvPr/>
        </p:nvSpPr>
        <p:spPr>
          <a:xfrm>
            <a:off x="0" y="2"/>
            <a:ext cx="12179300" cy="6057898"/>
          </a:xfrm>
          <a:prstGeom prst="rect">
            <a:avLst/>
          </a:prstGeom>
          <a:gradFill>
            <a:gsLst>
              <a:gs pos="0">
                <a:schemeClr val="accent3">
                  <a:alpha val="90000"/>
                </a:schemeClr>
              </a:gs>
              <a:gs pos="75000">
                <a:schemeClr val="accent1">
                  <a:alpha val="90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4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88" y="185572"/>
            <a:ext cx="778865" cy="655295"/>
          </a:xfrm>
          <a:prstGeom prst="rect">
            <a:avLst/>
          </a:prstGeom>
        </p:spPr>
      </p:pic>
      <p:pic>
        <p:nvPicPr>
          <p:cNvPr id="45" name="图片 17"/>
          <p:cNvPicPr>
            <a:picLocks noChangeAspect="1"/>
          </p:cNvPicPr>
          <p:nvPr/>
        </p:nvPicPr>
        <p:blipFill rotWithShape="1">
          <a:blip r:embed="rId4"/>
          <a:srcRect l="21472"/>
          <a:stretch>
            <a:fillRect/>
          </a:stretch>
        </p:blipFill>
        <p:spPr>
          <a:xfrm>
            <a:off x="1021423" y="185571"/>
            <a:ext cx="3155691" cy="655295"/>
          </a:xfrm>
          <a:prstGeom prst="rect">
            <a:avLst/>
          </a:prstGeom>
        </p:spPr>
      </p:pic>
      <p:sp>
        <p:nvSpPr>
          <p:cNvPr id="23" name="直接连接符 22">
            <a:extLst>
              <a:ext uri="{FF2B5EF4-FFF2-40B4-BE49-F238E27FC236}">
                <a16:creationId xmlns:a16="http://schemas.microsoft.com/office/drawing/2014/main" id="{3A16FD4A-EBB4-4E18-8945-71EA550693DE}"/>
              </a:ext>
            </a:extLst>
          </p:cNvPr>
          <p:cNvSpPr>
            <a:spLocks noGrp="1"/>
          </p:cNvSpPr>
          <p:nvPr/>
        </p:nvSpPr>
        <p:spPr>
          <a:xfrm>
            <a:off x="0" y="6042025"/>
            <a:ext cx="12217400" cy="0"/>
          </a:xfrm>
          <a:prstGeom prst="line">
            <a:avLst/>
          </a:prstGeom>
          <a:ln w="889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E735578-BFB0-4231-BE99-768D20D60123}"/>
              </a:ext>
            </a:extLst>
          </p:cNvPr>
          <p:cNvSpPr>
            <a:spLocks noGrp="1"/>
          </p:cNvSpPr>
          <p:nvPr/>
        </p:nvSpPr>
        <p:spPr>
          <a:xfrm>
            <a:off x="5150845" y="6384316"/>
            <a:ext cx="21873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l" defTabSz="914400">
              <a:buNone/>
            </a:pPr>
            <a:r>
              <a:rPr sz="1400">
                <a:solidFill>
                  <a:schemeClr val="tx2">
                    <a:lumMod val="50000"/>
                  </a:schemeClr>
                </a:solidFill>
                <a:latin typeface="微软雅黑 Light"/>
                <a:ea typeface="微软雅黑 Light"/>
                <a:cs typeface="微软雅黑 Light"/>
              </a:rPr>
              <a:t>如约而至  相聚明德</a:t>
            </a:r>
          </a:p>
        </p:txBody>
      </p:sp>
      <p:pic>
        <p:nvPicPr>
          <p:cNvPr id="48" name="图片 11"/>
          <p:cNvPicPr>
            <a:picLocks noChangeAspect="1"/>
          </p:cNvPicPr>
          <p:nvPr/>
        </p:nvPicPr>
        <p:blipFill rotWithShape="1">
          <a:blip r:embed="rId5"/>
          <a:srcRect l="33894" t="38889" r="33546" b="38611"/>
          <a:stretch>
            <a:fillRect/>
          </a:stretch>
        </p:blipFill>
        <p:spPr>
          <a:xfrm>
            <a:off x="199826" y="199916"/>
            <a:ext cx="639606" cy="625449"/>
          </a:xfrm>
          <a:prstGeom prst="ellipse">
            <a:avLst/>
          </a:prstGeom>
        </p:spPr>
      </p:pic>
      <p:pic>
        <p:nvPicPr>
          <p:cNvPr id="49" name="图片 12"/>
          <p:cNvPicPr>
            <a:picLocks noChangeAspect="1"/>
          </p:cNvPicPr>
          <p:nvPr/>
        </p:nvPicPr>
        <p:blipFill rotWithShape="1">
          <a:blip r:embed="rId6"/>
          <a:srcRect b="24656"/>
          <a:stretch>
            <a:fillRect/>
          </a:stretch>
        </p:blipFill>
        <p:spPr>
          <a:xfrm>
            <a:off x="1007744" y="160608"/>
            <a:ext cx="2418847" cy="616632"/>
          </a:xfrm>
          <a:prstGeom prst="rect">
            <a:avLst/>
          </a:prstGeom>
        </p:spPr>
      </p:pic>
      <p:pic>
        <p:nvPicPr>
          <p:cNvPr id="50" name="图片 13"/>
          <p:cNvPicPr>
            <a:picLocks noChangeAspect="1"/>
          </p:cNvPicPr>
          <p:nvPr/>
        </p:nvPicPr>
        <p:blipFill rotWithShape="1">
          <a:blip r:embed="rId7"/>
          <a:srcRect t="71319" b="-1646"/>
          <a:stretch>
            <a:fillRect/>
          </a:stretch>
        </p:blipFill>
        <p:spPr>
          <a:xfrm>
            <a:off x="815244" y="577756"/>
            <a:ext cx="2811755" cy="28852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04A81B39-6DE6-458D-B9B9-4B00027598B7}"/>
              </a:ext>
            </a:extLst>
          </p:cNvPr>
          <p:cNvSpPr>
            <a:spLocks noGrp="1"/>
          </p:cNvSpPr>
          <p:nvPr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/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31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558" y="4475922"/>
            <a:ext cx="6860851" cy="2418450"/>
          </a:xfrm>
          <a:prstGeom prst="rect">
            <a:avLst/>
          </a:prstGeom>
        </p:spPr>
      </p:pic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72397C96-8531-4B0C-8AA4-D56CB641976F}"/>
              </a:ext>
            </a:extLst>
          </p:cNvPr>
          <p:cNvSpPr>
            <a:spLocks noGrp="1"/>
          </p:cNvSpPr>
          <p:nvPr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/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93000">
                <a:srgbClr val="61263B"/>
              </a:gs>
              <a:gs pos="0">
                <a:srgbClr val="3063AD">
                  <a:alpha val="50000"/>
                </a:srgbClr>
              </a:gs>
              <a:gs pos="100000">
                <a:srgbClr val="B81717">
                  <a:lumMod val="63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503067F-CD5A-4239-A7F2-9E07FA0CF8EE}"/>
              </a:ext>
            </a:extLst>
          </p:cNvPr>
          <p:cNvSpPr>
            <a:spLocks noGrp="1"/>
          </p:cNvSpPr>
          <p:nvPr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rotWithShape="1">
              <a:gsLst>
                <a:gs pos="77000">
                  <a:srgbClr val="FF9C00">
                    <a:alpha val="0"/>
                  </a:srgbClr>
                </a:gs>
                <a:gs pos="7700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4" name="图片 4"/>
          <p:cNvPicPr>
            <a:picLocks noChangeAspect="1"/>
          </p:cNvPicPr>
          <p:nvPr/>
        </p:nvPicPr>
        <p:blipFill rotWithShape="1">
          <a:blip r:embed="rId4"/>
          <a:srcRect l="49228" t="36852" r="31815" b="36957"/>
          <a:stretch>
            <a:fillRect/>
          </a:stretch>
        </p:blipFill>
        <p:spPr>
          <a:xfrm>
            <a:off x="-12033" y="849339"/>
            <a:ext cx="3037557" cy="5939176"/>
          </a:xfrm>
          <a:prstGeom prst="rect">
            <a:avLst/>
          </a:prstGeom>
        </p:spPr>
      </p:pic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CCF16C4-ECD9-40BE-9323-C1F243269E90}"/>
              </a:ext>
            </a:extLst>
          </p:cNvPr>
          <p:cNvSpPr>
            <a:spLocks noGrp="1"/>
          </p:cNvSpPr>
          <p:nvPr/>
        </p:nvSpPr>
        <p:spPr>
          <a:xfrm>
            <a:off x="-12032" y="288141"/>
            <a:ext cx="3441725" cy="6281716"/>
          </a:xfrm>
          <a:custGeom>
            <a:avLst/>
            <a:gdLst>
              <a:gd name="connsiteX0" fmla="*/ 433318 w 3441725"/>
              <a:gd name="connsiteY0" fmla="*/ 0 h 6281716"/>
              <a:gd name="connsiteX1" fmla="*/ 3441725 w 3441725"/>
              <a:gd name="connsiteY1" fmla="*/ 3140858 h 6281716"/>
              <a:gd name="connsiteX2" fmla="*/ 433318 w 3441725"/>
              <a:gd name="connsiteY2" fmla="*/ 6281716 h 6281716"/>
              <a:gd name="connsiteX3" fmla="*/ 125726 w 3441725"/>
              <a:gd name="connsiteY3" fmla="*/ 6265500 h 6281716"/>
              <a:gd name="connsiteX4" fmla="*/ 0 w 3441725"/>
              <a:gd name="connsiteY4" fmla="*/ 6245468 h 6281716"/>
              <a:gd name="connsiteX5" fmla="*/ 0 w 3441725"/>
              <a:gd name="connsiteY5" fmla="*/ 36249 h 6281716"/>
              <a:gd name="connsiteX6" fmla="*/ 125726 w 3441725"/>
              <a:gd name="connsiteY6" fmla="*/ 16216 h 6281716"/>
              <a:gd name="connsiteX7" fmla="*/ 433318 w 3441725"/>
              <a:gd name="connsiteY7" fmla="*/ 0 h 6281716"/>
            </a:gdLst>
            <a:ahLst/>
            <a:cxnLst/>
            <a:rect l="l" t="t" r="r" b="b"/>
            <a:pathLst>
              <a:path w="3441725" h="6281716">
                <a:moveTo>
                  <a:pt x="433318" y="0"/>
                </a:moveTo>
                <a:cubicBezTo>
                  <a:pt x="2094815" y="0"/>
                  <a:pt x="3441725" y="1406210"/>
                  <a:pt x="3441725" y="3140858"/>
                </a:cubicBezTo>
                <a:cubicBezTo>
                  <a:pt x="3441725" y="4875506"/>
                  <a:pt x="2094815" y="6281716"/>
                  <a:pt x="433318" y="6281716"/>
                </a:cubicBezTo>
                <a:cubicBezTo>
                  <a:pt x="329474" y="6281716"/>
                  <a:pt x="226860" y="6276223"/>
                  <a:pt x="125726" y="6265500"/>
                </a:cubicBezTo>
                <a:lnTo>
                  <a:pt x="0" y="6245468"/>
                </a:lnTo>
                <a:lnTo>
                  <a:pt x="0" y="36249"/>
                </a:lnTo>
                <a:lnTo>
                  <a:pt x="125726" y="16216"/>
                </a:lnTo>
                <a:cubicBezTo>
                  <a:pt x="226860" y="5493"/>
                  <a:pt x="329474" y="0"/>
                  <a:pt x="433318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36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78" y="581774"/>
            <a:ext cx="2542591" cy="54959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图片占位符 13">
            <a:extLst>
              <a:ext uri="{FF2B5EF4-FFF2-40B4-BE49-F238E27FC236}">
                <a16:creationId xmlns:a16="http://schemas.microsoft.com/office/drawing/2014/main" id="{592FCD42-2EDC-4702-9131-1BEB459D5AB3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3048000" y="0"/>
            <a:ext cx="9144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01B64843-8FD8-464E-BBE0-9BBD1C1DA4BE}"/>
              </a:ext>
            </a:extLst>
          </p:cNvPr>
          <p:cNvSpPr>
            <a:spLocks noGrp="1"/>
          </p:cNvSpPr>
          <p:nvPr/>
        </p:nvSpPr>
        <p:spPr>
          <a:xfrm>
            <a:off x="96742" y="-1050588"/>
            <a:ext cx="8524826" cy="9014570"/>
          </a:xfrm>
          <a:custGeom>
            <a:avLst/>
            <a:gdLst>
              <a:gd name="connsiteX0" fmla="*/ 4262413 w 8524826"/>
              <a:gd name="connsiteY0" fmla="*/ 0 h 9014570"/>
              <a:gd name="connsiteX1" fmla="*/ 6294133 w 8524826"/>
              <a:gd name="connsiteY1" fmla="*/ 544005 h 9014570"/>
              <a:gd name="connsiteX2" fmla="*/ 6362552 w 8524826"/>
              <a:gd name="connsiteY2" fmla="*/ 585606 h 9014570"/>
              <a:gd name="connsiteX3" fmla="*/ 6362552 w 8524826"/>
              <a:gd name="connsiteY3" fmla="*/ 1037888 h 9014570"/>
              <a:gd name="connsiteX4" fmla="*/ 6982697 w 8524826"/>
              <a:gd name="connsiteY4" fmla="*/ 1037888 h 9014570"/>
              <a:gd name="connsiteX5" fmla="*/ 7276395 w 8524826"/>
              <a:gd name="connsiteY5" fmla="*/ 1320153 h 9014570"/>
              <a:gd name="connsiteX6" fmla="*/ 8524826 w 8524826"/>
              <a:gd name="connsiteY6" fmla="*/ 4507285 h 9014570"/>
              <a:gd name="connsiteX7" fmla="*/ 7276395 w 8524826"/>
              <a:gd name="connsiteY7" fmla="*/ 7694417 h 9014570"/>
              <a:gd name="connsiteX8" fmla="*/ 7044457 w 8524826"/>
              <a:gd name="connsiteY8" fmla="*/ 7917326 h 9014570"/>
              <a:gd name="connsiteX9" fmla="*/ 6182110 w 8524826"/>
              <a:gd name="connsiteY9" fmla="*/ 7917326 h 9014570"/>
              <a:gd name="connsiteX10" fmla="*/ 6182110 w 8524826"/>
              <a:gd name="connsiteY10" fmla="*/ 8531236 h 9014570"/>
              <a:gd name="connsiteX11" fmla="*/ 6110346 w 8524826"/>
              <a:gd name="connsiteY11" fmla="*/ 8570103 h 9014570"/>
              <a:gd name="connsiteX12" fmla="*/ 4262413 w 8524826"/>
              <a:gd name="connsiteY12" fmla="*/ 9014570 h 9014570"/>
              <a:gd name="connsiteX13" fmla="*/ 0 w 8524826"/>
              <a:gd name="connsiteY13" fmla="*/ 4507285 h 9014570"/>
              <a:gd name="connsiteX14" fmla="*/ 4262413 w 8524826"/>
              <a:gd name="connsiteY14" fmla="*/ 0 h 9014570"/>
            </a:gdLst>
            <a:ahLst/>
            <a:cxnLst/>
            <a:rect l="l" t="t" r="r" b="b"/>
            <a:pathLst>
              <a:path w="8524826" h="9014570">
                <a:moveTo>
                  <a:pt x="4262413" y="0"/>
                </a:moveTo>
                <a:cubicBezTo>
                  <a:pt x="4998059" y="0"/>
                  <a:pt x="5690177" y="197069"/>
                  <a:pt x="6294133" y="544005"/>
                </a:cubicBezTo>
                <a:lnTo>
                  <a:pt x="6362552" y="585606"/>
                </a:lnTo>
                <a:lnTo>
                  <a:pt x="6362552" y="1037888"/>
                </a:lnTo>
                <a:lnTo>
                  <a:pt x="6982697" y="1037888"/>
                </a:lnTo>
                <a:lnTo>
                  <a:pt x="7276395" y="1320153"/>
                </a:lnTo>
                <a:cubicBezTo>
                  <a:pt x="8047739" y="2135811"/>
                  <a:pt x="8524826" y="3262633"/>
                  <a:pt x="8524826" y="4507285"/>
                </a:cubicBezTo>
                <a:cubicBezTo>
                  <a:pt x="8524826" y="5751938"/>
                  <a:pt x="8047739" y="6878759"/>
                  <a:pt x="7276395" y="7694417"/>
                </a:cubicBezTo>
                <a:lnTo>
                  <a:pt x="7044457" y="7917326"/>
                </a:lnTo>
                <a:lnTo>
                  <a:pt x="6182110" y="7917326"/>
                </a:lnTo>
                <a:lnTo>
                  <a:pt x="6182110" y="8531236"/>
                </a:lnTo>
                <a:lnTo>
                  <a:pt x="6110346" y="8570103"/>
                </a:lnTo>
                <a:cubicBezTo>
                  <a:pt x="5551318" y="8854945"/>
                  <a:pt x="4924494" y="9014570"/>
                  <a:pt x="4262413" y="9014570"/>
                </a:cubicBezTo>
                <a:cubicBezTo>
                  <a:pt x="1908347" y="9014570"/>
                  <a:pt x="0" y="6996590"/>
                  <a:pt x="0" y="4507285"/>
                </a:cubicBezTo>
                <a:cubicBezTo>
                  <a:pt x="0" y="2017980"/>
                  <a:pt x="1908347" y="0"/>
                  <a:pt x="4262413" y="0"/>
                </a:cubicBezTo>
                <a:close/>
              </a:path>
            </a:pathLst>
          </a:custGeom>
          <a:noFill/>
          <a:ln>
            <a:gradFill rotWithShape="1">
              <a:gsLst>
                <a:gs pos="79000">
                  <a:srgbClr val="FF9C00">
                    <a:alpha val="0"/>
                  </a:srgbClr>
                </a:gs>
                <a:gs pos="79000">
                  <a:schemeClr val="accent2">
                    <a:alpha val="8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3C2F90C-D4D5-420B-A8AA-9CDA7B8EA5D8}"/>
              </a:ext>
            </a:extLst>
          </p:cNvPr>
          <p:cNvSpPr>
            <a:spLocks noGrp="1"/>
          </p:cNvSpPr>
          <p:nvPr/>
        </p:nvSpPr>
        <p:spPr>
          <a:xfrm>
            <a:off x="-1012335" y="-1050589"/>
            <a:ext cx="8720080" cy="9014570"/>
          </a:xfrm>
          <a:custGeom>
            <a:avLst/>
            <a:gdLst>
              <a:gd name="connsiteX0" fmla="*/ 4360040 w 8720080"/>
              <a:gd name="connsiteY0" fmla="*/ 0 h 9014570"/>
              <a:gd name="connsiteX1" fmla="*/ 6438294 w 8720080"/>
              <a:gd name="connsiteY1" fmla="*/ 544005 h 9014570"/>
              <a:gd name="connsiteX2" fmla="*/ 6460635 w 8720080"/>
              <a:gd name="connsiteY2" fmla="*/ 557285 h 9014570"/>
              <a:gd name="connsiteX3" fmla="*/ 6460635 w 8720080"/>
              <a:gd name="connsiteY3" fmla="*/ 1033420 h 9014570"/>
              <a:gd name="connsiteX4" fmla="*/ 7138093 w 8720080"/>
              <a:gd name="connsiteY4" fmla="*/ 1033420 h 9014570"/>
              <a:gd name="connsiteX5" fmla="*/ 7291633 w 8720080"/>
              <a:gd name="connsiteY5" fmla="*/ 1170911 h 9014570"/>
              <a:gd name="connsiteX6" fmla="*/ 8720080 w 8720080"/>
              <a:gd name="connsiteY6" fmla="*/ 4507285 h 9014570"/>
              <a:gd name="connsiteX7" fmla="*/ 7291633 w 8720080"/>
              <a:gd name="connsiteY7" fmla="*/ 7843659 h 9014570"/>
              <a:gd name="connsiteX8" fmla="*/ 7209366 w 8720080"/>
              <a:gd name="connsiteY8" fmla="*/ 7917327 h 9014570"/>
              <a:gd name="connsiteX9" fmla="*/ 6521658 w 8720080"/>
              <a:gd name="connsiteY9" fmla="*/ 7917327 h 9014570"/>
              <a:gd name="connsiteX10" fmla="*/ 6521658 w 8720080"/>
              <a:gd name="connsiteY10" fmla="*/ 8421013 h 9014570"/>
              <a:gd name="connsiteX11" fmla="*/ 6438294 w 8720080"/>
              <a:gd name="connsiteY11" fmla="*/ 8470565 h 9014570"/>
              <a:gd name="connsiteX12" fmla="*/ 4360040 w 8720080"/>
              <a:gd name="connsiteY12" fmla="*/ 9014570 h 9014570"/>
              <a:gd name="connsiteX13" fmla="*/ 0 w 8720080"/>
              <a:gd name="connsiteY13" fmla="*/ 4507285 h 9014570"/>
              <a:gd name="connsiteX14" fmla="*/ 4360040 w 8720080"/>
              <a:gd name="connsiteY14" fmla="*/ 0 h 9014570"/>
            </a:gdLst>
            <a:ahLst/>
            <a:cxnLst/>
            <a:rect l="l" t="t" r="r" b="b"/>
            <a:pathLst>
              <a:path w="8720080" h="9014570">
                <a:moveTo>
                  <a:pt x="4360040" y="0"/>
                </a:moveTo>
                <a:cubicBezTo>
                  <a:pt x="5112535" y="0"/>
                  <a:pt x="5820506" y="197069"/>
                  <a:pt x="6438294" y="544005"/>
                </a:cubicBezTo>
                <a:lnTo>
                  <a:pt x="6460635" y="557285"/>
                </a:lnTo>
                <a:lnTo>
                  <a:pt x="6460635" y="1033420"/>
                </a:lnTo>
                <a:lnTo>
                  <a:pt x="7138093" y="1033420"/>
                </a:lnTo>
                <a:lnTo>
                  <a:pt x="7291633" y="1170911"/>
                </a:lnTo>
                <a:cubicBezTo>
                  <a:pt x="8169158" y="1995419"/>
                  <a:pt x="8720080" y="3184842"/>
                  <a:pt x="8720080" y="4507285"/>
                </a:cubicBezTo>
                <a:cubicBezTo>
                  <a:pt x="8720080" y="5829729"/>
                  <a:pt x="8169158" y="7019151"/>
                  <a:pt x="7291633" y="7843659"/>
                </a:cubicBezTo>
                <a:lnTo>
                  <a:pt x="7209366" y="7917327"/>
                </a:lnTo>
                <a:lnTo>
                  <a:pt x="6521658" y="7917327"/>
                </a:lnTo>
                <a:lnTo>
                  <a:pt x="6521658" y="8421013"/>
                </a:lnTo>
                <a:lnTo>
                  <a:pt x="6438294" y="8470565"/>
                </a:lnTo>
                <a:cubicBezTo>
                  <a:pt x="5820506" y="8817502"/>
                  <a:pt x="5112535" y="9014570"/>
                  <a:pt x="4360040" y="9014570"/>
                </a:cubicBezTo>
                <a:cubicBezTo>
                  <a:pt x="1952056" y="9014570"/>
                  <a:pt x="0" y="6996590"/>
                  <a:pt x="0" y="4507285"/>
                </a:cubicBezTo>
                <a:cubicBezTo>
                  <a:pt x="0" y="2017980"/>
                  <a:pt x="1952056" y="0"/>
                  <a:pt x="4360040" y="0"/>
                </a:cubicBezTo>
                <a:close/>
              </a:path>
            </a:pathLst>
          </a:custGeom>
          <a:noFill/>
          <a:ln>
            <a:gradFill rotWithShape="1">
              <a:gsLst>
                <a:gs pos="83000">
                  <a:srgbClr val="FF9C00">
                    <a:alpha val="0"/>
                  </a:srgbClr>
                </a:gs>
                <a:gs pos="100000">
                  <a:srgbClr val="3063AD">
                    <a:alpha val="2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C3B062C-693E-45D3-B6CA-FDB5A4814235}"/>
              </a:ext>
            </a:extLst>
          </p:cNvPr>
          <p:cNvSpPr>
            <a:spLocks noGrp="1"/>
          </p:cNvSpPr>
          <p:nvPr/>
        </p:nvSpPr>
        <p:spPr>
          <a:xfrm>
            <a:off x="0" y="-12700"/>
            <a:ext cx="629920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/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DCA3BEC6-4A2F-4A23-BE5A-B657EA4DB97F}"/>
              </a:ext>
            </a:extLst>
          </p:cNvPr>
          <p:cNvSpPr>
            <a:spLocks noGrp="1"/>
          </p:cNvSpPr>
          <p:nvPr/>
        </p:nvSpPr>
        <p:spPr>
          <a:xfrm>
            <a:off x="-1512130" y="-651026"/>
            <a:ext cx="8160051" cy="8160051"/>
          </a:xfrm>
          <a:prstGeom prst="ellipse">
            <a:avLst/>
          </a:prstGeom>
          <a:noFill/>
          <a:ln>
            <a:gradFill rotWithShape="1">
              <a:gsLst>
                <a:gs pos="77000">
                  <a:srgbClr val="FF9C00">
                    <a:alpha val="0"/>
                  </a:srgbClr>
                </a:gs>
                <a:gs pos="77000">
                  <a:srgbClr val="3063A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99DCF300-2CD7-4CCC-89DA-6BE4C726709F}"/>
              </a:ext>
            </a:extLst>
          </p:cNvPr>
          <p:cNvSpPr>
            <a:spLocks noGrp="1"/>
          </p:cNvSpPr>
          <p:nvPr/>
        </p:nvSpPr>
        <p:spPr>
          <a:xfrm>
            <a:off x="-1360519" y="-823172"/>
            <a:ext cx="8484598" cy="8484598"/>
          </a:xfrm>
          <a:prstGeom prst="ellipse">
            <a:avLst/>
          </a:prstGeom>
          <a:noFill/>
          <a:ln>
            <a:gradFill rotWithShape="1">
              <a:gsLst>
                <a:gs pos="79000">
                  <a:srgbClr val="FF9C00">
                    <a:alpha val="0"/>
                  </a:srgbClr>
                </a:gs>
                <a:gs pos="79000">
                  <a:srgbClr val="3063AD">
                    <a:alpha val="40000"/>
                  </a:srgb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7" name="图片 17"/>
          <p:cNvPicPr>
            <a:picLocks noChangeAspect="1"/>
          </p:cNvPicPr>
          <p:nvPr/>
        </p:nvPicPr>
        <p:blipFill>
          <a:blip r:embed="rId3"/>
          <a:srcRect l="1873" r="1873"/>
          <a:stretch>
            <a:fillRect/>
          </a:stretch>
        </p:blipFill>
        <p:spPr>
          <a:xfrm>
            <a:off x="206724" y="647369"/>
            <a:ext cx="5302685" cy="5448434"/>
          </a:xfrm>
          <a:prstGeom prst="rect">
            <a:avLst/>
          </a:prstGeom>
        </p:spPr>
      </p:pic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5784041-CCD6-407A-9106-BAEDC68F6723}"/>
              </a:ext>
            </a:extLst>
          </p:cNvPr>
          <p:cNvSpPr>
            <a:spLocks noGrp="1"/>
          </p:cNvSpPr>
          <p:nvPr/>
        </p:nvSpPr>
        <p:spPr>
          <a:xfrm>
            <a:off x="-4725" y="-14934"/>
            <a:ext cx="6299200" cy="6881672"/>
          </a:xfrm>
          <a:custGeom>
            <a:avLst/>
            <a:gdLst>
              <a:gd name="connsiteX0" fmla="*/ 3429000 w 6858000"/>
              <a:gd name="connsiteY0" fmla="*/ 0 h 6881672"/>
              <a:gd name="connsiteX1" fmla="*/ 6858000 w 6858000"/>
              <a:gd name="connsiteY1" fmla="*/ 3440836 h 6881672"/>
              <a:gd name="connsiteX2" fmla="*/ 3779595 w 6858000"/>
              <a:gd name="connsiteY2" fmla="*/ 6863908 h 6881672"/>
              <a:gd name="connsiteX3" fmla="*/ 3644899 w 6858000"/>
              <a:gd name="connsiteY3" fmla="*/ 6874185 h 6881672"/>
              <a:gd name="connsiteX4" fmla="*/ 3644899 w 6858000"/>
              <a:gd name="connsiteY4" fmla="*/ 6881672 h 6881672"/>
              <a:gd name="connsiteX5" fmla="*/ 3429000 w 6858000"/>
              <a:gd name="connsiteY5" fmla="*/ 6881672 h 6881672"/>
              <a:gd name="connsiteX6" fmla="*/ 0 w 6858000"/>
              <a:gd name="connsiteY6" fmla="*/ 6881672 h 6881672"/>
              <a:gd name="connsiteX7" fmla="*/ 0 w 6858000"/>
              <a:gd name="connsiteY7" fmla="*/ 3440836 h 6881672"/>
              <a:gd name="connsiteX8" fmla="*/ 0 w 6858000"/>
              <a:gd name="connsiteY8" fmla="*/ 12700 h 6881672"/>
              <a:gd name="connsiteX9" fmla="*/ 3144780 w 6858000"/>
              <a:gd name="connsiteY9" fmla="*/ 12700 h 6881672"/>
              <a:gd name="connsiteX10" fmla="*/ 3252544 w 6858000"/>
              <a:gd name="connsiteY10" fmla="*/ 4477 h 6881672"/>
              <a:gd name="connsiteX11" fmla="*/ 3429000 w 6858000"/>
              <a:gd name="connsiteY11" fmla="*/ 0 h 6881672"/>
            </a:gdLst>
            <a:ahLst/>
            <a:cxnLst/>
            <a:rect l="l" t="t" r="r" b="b"/>
            <a:pathLst>
              <a:path w="6858000" h="6881672">
                <a:moveTo>
                  <a:pt x="3429000" y="0"/>
                </a:moveTo>
                <a:cubicBezTo>
                  <a:pt x="5322784" y="0"/>
                  <a:pt x="6858000" y="1540515"/>
                  <a:pt x="6858000" y="3440836"/>
                </a:cubicBezTo>
                <a:cubicBezTo>
                  <a:pt x="6858000" y="5222387"/>
                  <a:pt x="5508689" y="6687702"/>
                  <a:pt x="3779595" y="6863908"/>
                </a:cubicBezTo>
                <a:lnTo>
                  <a:pt x="3644899" y="6874185"/>
                </a:lnTo>
                <a:lnTo>
                  <a:pt x="3644899" y="6881672"/>
                </a:lnTo>
                <a:lnTo>
                  <a:pt x="3429000" y="6881672"/>
                </a:lnTo>
                <a:lnTo>
                  <a:pt x="0" y="6881672"/>
                </a:lnTo>
                <a:lnTo>
                  <a:pt x="0" y="3440836"/>
                </a:lnTo>
                <a:lnTo>
                  <a:pt x="0" y="12700"/>
                </a:lnTo>
                <a:lnTo>
                  <a:pt x="3144780" y="12700"/>
                </a:lnTo>
                <a:lnTo>
                  <a:pt x="3252544" y="4477"/>
                </a:lnTo>
                <a:cubicBezTo>
                  <a:pt x="3310989" y="1505"/>
                  <a:pt x="3369819" y="0"/>
                  <a:pt x="3429000" y="0"/>
                </a:cubicBezTo>
                <a:close/>
              </a:path>
            </a:pathLst>
          </a:custGeom>
          <a:gradFill>
            <a:gsLst>
              <a:gs pos="0">
                <a:srgbClr val="3063AD">
                  <a:alpha val="98000"/>
                </a:srgbClr>
              </a:gs>
              <a:gs pos="92000">
                <a:srgbClr val="9A2838">
                  <a:alpha val="94000"/>
                </a:srgbClr>
              </a:gs>
              <a:gs pos="100000">
                <a:srgbClr val="B81717">
                  <a:alpha val="94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36CDDA4-CC4B-41DA-A2B6-613B15FFC38F}"/>
              </a:ext>
            </a:extLst>
          </p:cNvPr>
          <p:cNvSpPr>
            <a:spLocks noGrp="1"/>
          </p:cNvSpPr>
          <p:nvPr/>
        </p:nvSpPr>
        <p:spPr>
          <a:xfrm>
            <a:off x="1760330" y="2894944"/>
            <a:ext cx="229101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chemeClr val="bg1"/>
                </a:solidFill>
                <a:latin typeface="+mj-ea"/>
                <a:ea typeface="+mj-ea"/>
                <a:cs typeface="+mj-ea"/>
              </a:rPr>
              <a:t>目录</a:t>
            </a:r>
          </a:p>
        </p:txBody>
      </p:sp>
      <p:sp>
        <p:nvSpPr>
          <p:cNvPr id="47" name="直接连接符 46">
            <a:extLst>
              <a:ext uri="{FF2B5EF4-FFF2-40B4-BE49-F238E27FC236}">
                <a16:creationId xmlns:a16="http://schemas.microsoft.com/office/drawing/2014/main" id="{9FE2C8A6-F4F5-413D-AAA9-C6F101E15F78}"/>
              </a:ext>
            </a:extLst>
          </p:cNvPr>
          <p:cNvSpPr>
            <a:spLocks noGrp="1"/>
          </p:cNvSpPr>
          <p:nvPr/>
        </p:nvSpPr>
        <p:spPr>
          <a:xfrm>
            <a:off x="1760330" y="4078392"/>
            <a:ext cx="22910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42D7878-5E26-440A-8A93-037164C08CEB}"/>
              </a:ext>
            </a:extLst>
          </p:cNvPr>
          <p:cNvSpPr>
            <a:spLocks noGrp="1"/>
          </p:cNvSpPr>
          <p:nvPr/>
        </p:nvSpPr>
        <p:spPr>
          <a:xfrm>
            <a:off x="2220418" y="4111145"/>
            <a:ext cx="130260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2BABD20-0E15-4E6F-B697-F9BF3EEE1493}"/>
              </a:ext>
            </a:extLst>
          </p:cNvPr>
          <p:cNvSpPr>
            <a:spLocks noGrp="1"/>
          </p:cNvSpPr>
          <p:nvPr/>
        </p:nvSpPr>
        <p:spPr>
          <a:xfrm>
            <a:off x="1778019" y="6338495"/>
            <a:ext cx="2187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如约而至  相聚明德</a:t>
            </a:r>
          </a:p>
        </p:txBody>
      </p:sp>
      <p:pic>
        <p:nvPicPr>
          <p:cNvPr id="63" name="图片 18"/>
          <p:cNvPicPr>
            <a:picLocks noChangeAspect="1"/>
          </p:cNvPicPr>
          <p:nvPr/>
        </p:nvPicPr>
        <p:blipFill rotWithShape="1">
          <a:blip r:embed="rId4"/>
          <a:srcRect l="6843" t="16805" r="9985" b="18356"/>
          <a:stretch>
            <a:fillRect/>
          </a:stretch>
        </p:blipFill>
        <p:spPr>
          <a:xfrm>
            <a:off x="2527845" y="845608"/>
            <a:ext cx="891200" cy="891201"/>
          </a:xfrm>
          <a:prstGeom prst="ellipse">
            <a:avLst/>
          </a:prstGeom>
          <a:effectLst>
            <a:glow rad="139700">
              <a:schemeClr val="bg1">
                <a:alpha val="17000"/>
              </a:schemeClr>
            </a:glow>
          </a:effectLst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575536D0-7EED-4CAA-8E64-E680F7720500}"/>
              </a:ext>
            </a:extLst>
          </p:cNvPr>
          <p:cNvSpPr>
            <a:spLocks noGrp="1"/>
          </p:cNvSpPr>
          <p:nvPr/>
        </p:nvSpPr>
        <p:spPr>
          <a:xfrm>
            <a:off x="1983641" y="1958985"/>
            <a:ext cx="2150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明德 · 青年领导力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4EB592BA-60FB-4078-BC83-7331B4E33E30}"/>
              </a:ext>
            </a:extLst>
          </p:cNvPr>
          <p:cNvSpPr>
            <a:spLocks noGrp="1"/>
          </p:cNvSpPr>
          <p:nvPr/>
        </p:nvSpPr>
        <p:spPr>
          <a:xfrm>
            <a:off x="0" y="-12699"/>
            <a:ext cx="5892800" cy="6884105"/>
          </a:xfrm>
          <a:custGeom>
            <a:avLst/>
            <a:gdLst>
              <a:gd name="connsiteX0" fmla="*/ 4386209 w 5892800"/>
              <a:gd name="connsiteY0" fmla="*/ 0 h 6884105"/>
              <a:gd name="connsiteX1" fmla="*/ 5113393 w 5892800"/>
              <a:gd name="connsiteY1" fmla="*/ 0 h 6884105"/>
              <a:gd name="connsiteX2" fmla="*/ 5194707 w 5892800"/>
              <a:gd name="connsiteY2" fmla="*/ 94397 h 6884105"/>
              <a:gd name="connsiteX3" fmla="*/ 5892800 w 5892800"/>
              <a:gd name="connsiteY3" fmla="*/ 3434854 h 6884105"/>
              <a:gd name="connsiteX4" fmla="*/ 5194707 w 5892800"/>
              <a:gd name="connsiteY4" fmla="*/ 6775310 h 6884105"/>
              <a:gd name="connsiteX5" fmla="*/ 5112537 w 5892800"/>
              <a:gd name="connsiteY5" fmla="*/ 6870700 h 6884105"/>
              <a:gd name="connsiteX6" fmla="*/ 3263900 w 5892800"/>
              <a:gd name="connsiteY6" fmla="*/ 6870700 h 6884105"/>
              <a:gd name="connsiteX7" fmla="*/ 3263900 w 5892800"/>
              <a:gd name="connsiteY7" fmla="*/ 6884105 h 6884105"/>
              <a:gd name="connsiteX8" fmla="*/ 0 w 5892800"/>
              <a:gd name="connsiteY8" fmla="*/ 6884105 h 6884105"/>
              <a:gd name="connsiteX9" fmla="*/ 0 w 5892800"/>
              <a:gd name="connsiteY9" fmla="*/ 15012 h 6884105"/>
              <a:gd name="connsiteX10" fmla="*/ 4373277 w 5892800"/>
              <a:gd name="connsiteY10" fmla="*/ 15012 h 6884105"/>
            </a:gdLst>
            <a:ahLst/>
            <a:cxnLst/>
            <a:rect l="l" t="t" r="r" b="b"/>
            <a:pathLst>
              <a:path w="5892800" h="6884105">
                <a:moveTo>
                  <a:pt x="4386209" y="0"/>
                </a:moveTo>
                <a:lnTo>
                  <a:pt x="5113393" y="0"/>
                </a:lnTo>
                <a:lnTo>
                  <a:pt x="5194707" y="94397"/>
                </a:lnTo>
                <a:cubicBezTo>
                  <a:pt x="5604947" y="644756"/>
                  <a:pt x="5892800" y="1933182"/>
                  <a:pt x="5892800" y="3434854"/>
                </a:cubicBezTo>
                <a:cubicBezTo>
                  <a:pt x="5892800" y="4936525"/>
                  <a:pt x="5604947" y="6224951"/>
                  <a:pt x="5194707" y="6775310"/>
                </a:cubicBezTo>
                <a:lnTo>
                  <a:pt x="5112537" y="6870700"/>
                </a:lnTo>
                <a:lnTo>
                  <a:pt x="3263900" y="6870700"/>
                </a:lnTo>
                <a:lnTo>
                  <a:pt x="3263900" y="6884105"/>
                </a:lnTo>
                <a:lnTo>
                  <a:pt x="0" y="6884105"/>
                </a:lnTo>
                <a:lnTo>
                  <a:pt x="0" y="15012"/>
                </a:lnTo>
                <a:lnTo>
                  <a:pt x="4373277" y="15012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93A87CE3-AF20-4377-9070-2386C79437E3}"/>
              </a:ext>
            </a:extLst>
          </p:cNvPr>
          <p:cNvSpPr>
            <a:spLocks noGrp="1"/>
          </p:cNvSpPr>
          <p:nvPr/>
        </p:nvSpPr>
        <p:spPr>
          <a:xfrm>
            <a:off x="3489324" y="-25618"/>
            <a:ext cx="2593976" cy="7078894"/>
          </a:xfrm>
          <a:custGeom>
            <a:avLst/>
            <a:gdLst>
              <a:gd name="connsiteX0" fmla="*/ 815976 w 2593976"/>
              <a:gd name="connsiteY0" fmla="*/ 0 h 7078894"/>
              <a:gd name="connsiteX1" fmla="*/ 815976 w 2593976"/>
              <a:gd name="connsiteY1" fmla="*/ 12918 h 7078894"/>
              <a:gd name="connsiteX2" fmla="*/ 1790344 w 2593976"/>
              <a:gd name="connsiteY2" fmla="*/ 12918 h 7078894"/>
              <a:gd name="connsiteX3" fmla="*/ 1801835 w 2593976"/>
              <a:gd name="connsiteY3" fmla="*/ 24943 h 7078894"/>
              <a:gd name="connsiteX4" fmla="*/ 2593976 w 2593976"/>
              <a:gd name="connsiteY4" fmla="*/ 3441918 h 7078894"/>
              <a:gd name="connsiteX5" fmla="*/ 1801835 w 2593976"/>
              <a:gd name="connsiteY5" fmla="*/ 6858894 h 7078894"/>
              <a:gd name="connsiteX6" fmla="*/ 1777534 w 2593976"/>
              <a:gd name="connsiteY6" fmla="*/ 6884324 h 7078894"/>
              <a:gd name="connsiteX7" fmla="*/ 1044576 w 2593976"/>
              <a:gd name="connsiteY7" fmla="*/ 6884324 h 7078894"/>
              <a:gd name="connsiteX8" fmla="*/ 1044576 w 2593976"/>
              <a:gd name="connsiteY8" fmla="*/ 7078894 h 7078894"/>
              <a:gd name="connsiteX9" fmla="*/ 1035600 w 2593976"/>
              <a:gd name="connsiteY9" fmla="*/ 7074977 h 7078894"/>
              <a:gd name="connsiteX10" fmla="*/ 0 w 2593976"/>
              <a:gd name="connsiteY10" fmla="*/ 3441918 h 7078894"/>
              <a:gd name="connsiteX11" fmla="*/ 792142 w 2593976"/>
              <a:gd name="connsiteY11" fmla="*/ 24943 h 7078894"/>
            </a:gdLst>
            <a:ahLst/>
            <a:cxnLst/>
            <a:rect l="l" t="t" r="r" b="b"/>
            <a:pathLst>
              <a:path w="2593976" h="7078894">
                <a:moveTo>
                  <a:pt x="815976" y="0"/>
                </a:moveTo>
                <a:lnTo>
                  <a:pt x="815976" y="12918"/>
                </a:lnTo>
                <a:lnTo>
                  <a:pt x="1790344" y="12918"/>
                </a:lnTo>
                <a:lnTo>
                  <a:pt x="1801835" y="24943"/>
                </a:lnTo>
                <a:cubicBezTo>
                  <a:pt x="2267343" y="587908"/>
                  <a:pt x="2593976" y="1905848"/>
                  <a:pt x="2593976" y="3441918"/>
                </a:cubicBezTo>
                <a:cubicBezTo>
                  <a:pt x="2593976" y="4977988"/>
                  <a:pt x="2267343" y="6295928"/>
                  <a:pt x="1801835" y="6858894"/>
                </a:cubicBezTo>
                <a:lnTo>
                  <a:pt x="1777534" y="6884324"/>
                </a:lnTo>
                <a:lnTo>
                  <a:pt x="1044576" y="6884324"/>
                </a:lnTo>
                <a:lnTo>
                  <a:pt x="1044576" y="7078894"/>
                </a:lnTo>
                <a:lnTo>
                  <a:pt x="1035600" y="7074977"/>
                </a:lnTo>
                <a:cubicBezTo>
                  <a:pt x="444584" y="6729182"/>
                  <a:pt x="0" y="5234000"/>
                  <a:pt x="0" y="3441918"/>
                </a:cubicBezTo>
                <a:cubicBezTo>
                  <a:pt x="0" y="1905848"/>
                  <a:pt x="326633" y="587908"/>
                  <a:pt x="792142" y="24943"/>
                </a:cubicBezTo>
                <a:close/>
              </a:path>
            </a:pathLst>
          </a:custGeom>
          <a:noFill/>
          <a:ln>
            <a:gradFill rotWithShape="1">
              <a:gsLst>
                <a:gs pos="63000">
                  <a:schemeClr val="bg1">
                    <a:alpha val="0"/>
                  </a:schemeClr>
                </a:gs>
                <a:gs pos="63000">
                  <a:srgbClr val="2E64AD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6" name="图片 19"/>
          <p:cNvPicPr>
            <a:picLocks noChangeAspect="1"/>
          </p:cNvPicPr>
          <p:nvPr/>
        </p:nvPicPr>
        <p:blipFill>
          <a:blip r:embed="rId3"/>
          <a:srcRect l="1873" r="1873"/>
          <a:stretch>
            <a:fillRect/>
          </a:stretch>
        </p:blipFill>
        <p:spPr>
          <a:xfrm>
            <a:off x="206724" y="647369"/>
            <a:ext cx="5302685" cy="5448434"/>
          </a:xfrm>
          <a:prstGeom prst="rect">
            <a:avLst/>
          </a:prstGeom>
        </p:spPr>
      </p:pic>
      <p:sp>
        <p:nvSpPr>
          <p:cNvPr id="39" name="椭圆 38">
            <a:extLst>
              <a:ext uri="{FF2B5EF4-FFF2-40B4-BE49-F238E27FC236}">
                <a16:creationId xmlns:a16="http://schemas.microsoft.com/office/drawing/2014/main" id="{26B81928-3FB3-42C7-A90D-6CFD9F6F72FE}"/>
              </a:ext>
            </a:extLst>
          </p:cNvPr>
          <p:cNvSpPr>
            <a:spLocks noGrp="1"/>
          </p:cNvSpPr>
          <p:nvPr/>
        </p:nvSpPr>
        <p:spPr>
          <a:xfrm>
            <a:off x="166086" y="581407"/>
            <a:ext cx="5619696" cy="5619696"/>
          </a:xfrm>
          <a:prstGeom prst="ellips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182F4466-0052-4D90-9B99-C92E86DDF5ED}"/>
              </a:ext>
            </a:extLst>
          </p:cNvPr>
          <p:cNvSpPr>
            <a:spLocks noGrp="1"/>
          </p:cNvSpPr>
          <p:nvPr/>
        </p:nvSpPr>
        <p:spPr>
          <a:xfrm>
            <a:off x="0" y="-25617"/>
            <a:ext cx="5892800" cy="6911990"/>
          </a:xfrm>
          <a:custGeom>
            <a:avLst/>
            <a:gdLst>
              <a:gd name="connsiteX0" fmla="*/ 4376550 w 5892800"/>
              <a:gd name="connsiteY0" fmla="*/ 0 h 6879383"/>
              <a:gd name="connsiteX1" fmla="*/ 5123051 w 5892800"/>
              <a:gd name="connsiteY1" fmla="*/ 0 h 6879383"/>
              <a:gd name="connsiteX2" fmla="*/ 5194707 w 5892800"/>
              <a:gd name="connsiteY2" fmla="*/ 83263 h 6879383"/>
              <a:gd name="connsiteX3" fmla="*/ 5892800 w 5892800"/>
              <a:gd name="connsiteY3" fmla="*/ 3426874 h 6879383"/>
              <a:gd name="connsiteX4" fmla="*/ 5194707 w 5892800"/>
              <a:gd name="connsiteY4" fmla="*/ 6770485 h 6879383"/>
              <a:gd name="connsiteX5" fmla="*/ 5106739 w 5892800"/>
              <a:gd name="connsiteY5" fmla="*/ 6872703 h 6879383"/>
              <a:gd name="connsiteX6" fmla="*/ 3327400 w 5892800"/>
              <a:gd name="connsiteY6" fmla="*/ 6872703 h 6879383"/>
              <a:gd name="connsiteX7" fmla="*/ 3327400 w 5892800"/>
              <a:gd name="connsiteY7" fmla="*/ 6879383 h 6879383"/>
              <a:gd name="connsiteX8" fmla="*/ 0 w 5892800"/>
              <a:gd name="connsiteY8" fmla="*/ 6879383 h 6879383"/>
              <a:gd name="connsiteX9" fmla="*/ 0 w 5892800"/>
              <a:gd name="connsiteY9" fmla="*/ 3803 h 6879383"/>
              <a:gd name="connsiteX10" fmla="*/ 4373277 w 5892800"/>
              <a:gd name="connsiteY10" fmla="*/ 3803 h 6879383"/>
            </a:gdLst>
            <a:ahLst/>
            <a:cxnLst/>
            <a:rect l="l" t="t" r="r" b="b"/>
            <a:pathLst>
              <a:path w="5892800" h="6879383">
                <a:moveTo>
                  <a:pt x="4376550" y="0"/>
                </a:moveTo>
                <a:lnTo>
                  <a:pt x="5123051" y="0"/>
                </a:lnTo>
                <a:lnTo>
                  <a:pt x="5194707" y="83263"/>
                </a:lnTo>
                <a:cubicBezTo>
                  <a:pt x="5604947" y="634142"/>
                  <a:pt x="5892800" y="1923785"/>
                  <a:pt x="5892800" y="3426874"/>
                </a:cubicBezTo>
                <a:cubicBezTo>
                  <a:pt x="5892800" y="4929963"/>
                  <a:pt x="5604947" y="6219606"/>
                  <a:pt x="5194707" y="6770485"/>
                </a:cubicBezTo>
                <a:lnTo>
                  <a:pt x="5106739" y="6872703"/>
                </a:lnTo>
                <a:lnTo>
                  <a:pt x="3327400" y="6872703"/>
                </a:lnTo>
                <a:lnTo>
                  <a:pt x="3327400" y="6879383"/>
                </a:lnTo>
                <a:lnTo>
                  <a:pt x="0" y="6879383"/>
                </a:lnTo>
                <a:lnTo>
                  <a:pt x="0" y="3803"/>
                </a:lnTo>
                <a:lnTo>
                  <a:pt x="4373277" y="3803"/>
                </a:lnTo>
                <a:close/>
              </a:path>
            </a:pathLst>
          </a:custGeom>
          <a:gradFill>
            <a:gsLst>
              <a:gs pos="100000">
                <a:srgbClr val="2E64AD">
                  <a:alpha val="94000"/>
                </a:srgbClr>
              </a:gs>
              <a:gs pos="15000">
                <a:srgbClr val="8A3049">
                  <a:alpha val="94000"/>
                </a:srgbClr>
              </a:gs>
              <a:gs pos="0">
                <a:srgbClr val="C00000">
                  <a:alpha val="8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pic>
        <p:nvPicPr>
          <p:cNvPr id="4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4666" y="866370"/>
            <a:ext cx="1059257" cy="891201"/>
          </a:xfrm>
          <a:prstGeom prst="rect">
            <a:avLst/>
          </a:prstGeom>
        </p:spPr>
      </p:pic>
      <p:pic>
        <p:nvPicPr>
          <p:cNvPr id="50" name="图片 9"/>
          <p:cNvPicPr>
            <a:picLocks noChangeAspect="1"/>
          </p:cNvPicPr>
          <p:nvPr/>
        </p:nvPicPr>
        <p:blipFill rotWithShape="1">
          <a:blip r:embed="rId5"/>
          <a:srcRect l="21472"/>
          <a:stretch>
            <a:fillRect/>
          </a:stretch>
        </p:blipFill>
        <p:spPr>
          <a:xfrm>
            <a:off x="856015" y="1708041"/>
            <a:ext cx="4276557" cy="888048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A76CFB9-10E0-4975-B229-23D8162FCB8F}"/>
              </a:ext>
            </a:extLst>
          </p:cNvPr>
          <p:cNvSpPr>
            <a:spLocks noGrp="1"/>
          </p:cNvSpPr>
          <p:nvPr/>
        </p:nvSpPr>
        <p:spPr>
          <a:xfrm>
            <a:off x="1760330" y="2894944"/>
            <a:ext cx="2291012" cy="13234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5" name="直接连接符 14">
            <a:extLst>
              <a:ext uri="{FF2B5EF4-FFF2-40B4-BE49-F238E27FC236}">
                <a16:creationId xmlns:a16="http://schemas.microsoft.com/office/drawing/2014/main" id="{123A3F77-3358-4683-9C76-72942D8E9490}"/>
              </a:ext>
            </a:extLst>
          </p:cNvPr>
          <p:cNvSpPr>
            <a:spLocks noGrp="1"/>
          </p:cNvSpPr>
          <p:nvPr/>
        </p:nvSpPr>
        <p:spPr>
          <a:xfrm>
            <a:off x="1760330" y="4083230"/>
            <a:ext cx="229101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8049708-351C-4683-81DE-5062C38CEB2E}"/>
              </a:ext>
            </a:extLst>
          </p:cNvPr>
          <p:cNvSpPr>
            <a:spLocks noGrp="1"/>
          </p:cNvSpPr>
          <p:nvPr/>
        </p:nvSpPr>
        <p:spPr>
          <a:xfrm>
            <a:off x="2208716" y="4109935"/>
            <a:ext cx="132600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buNone/>
            </a:pPr>
            <a:r>
              <a:rPr sz="1400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CONTENTS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9BA87D4-F42C-45A3-BD49-36F171914E2C}"/>
              </a:ext>
            </a:extLst>
          </p:cNvPr>
          <p:cNvSpPr>
            <a:spLocks noGrp="1"/>
          </p:cNvSpPr>
          <p:nvPr/>
        </p:nvSpPr>
        <p:spPr>
          <a:xfrm>
            <a:off x="1941647" y="6313095"/>
            <a:ext cx="218739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如约而至 · 相聚明德</a:t>
            </a:r>
          </a:p>
        </p:txBody>
      </p:sp>
      <p:pic>
        <p:nvPicPr>
          <p:cNvPr id="55" name="图片 21"/>
          <p:cNvPicPr>
            <a:picLocks noChangeAspect="1"/>
          </p:cNvPicPr>
          <p:nvPr/>
        </p:nvPicPr>
        <p:blipFill rotWithShape="1">
          <a:blip r:embed="rId6"/>
          <a:srcRect l="6843" t="16805" r="9985" b="18356"/>
          <a:stretch>
            <a:fillRect/>
          </a:stretch>
        </p:blipFill>
        <p:spPr>
          <a:xfrm>
            <a:off x="2527845" y="845608"/>
            <a:ext cx="891200" cy="891201"/>
          </a:xfrm>
          <a:prstGeom prst="ellipse">
            <a:avLst/>
          </a:prstGeom>
          <a:effectLst>
            <a:glow rad="139700">
              <a:schemeClr val="bg1">
                <a:alpha val="17000"/>
              </a:schemeClr>
            </a:glow>
          </a:effectLst>
        </p:spPr>
      </p:pic>
      <p:sp>
        <p:nvSpPr>
          <p:cNvPr id="27" name="文本框 26">
            <a:extLst>
              <a:ext uri="{FF2B5EF4-FFF2-40B4-BE49-F238E27FC236}">
                <a16:creationId xmlns:a16="http://schemas.microsoft.com/office/drawing/2014/main" id="{CE2C22F3-0679-4491-8F5F-D09119D900A6}"/>
              </a:ext>
            </a:extLst>
          </p:cNvPr>
          <p:cNvSpPr>
            <a:spLocks noGrp="1"/>
          </p:cNvSpPr>
          <p:nvPr/>
        </p:nvSpPr>
        <p:spPr>
          <a:xfrm>
            <a:off x="1983641" y="1958985"/>
            <a:ext cx="21507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rPr>
              <a:t>明德 · 青年领导力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60D509-46E7-4ADE-95AA-AD3C45D08E4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71AA7C1-D43F-416B-A9A7-5D53C46011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0E0BFE-657A-408C-A0B4-1158C633245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 40">
            <a:extLst>
              <a:ext uri="{FF2B5EF4-FFF2-40B4-BE49-F238E27FC236}">
                <a16:creationId xmlns:a16="http://schemas.microsoft.com/office/drawing/2014/main" id="{4D768B30-6C34-4E47-9CA7-7C578358CC68}"/>
              </a:ext>
            </a:extLst>
          </p:cNvPr>
          <p:cNvSpPr>
            <a:spLocks noGrp="1"/>
          </p:cNvSpPr>
          <p:nvPr/>
        </p:nvSpPr>
        <p:spPr>
          <a:xfrm>
            <a:off x="0" y="-4445"/>
            <a:ext cx="12191365" cy="6887210"/>
          </a:xfrm>
          <a:custGeom>
            <a:avLst/>
            <a:gdLst/>
            <a:ahLst/>
            <a:cxnLst/>
            <a:rect l="l" t="t" r="r" b="b"/>
            <a:pathLst>
              <a:path w="19199" h="10846">
                <a:moveTo>
                  <a:pt x="352" y="319"/>
                </a:moveTo>
                <a:lnTo>
                  <a:pt x="18849" y="319"/>
                </a:lnTo>
                <a:lnTo>
                  <a:pt x="18849" y="10528"/>
                </a:lnTo>
                <a:lnTo>
                  <a:pt x="352" y="10528"/>
                </a:lnTo>
                <a:lnTo>
                  <a:pt x="352" y="319"/>
                </a:lnTo>
                <a:close/>
                <a:moveTo>
                  <a:pt x="0" y="0"/>
                </a:moveTo>
                <a:lnTo>
                  <a:pt x="19199" y="0"/>
                </a:lnTo>
                <a:lnTo>
                  <a:pt x="19199" y="10846"/>
                </a:lnTo>
                <a:lnTo>
                  <a:pt x="0" y="1084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C64395-0C79-4BE4-8EBF-F068674B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B8BBD55-6877-4DD7-A146-68A92CB3F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77751A-FDDF-42D4-AAB9-36C3AE0AFBF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3EBCFF-EB27-4118-AFAB-FC94F0BF718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23084D-5522-4954-81F3-F1AD61B4811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4061B-CE41-42ED-A1C4-505A13B20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8BF77E-490E-4603-B43B-D154291D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5E982A-C4AB-4C77-9406-887EAF0C06D4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D0A0EA-2F70-4A8E-BC6D-5E516D6AF646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C8EEBA-62E1-477D-9406-C8127C36DA63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79CE8-FA75-4354-BEA2-97727D17B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C095A06-C0C7-4C3B-B239-8C9C9AA4D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1B7C66F-76C9-4A7F-B290-B5A43EC6393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9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38C443-D049-413D-A393-DCAD32609CA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32BBC72-6461-4030-95E2-42D4A73858E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9FD685-1E28-4D08-8B86-6EF7B58B6A9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09FE17-50CD-4EB6-96E3-A0A4CBA6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43323CF-24E7-4882-B00A-B23EB1FE27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67F6428-8784-4638-A6EA-2A9414A76CA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23092F-A4CF-4DFD-9672-7EA7DB43722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0A2CE1-61BC-4C2F-A570-5772305EC5B0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CC1E40-D589-4D13-85B7-F4C5BC64C848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BA4BB1-B0FD-423A-872C-789A7980C602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D4784E0B-88C3-4842-B699-184E38743ADB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D496C5-9C35-429C-A3AC-AC493CC35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255BEB1-05B2-4673-8234-B628BF8AB59A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2CC41C-03A2-44FC-A3B1-2EF1FB3432CC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5EF822F-7164-4127-B1B5-707A9B3FC73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A1D755C-BC1B-44ED-9A5F-4FE7AECBA721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098AD1-2C08-4056-8260-E2CA3E82F7D0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4E531B-BA4F-41AB-8671-601572977B1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6ABBBE-CA6B-4EF8-A56D-0295068B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95B5ED-72CF-4F73-968F-DFB8B9C82D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132C16-89BC-4E9E-AA29-23056B69154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B96125-A7B9-49BB-9535-E4202ED5FB7D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5EA8381-B746-4D38-8D10-0E74E341B80E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9FE382-B3FF-473A-A373-EAB79ABE05C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9F7AD-B3C5-4530-BCBD-43481B35BB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D5050E-20AB-4A61-8AB9-6F651595B4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8CAAE6-0B27-4403-921D-D4E9FBB3F4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BC1985-DBDE-4CF9-A0D9-105012E128B0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B53E13-0DE7-472E-BA5E-6AD2565B76FB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FB9B7D-DCBF-4CE1-9FD5-3685FEC8A33C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4AAB5-2637-41F3-A5A6-A278FD838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3F14A8-F98A-4E06-A554-84617876D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9E7608-76D9-4C89-BFD3-CA52A276D66F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245FED-027D-4340-8789-2D780DB8E8B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CAA39C-DACE-4FA2-9495-D01108512FF9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00EAEE-2DC1-408F-BCCD-F0FA469B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01BBBC-84EB-4684-AB76-7946FDDE9B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9"/>
          </a:xfrm>
          <a:prstGeom prst="rect">
            <a:avLst/>
          </a:prstGeo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6449D1-5EF6-4D52-9AC4-2676BD315B0C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96FCEE-7E1F-4A60-A415-06B875E22443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CEA894-7864-4292-B392-0813FD5AAB0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/>
          <p:cNvSpPr/>
          <p:nvPr userDrawn="1"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9558" y="4475922"/>
            <a:ext cx="6860851" cy="2418450"/>
          </a:xfrm>
          <a:prstGeom prst="rect">
            <a:avLst/>
          </a:prstGeom>
        </p:spPr>
      </p:pic>
      <p:sp>
        <p:nvSpPr>
          <p:cNvPr id="18" name="任意多边形: 形状 17"/>
          <p:cNvSpPr/>
          <p:nvPr userDrawn="1"/>
        </p:nvSpPr>
        <p:spPr>
          <a:xfrm>
            <a:off x="6261100" y="0"/>
            <a:ext cx="5930900" cy="6894372"/>
          </a:xfrm>
          <a:custGeom>
            <a:avLst/>
            <a:gdLst>
              <a:gd name="connsiteX0" fmla="*/ 0 w 4934423"/>
              <a:gd name="connsiteY0" fmla="*/ 0 h 6858000"/>
              <a:gd name="connsiteX1" fmla="*/ 4934423 w 4934423"/>
              <a:gd name="connsiteY1" fmla="*/ 0 h 6858000"/>
              <a:gd name="connsiteX2" fmla="*/ 4934423 w 4934423"/>
              <a:gd name="connsiteY2" fmla="*/ 6858000 h 6858000"/>
              <a:gd name="connsiteX3" fmla="*/ 0 w 4934423"/>
              <a:gd name="connsiteY3" fmla="*/ 6858000 h 6858000"/>
              <a:gd name="connsiteX4" fmla="*/ 159373 w 4934423"/>
              <a:gd name="connsiteY4" fmla="*/ 6706052 h 6858000"/>
              <a:gd name="connsiteX5" fmla="*/ 1516772 w 4934423"/>
              <a:gd name="connsiteY5" fmla="*/ 3429000 h 6858000"/>
              <a:gd name="connsiteX6" fmla="*/ 159373 w 4934423"/>
              <a:gd name="connsiteY6" fmla="*/ 151948 h 6858000"/>
              <a:gd name="connsiteX7" fmla="*/ 0 w 493442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34423" h="6858000">
                <a:moveTo>
                  <a:pt x="0" y="0"/>
                </a:moveTo>
                <a:lnTo>
                  <a:pt x="4934423" y="0"/>
                </a:lnTo>
                <a:lnTo>
                  <a:pt x="4934423" y="6858000"/>
                </a:lnTo>
                <a:lnTo>
                  <a:pt x="0" y="6858000"/>
                </a:lnTo>
                <a:lnTo>
                  <a:pt x="159373" y="6706052"/>
                </a:lnTo>
                <a:cubicBezTo>
                  <a:pt x="998044" y="5867381"/>
                  <a:pt x="1516772" y="4708769"/>
                  <a:pt x="1516772" y="3429000"/>
                </a:cubicBezTo>
                <a:cubicBezTo>
                  <a:pt x="1516772" y="2149232"/>
                  <a:pt x="998044" y="990619"/>
                  <a:pt x="159373" y="151948"/>
                </a:cubicBez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93000">
                <a:srgbClr val="61263B"/>
              </a:gs>
              <a:gs pos="0">
                <a:srgbClr val="3063AD">
                  <a:alpha val="50000"/>
                </a:srgbClr>
              </a:gs>
              <a:gs pos="100000">
                <a:srgbClr val="B81717">
                  <a:lumMod val="63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sp>
        <p:nvSpPr>
          <p:cNvPr id="20" name="椭圆 19"/>
          <p:cNvSpPr/>
          <p:nvPr userDrawn="1"/>
        </p:nvSpPr>
        <p:spPr>
          <a:xfrm>
            <a:off x="-363418" y="-651026"/>
            <a:ext cx="8160051" cy="8160051"/>
          </a:xfrm>
          <a:prstGeom prst="ellipse">
            <a:avLst/>
          </a:prstGeom>
          <a:noFill/>
          <a:ln>
            <a:gradFill flip="none" rotWithShape="1">
              <a:gsLst>
                <a:gs pos="77000">
                  <a:srgbClr val="FF9C00">
                    <a:alpha val="0"/>
                  </a:srgbClr>
                </a:gs>
                <a:gs pos="77000">
                  <a:schemeClr val="accent1">
                    <a:lumMod val="75000"/>
                  </a:schemeClr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228" t="36852" r="31815" b="36957"/>
          <a:stretch>
            <a:fillRect/>
          </a:stretch>
        </p:blipFill>
        <p:spPr>
          <a:xfrm>
            <a:off x="-12033" y="849339"/>
            <a:ext cx="3037557" cy="5939176"/>
          </a:xfrm>
          <a:prstGeom prst="rect">
            <a:avLst/>
          </a:prstGeom>
        </p:spPr>
      </p:pic>
      <p:sp>
        <p:nvSpPr>
          <p:cNvPr id="26" name="任意多边形: 形状 25"/>
          <p:cNvSpPr/>
          <p:nvPr userDrawn="1"/>
        </p:nvSpPr>
        <p:spPr>
          <a:xfrm>
            <a:off x="-12032" y="288141"/>
            <a:ext cx="3441725" cy="6281716"/>
          </a:xfrm>
          <a:custGeom>
            <a:avLst/>
            <a:gdLst>
              <a:gd name="connsiteX0" fmla="*/ 433318 w 3441725"/>
              <a:gd name="connsiteY0" fmla="*/ 0 h 6281716"/>
              <a:gd name="connsiteX1" fmla="*/ 3441725 w 3441725"/>
              <a:gd name="connsiteY1" fmla="*/ 3140858 h 6281716"/>
              <a:gd name="connsiteX2" fmla="*/ 433318 w 3441725"/>
              <a:gd name="connsiteY2" fmla="*/ 6281716 h 6281716"/>
              <a:gd name="connsiteX3" fmla="*/ 125726 w 3441725"/>
              <a:gd name="connsiteY3" fmla="*/ 6265500 h 6281716"/>
              <a:gd name="connsiteX4" fmla="*/ 0 w 3441725"/>
              <a:gd name="connsiteY4" fmla="*/ 6245468 h 6281716"/>
              <a:gd name="connsiteX5" fmla="*/ 0 w 3441725"/>
              <a:gd name="connsiteY5" fmla="*/ 36249 h 6281716"/>
              <a:gd name="connsiteX6" fmla="*/ 125726 w 3441725"/>
              <a:gd name="connsiteY6" fmla="*/ 16216 h 6281716"/>
              <a:gd name="connsiteX7" fmla="*/ 433318 w 3441725"/>
              <a:gd name="connsiteY7" fmla="*/ 0 h 6281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41725" h="6281716">
                <a:moveTo>
                  <a:pt x="433318" y="0"/>
                </a:moveTo>
                <a:cubicBezTo>
                  <a:pt x="2094815" y="0"/>
                  <a:pt x="3441725" y="1406210"/>
                  <a:pt x="3441725" y="3140858"/>
                </a:cubicBezTo>
                <a:cubicBezTo>
                  <a:pt x="3441725" y="4875506"/>
                  <a:pt x="2094815" y="6281716"/>
                  <a:pt x="433318" y="6281716"/>
                </a:cubicBezTo>
                <a:cubicBezTo>
                  <a:pt x="329474" y="6281716"/>
                  <a:pt x="226860" y="6276223"/>
                  <a:pt x="125726" y="6265500"/>
                </a:cubicBezTo>
                <a:lnTo>
                  <a:pt x="0" y="6245468"/>
                </a:lnTo>
                <a:lnTo>
                  <a:pt x="0" y="36249"/>
                </a:lnTo>
                <a:lnTo>
                  <a:pt x="125726" y="16216"/>
                </a:lnTo>
                <a:cubicBezTo>
                  <a:pt x="226860" y="5493"/>
                  <a:pt x="329474" y="0"/>
                  <a:pt x="433318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78" y="581774"/>
            <a:ext cx="2542591" cy="549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601632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B041B2B-183A-4BA7-845F-8B12DDC421D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31DCCBD-C91F-4615-8C38-7AE8737225C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C22201-FF02-4A5F-A4EA-8356C5D280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255D82C6-DB38-4AB7-8F64-8213177DD5C6}"/>
              </a:ext>
            </a:extLst>
          </p:cNvPr>
          <p:cNvSpPr>
            <a:spLocks noGrp="1"/>
          </p:cNvSpPr>
          <p:nvPr/>
        </p:nvSpPr>
        <p:spPr>
          <a:xfrm>
            <a:off x="340840" y="493728"/>
            <a:ext cx="2394787" cy="332105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1600">
                <a:solidFill>
                  <a:schemeClr val="accent1"/>
                </a:solidFill>
                <a:latin typeface="微软雅黑"/>
                <a:ea typeface="微软雅黑"/>
                <a:cs typeface="微软雅黑"/>
              </a:rPr>
              <a:t>点击添加相关标题文字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B9DBADA7-9278-41C9-91D8-419761170DB4}"/>
              </a:ext>
            </a:extLst>
          </p:cNvPr>
          <p:cNvSpPr>
            <a:spLocks noGrp="1"/>
          </p:cNvSpPr>
          <p:nvPr/>
        </p:nvSpPr>
        <p:spPr>
          <a:xfrm>
            <a:off x="11333815" y="322557"/>
            <a:ext cx="487977" cy="28706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5" rIns="121893" bIns="60945" anchor="ctr"/>
          <a:lstStyle/>
          <a:p>
            <a:pPr algn="ctr">
              <a:buNone/>
            </a:pPr>
            <a:endParaRPr/>
          </a:p>
        </p:txBody>
      </p:sp>
      <p:sp>
        <p:nvSpPr>
          <p:cNvPr id="6" name="Isosceles Triangle 10">
            <a:extLst>
              <a:ext uri="{FF2B5EF4-FFF2-40B4-BE49-F238E27FC236}">
                <a16:creationId xmlns:a16="http://schemas.microsoft.com/office/drawing/2014/main" id="{9F5FC015-896B-47E4-9D02-B7EF218F3EF3}"/>
              </a:ext>
            </a:extLst>
          </p:cNvPr>
          <p:cNvSpPr>
            <a:spLocks noGrp="1"/>
          </p:cNvSpPr>
          <p:nvPr/>
        </p:nvSpPr>
        <p:spPr>
          <a:xfrm rot="10610802">
            <a:off x="11339648" y="421679"/>
            <a:ext cx="488775" cy="261855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5" rIns="121893" bIns="60945" anchor="ctr"/>
          <a:lstStyle/>
          <a:p>
            <a:pPr algn="ctr">
              <a:buNone/>
            </a:pPr>
            <a:endParaRPr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E88DBED-B04D-406F-8132-2A0D7BB5255D}"/>
              </a:ext>
            </a:extLst>
          </p:cNvPr>
          <p:cNvSpPr>
            <a:spLocks noGrp="1"/>
          </p:cNvSpPr>
          <p:nvPr/>
        </p:nvSpPr>
        <p:spPr>
          <a:xfrm>
            <a:off x="11359313" y="273253"/>
            <a:ext cx="449441" cy="467448"/>
          </a:xfrm>
          <a:prstGeom prst="rect">
            <a:avLst/>
          </a:prstGeom>
        </p:spPr>
        <p:txBody>
          <a:bodyPr vert="horz" lIns="0" tIns="0" rIns="0" bIns="60945" anchor="ctr"/>
          <a:lstStyle>
            <a:lvl1pPr marL="0" algn="ctr" defTabSz="457200">
              <a:buNone/>
              <a:defRPr sz="1200" kern="1200">
                <a:solidFill>
                  <a:schemeClr val="bg1"/>
                </a:solidFill>
                <a:latin typeface="+mn-lt"/>
                <a:ea typeface="+mn-lt"/>
                <a:cs typeface="+mn-lt"/>
              </a:defRPr>
            </a:lvl1pPr>
            <a:lvl2pPr marL="457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4572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9" name="Freeform 7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23E94A28-482B-4983-88ED-8F519385DCB5}"/>
              </a:ext>
            </a:extLst>
          </p:cNvPr>
          <p:cNvSpPr>
            <a:spLocks noGrp="1"/>
          </p:cNvSpPr>
          <p:nvPr/>
        </p:nvSpPr>
        <p:spPr>
          <a:xfrm>
            <a:off x="577698" y="6396967"/>
            <a:ext cx="69830" cy="119581"/>
          </a:xfrm>
          <a:custGeom>
            <a:avLst/>
            <a:gdLst>
              <a:gd name="T0" fmla="*/ 417 w 425"/>
              <a:gd name="T1" fmla="*/ 77 h 728"/>
              <a:gd name="T2" fmla="*/ 131 w 425"/>
              <a:gd name="T3" fmla="*/ 364 h 728"/>
              <a:gd name="T4" fmla="*/ 417 w 425"/>
              <a:gd name="T5" fmla="*/ 650 h 728"/>
              <a:gd name="T6" fmla="*/ 425 w 425"/>
              <a:gd name="T7" fmla="*/ 667 h 728"/>
              <a:gd name="T8" fmla="*/ 417 w 425"/>
              <a:gd name="T9" fmla="*/ 684 h 728"/>
              <a:gd name="T10" fmla="*/ 381 w 425"/>
              <a:gd name="T11" fmla="*/ 720 h 728"/>
              <a:gd name="T12" fmla="*/ 364 w 425"/>
              <a:gd name="T13" fmla="*/ 728 h 728"/>
              <a:gd name="T14" fmla="*/ 347 w 425"/>
              <a:gd name="T15" fmla="*/ 720 h 728"/>
              <a:gd name="T16" fmla="*/ 8 w 425"/>
              <a:gd name="T17" fmla="*/ 381 h 728"/>
              <a:gd name="T18" fmla="*/ 0 w 425"/>
              <a:gd name="T19" fmla="*/ 364 h 728"/>
              <a:gd name="T20" fmla="*/ 8 w 425"/>
              <a:gd name="T21" fmla="*/ 347 h 728"/>
              <a:gd name="T22" fmla="*/ 347 w 425"/>
              <a:gd name="T23" fmla="*/ 7 h 728"/>
              <a:gd name="T24" fmla="*/ 364 w 425"/>
              <a:gd name="T25" fmla="*/ 0 h 728"/>
              <a:gd name="T26" fmla="*/ 381 w 425"/>
              <a:gd name="T27" fmla="*/ 7 h 728"/>
              <a:gd name="T28" fmla="*/ 417 w 425"/>
              <a:gd name="T29" fmla="*/ 44 h 728"/>
              <a:gd name="T30" fmla="*/ 425 w 425"/>
              <a:gd name="T31" fmla="*/ 60 h 728"/>
              <a:gd name="T32" fmla="*/ 417 w 425"/>
              <a:gd name="T33" fmla="*/ 77 h 728"/>
            </a:gdLst>
            <a:ahLst/>
            <a:cxnLst/>
            <a:rect l="0" t="0" r="r" b="b"/>
            <a:pathLst>
              <a:path w="425" h="728">
                <a:moveTo>
                  <a:pt x="417" y="77"/>
                </a:moveTo>
                <a:cubicBezTo>
                  <a:pt x="131" y="364"/>
                  <a:pt x="131" y="364"/>
                  <a:pt x="131" y="364"/>
                </a:cubicBezTo>
                <a:cubicBezTo>
                  <a:pt x="417" y="650"/>
                  <a:pt x="417" y="650"/>
                  <a:pt x="417" y="650"/>
                </a:cubicBezTo>
                <a:cubicBezTo>
                  <a:pt x="422" y="655"/>
                  <a:pt x="425" y="661"/>
                  <a:pt x="425" y="667"/>
                </a:cubicBezTo>
                <a:cubicBezTo>
                  <a:pt x="425" y="673"/>
                  <a:pt x="422" y="680"/>
                  <a:pt x="417" y="684"/>
                </a:cubicBezTo>
                <a:cubicBezTo>
                  <a:pt x="381" y="720"/>
                  <a:pt x="381" y="720"/>
                  <a:pt x="381" y="720"/>
                </a:cubicBezTo>
                <a:cubicBezTo>
                  <a:pt x="377" y="725"/>
                  <a:pt x="370" y="728"/>
                  <a:pt x="364" y="728"/>
                </a:cubicBezTo>
                <a:cubicBezTo>
                  <a:pt x="358" y="728"/>
                  <a:pt x="352" y="725"/>
                  <a:pt x="347" y="720"/>
                </a:cubicBezTo>
                <a:cubicBezTo>
                  <a:pt x="8" y="381"/>
                  <a:pt x="8" y="381"/>
                  <a:pt x="8" y="381"/>
                </a:cubicBezTo>
                <a:cubicBezTo>
                  <a:pt x="3" y="376"/>
                  <a:pt x="0" y="369"/>
                  <a:pt x="0" y="364"/>
                </a:cubicBezTo>
                <a:cubicBezTo>
                  <a:pt x="0" y="358"/>
                  <a:pt x="3" y="351"/>
                  <a:pt x="8" y="347"/>
                </a:cubicBezTo>
                <a:cubicBezTo>
                  <a:pt x="347" y="7"/>
                  <a:pt x="347" y="7"/>
                  <a:pt x="347" y="7"/>
                </a:cubicBezTo>
                <a:cubicBezTo>
                  <a:pt x="352" y="3"/>
                  <a:pt x="358" y="0"/>
                  <a:pt x="364" y="0"/>
                </a:cubicBezTo>
                <a:cubicBezTo>
                  <a:pt x="370" y="0"/>
                  <a:pt x="377" y="3"/>
                  <a:pt x="381" y="7"/>
                </a:cubicBezTo>
                <a:cubicBezTo>
                  <a:pt x="417" y="44"/>
                  <a:pt x="417" y="44"/>
                  <a:pt x="417" y="44"/>
                </a:cubicBezTo>
                <a:cubicBezTo>
                  <a:pt x="422" y="48"/>
                  <a:pt x="425" y="54"/>
                  <a:pt x="425" y="60"/>
                </a:cubicBezTo>
                <a:cubicBezTo>
                  <a:pt x="425" y="66"/>
                  <a:pt x="422" y="73"/>
                  <a:pt x="417" y="7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endParaRPr/>
          </a:p>
        </p:txBody>
      </p:sp>
      <p:sp>
        <p:nvSpPr>
          <p:cNvPr id="10" name="Freeform 8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3B6BD9E2-BB59-4011-BAED-0DE24B2F9C0E}"/>
              </a:ext>
            </a:extLst>
          </p:cNvPr>
          <p:cNvSpPr>
            <a:spLocks noGrp="1"/>
          </p:cNvSpPr>
          <p:nvPr/>
        </p:nvSpPr>
        <p:spPr>
          <a:xfrm>
            <a:off x="463225" y="6309321"/>
            <a:ext cx="298776" cy="294875"/>
          </a:xfrm>
          <a:custGeom>
            <a:avLst/>
            <a:gdLst>
              <a:gd name="T0" fmla="*/ 2355 w 2753"/>
              <a:gd name="T1" fmla="*/ 114 h 2716"/>
              <a:gd name="T2" fmla="*/ 2639 w 2753"/>
              <a:gd name="T3" fmla="*/ 399 h 2716"/>
              <a:gd name="T4" fmla="*/ 2639 w 2753"/>
              <a:gd name="T5" fmla="*/ 2317 h 2716"/>
              <a:gd name="T6" fmla="*/ 2355 w 2753"/>
              <a:gd name="T7" fmla="*/ 2602 h 2716"/>
              <a:gd name="T8" fmla="*/ 398 w 2753"/>
              <a:gd name="T9" fmla="*/ 2602 h 2716"/>
              <a:gd name="T10" fmla="*/ 113 w 2753"/>
              <a:gd name="T11" fmla="*/ 2317 h 2716"/>
              <a:gd name="T12" fmla="*/ 113 w 2753"/>
              <a:gd name="T13" fmla="*/ 399 h 2716"/>
              <a:gd name="T14" fmla="*/ 398 w 2753"/>
              <a:gd name="T15" fmla="*/ 114 h 2716"/>
              <a:gd name="T16" fmla="*/ 2355 w 2753"/>
              <a:gd name="T17" fmla="*/ 114 h 2716"/>
              <a:gd name="T18" fmla="*/ 2355 w 2753"/>
              <a:gd name="T19" fmla="*/ 0 h 2716"/>
              <a:gd name="T20" fmla="*/ 398 w 2753"/>
              <a:gd name="T21" fmla="*/ 0 h 2716"/>
              <a:gd name="T22" fmla="*/ 0 w 2753"/>
              <a:gd name="T23" fmla="*/ 399 h 2716"/>
              <a:gd name="T24" fmla="*/ 0 w 2753"/>
              <a:gd name="T25" fmla="*/ 2317 h 2716"/>
              <a:gd name="T26" fmla="*/ 398 w 2753"/>
              <a:gd name="T27" fmla="*/ 2716 h 2716"/>
              <a:gd name="T28" fmla="*/ 2355 w 2753"/>
              <a:gd name="T29" fmla="*/ 2716 h 2716"/>
              <a:gd name="T30" fmla="*/ 2753 w 2753"/>
              <a:gd name="T31" fmla="*/ 2317 h 2716"/>
              <a:gd name="T32" fmla="*/ 2753 w 2753"/>
              <a:gd name="T33" fmla="*/ 399 h 2716"/>
              <a:gd name="T34" fmla="*/ 2355 w 2753"/>
              <a:gd name="T35" fmla="*/ 0 h 2716"/>
            </a:gdLst>
            <a:ahLst/>
            <a:cxnLst/>
            <a:rect l="0" t="0" r="r" b="b"/>
            <a:pathLst>
              <a:path w="2753" h="2716">
                <a:moveTo>
                  <a:pt x="2355" y="114"/>
                </a:moveTo>
                <a:cubicBezTo>
                  <a:pt x="2512" y="114"/>
                  <a:pt x="2639" y="242"/>
                  <a:pt x="2639" y="399"/>
                </a:cubicBezTo>
                <a:cubicBezTo>
                  <a:pt x="2639" y="2317"/>
                  <a:pt x="2639" y="2317"/>
                  <a:pt x="2639" y="2317"/>
                </a:cubicBezTo>
                <a:cubicBezTo>
                  <a:pt x="2639" y="2474"/>
                  <a:pt x="2512" y="2602"/>
                  <a:pt x="2355" y="2602"/>
                </a:cubicBezTo>
                <a:cubicBezTo>
                  <a:pt x="398" y="2602"/>
                  <a:pt x="398" y="2602"/>
                  <a:pt x="398" y="2602"/>
                </a:cubicBezTo>
                <a:cubicBezTo>
                  <a:pt x="241" y="2602"/>
                  <a:pt x="113" y="2474"/>
                  <a:pt x="113" y="2317"/>
                </a:cubicBezTo>
                <a:cubicBezTo>
                  <a:pt x="113" y="399"/>
                  <a:pt x="113" y="399"/>
                  <a:pt x="113" y="399"/>
                </a:cubicBezTo>
                <a:cubicBezTo>
                  <a:pt x="113" y="242"/>
                  <a:pt x="241" y="114"/>
                  <a:pt x="398" y="114"/>
                </a:cubicBezTo>
                <a:cubicBezTo>
                  <a:pt x="2355" y="114"/>
                  <a:pt x="2355" y="114"/>
                  <a:pt x="2355" y="114"/>
                </a:cubicBezTo>
                <a:moveTo>
                  <a:pt x="2355" y="0"/>
                </a:moveTo>
                <a:cubicBezTo>
                  <a:pt x="398" y="0"/>
                  <a:pt x="398" y="0"/>
                  <a:pt x="398" y="0"/>
                </a:cubicBezTo>
                <a:cubicBezTo>
                  <a:pt x="178" y="0"/>
                  <a:pt x="0" y="179"/>
                  <a:pt x="0" y="399"/>
                </a:cubicBezTo>
                <a:cubicBezTo>
                  <a:pt x="0" y="2317"/>
                  <a:pt x="0" y="2317"/>
                  <a:pt x="0" y="2317"/>
                </a:cubicBezTo>
                <a:cubicBezTo>
                  <a:pt x="0" y="2538"/>
                  <a:pt x="178" y="2716"/>
                  <a:pt x="398" y="2716"/>
                </a:cubicBezTo>
                <a:cubicBezTo>
                  <a:pt x="2355" y="2716"/>
                  <a:pt x="2355" y="2716"/>
                  <a:pt x="2355" y="2716"/>
                </a:cubicBezTo>
                <a:cubicBezTo>
                  <a:pt x="2575" y="2716"/>
                  <a:pt x="2753" y="2538"/>
                  <a:pt x="2753" y="2317"/>
                </a:cubicBezTo>
                <a:cubicBezTo>
                  <a:pt x="2753" y="399"/>
                  <a:pt x="2753" y="399"/>
                  <a:pt x="2753" y="399"/>
                </a:cubicBezTo>
                <a:cubicBezTo>
                  <a:pt x="2753" y="179"/>
                  <a:pt x="2575" y="0"/>
                  <a:pt x="235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endParaRPr/>
          </a:p>
        </p:txBody>
      </p:sp>
      <p:sp>
        <p:nvSpPr>
          <p:cNvPr id="12" name="Freeform 10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548C7CD4-62F9-4B39-AF4F-A3EC29429ACE}"/>
              </a:ext>
            </a:extLst>
          </p:cNvPr>
          <p:cNvSpPr>
            <a:spLocks noGrp="1"/>
          </p:cNvSpPr>
          <p:nvPr/>
        </p:nvSpPr>
        <p:spPr>
          <a:xfrm flipH="1">
            <a:off x="-4039800" y="6396967"/>
            <a:ext cx="69830" cy="119581"/>
          </a:xfrm>
          <a:custGeom>
            <a:avLst/>
            <a:gdLst>
              <a:gd name="T0" fmla="*/ 417 w 425"/>
              <a:gd name="T1" fmla="*/ 77 h 728"/>
              <a:gd name="T2" fmla="*/ 131 w 425"/>
              <a:gd name="T3" fmla="*/ 364 h 728"/>
              <a:gd name="T4" fmla="*/ 417 w 425"/>
              <a:gd name="T5" fmla="*/ 650 h 728"/>
              <a:gd name="T6" fmla="*/ 425 w 425"/>
              <a:gd name="T7" fmla="*/ 667 h 728"/>
              <a:gd name="T8" fmla="*/ 417 w 425"/>
              <a:gd name="T9" fmla="*/ 684 h 728"/>
              <a:gd name="T10" fmla="*/ 381 w 425"/>
              <a:gd name="T11" fmla="*/ 720 h 728"/>
              <a:gd name="T12" fmla="*/ 364 w 425"/>
              <a:gd name="T13" fmla="*/ 728 h 728"/>
              <a:gd name="T14" fmla="*/ 347 w 425"/>
              <a:gd name="T15" fmla="*/ 720 h 728"/>
              <a:gd name="T16" fmla="*/ 8 w 425"/>
              <a:gd name="T17" fmla="*/ 381 h 728"/>
              <a:gd name="T18" fmla="*/ 0 w 425"/>
              <a:gd name="T19" fmla="*/ 364 h 728"/>
              <a:gd name="T20" fmla="*/ 8 w 425"/>
              <a:gd name="T21" fmla="*/ 347 h 728"/>
              <a:gd name="T22" fmla="*/ 347 w 425"/>
              <a:gd name="T23" fmla="*/ 7 h 728"/>
              <a:gd name="T24" fmla="*/ 364 w 425"/>
              <a:gd name="T25" fmla="*/ 0 h 728"/>
              <a:gd name="T26" fmla="*/ 381 w 425"/>
              <a:gd name="T27" fmla="*/ 7 h 728"/>
              <a:gd name="T28" fmla="*/ 417 w 425"/>
              <a:gd name="T29" fmla="*/ 44 h 728"/>
              <a:gd name="T30" fmla="*/ 425 w 425"/>
              <a:gd name="T31" fmla="*/ 60 h 728"/>
              <a:gd name="T32" fmla="*/ 417 w 425"/>
              <a:gd name="T33" fmla="*/ 77 h 728"/>
            </a:gdLst>
            <a:ahLst/>
            <a:cxnLst/>
            <a:rect l="0" t="0" r="r" b="b"/>
            <a:pathLst>
              <a:path w="425" h="728">
                <a:moveTo>
                  <a:pt x="417" y="77"/>
                </a:moveTo>
                <a:cubicBezTo>
                  <a:pt x="131" y="364"/>
                  <a:pt x="131" y="364"/>
                  <a:pt x="131" y="364"/>
                </a:cubicBezTo>
                <a:cubicBezTo>
                  <a:pt x="417" y="650"/>
                  <a:pt x="417" y="650"/>
                  <a:pt x="417" y="650"/>
                </a:cubicBezTo>
                <a:cubicBezTo>
                  <a:pt x="422" y="655"/>
                  <a:pt x="425" y="661"/>
                  <a:pt x="425" y="667"/>
                </a:cubicBezTo>
                <a:cubicBezTo>
                  <a:pt x="425" y="673"/>
                  <a:pt x="422" y="680"/>
                  <a:pt x="417" y="684"/>
                </a:cubicBezTo>
                <a:cubicBezTo>
                  <a:pt x="381" y="720"/>
                  <a:pt x="381" y="720"/>
                  <a:pt x="381" y="720"/>
                </a:cubicBezTo>
                <a:cubicBezTo>
                  <a:pt x="377" y="725"/>
                  <a:pt x="370" y="728"/>
                  <a:pt x="364" y="728"/>
                </a:cubicBezTo>
                <a:cubicBezTo>
                  <a:pt x="358" y="728"/>
                  <a:pt x="352" y="725"/>
                  <a:pt x="347" y="720"/>
                </a:cubicBezTo>
                <a:cubicBezTo>
                  <a:pt x="8" y="381"/>
                  <a:pt x="8" y="381"/>
                  <a:pt x="8" y="381"/>
                </a:cubicBezTo>
                <a:cubicBezTo>
                  <a:pt x="3" y="376"/>
                  <a:pt x="0" y="369"/>
                  <a:pt x="0" y="364"/>
                </a:cubicBezTo>
                <a:cubicBezTo>
                  <a:pt x="0" y="358"/>
                  <a:pt x="3" y="351"/>
                  <a:pt x="8" y="347"/>
                </a:cubicBezTo>
                <a:cubicBezTo>
                  <a:pt x="347" y="7"/>
                  <a:pt x="347" y="7"/>
                  <a:pt x="347" y="7"/>
                </a:cubicBezTo>
                <a:cubicBezTo>
                  <a:pt x="352" y="3"/>
                  <a:pt x="358" y="0"/>
                  <a:pt x="364" y="0"/>
                </a:cubicBezTo>
                <a:cubicBezTo>
                  <a:pt x="370" y="0"/>
                  <a:pt x="377" y="3"/>
                  <a:pt x="381" y="7"/>
                </a:cubicBezTo>
                <a:cubicBezTo>
                  <a:pt x="417" y="44"/>
                  <a:pt x="417" y="44"/>
                  <a:pt x="417" y="44"/>
                </a:cubicBezTo>
                <a:cubicBezTo>
                  <a:pt x="422" y="48"/>
                  <a:pt x="425" y="54"/>
                  <a:pt x="425" y="60"/>
                </a:cubicBezTo>
                <a:cubicBezTo>
                  <a:pt x="425" y="66"/>
                  <a:pt x="422" y="73"/>
                  <a:pt x="417" y="77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endParaRPr/>
          </a:p>
        </p:txBody>
      </p:sp>
      <p:sp>
        <p:nvSpPr>
          <p:cNvPr id="13" name="Freeform 11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2D6DAA3B-F1AB-43DC-83FB-67D475AB0471}"/>
              </a:ext>
            </a:extLst>
          </p:cNvPr>
          <p:cNvSpPr>
            <a:spLocks noGrp="1"/>
          </p:cNvSpPr>
          <p:nvPr/>
        </p:nvSpPr>
        <p:spPr>
          <a:xfrm flipH="1">
            <a:off x="-3925327" y="6309321"/>
            <a:ext cx="298776" cy="294875"/>
          </a:xfrm>
          <a:custGeom>
            <a:avLst/>
            <a:gdLst>
              <a:gd name="T0" fmla="*/ 2355 w 2753"/>
              <a:gd name="T1" fmla="*/ 114 h 2716"/>
              <a:gd name="T2" fmla="*/ 2639 w 2753"/>
              <a:gd name="T3" fmla="*/ 399 h 2716"/>
              <a:gd name="T4" fmla="*/ 2639 w 2753"/>
              <a:gd name="T5" fmla="*/ 2317 h 2716"/>
              <a:gd name="T6" fmla="*/ 2355 w 2753"/>
              <a:gd name="T7" fmla="*/ 2602 h 2716"/>
              <a:gd name="T8" fmla="*/ 398 w 2753"/>
              <a:gd name="T9" fmla="*/ 2602 h 2716"/>
              <a:gd name="T10" fmla="*/ 113 w 2753"/>
              <a:gd name="T11" fmla="*/ 2317 h 2716"/>
              <a:gd name="T12" fmla="*/ 113 w 2753"/>
              <a:gd name="T13" fmla="*/ 399 h 2716"/>
              <a:gd name="T14" fmla="*/ 398 w 2753"/>
              <a:gd name="T15" fmla="*/ 114 h 2716"/>
              <a:gd name="T16" fmla="*/ 2355 w 2753"/>
              <a:gd name="T17" fmla="*/ 114 h 2716"/>
              <a:gd name="T18" fmla="*/ 2355 w 2753"/>
              <a:gd name="T19" fmla="*/ 0 h 2716"/>
              <a:gd name="T20" fmla="*/ 398 w 2753"/>
              <a:gd name="T21" fmla="*/ 0 h 2716"/>
              <a:gd name="T22" fmla="*/ 0 w 2753"/>
              <a:gd name="T23" fmla="*/ 399 h 2716"/>
              <a:gd name="T24" fmla="*/ 0 w 2753"/>
              <a:gd name="T25" fmla="*/ 2317 h 2716"/>
              <a:gd name="T26" fmla="*/ 398 w 2753"/>
              <a:gd name="T27" fmla="*/ 2716 h 2716"/>
              <a:gd name="T28" fmla="*/ 2355 w 2753"/>
              <a:gd name="T29" fmla="*/ 2716 h 2716"/>
              <a:gd name="T30" fmla="*/ 2753 w 2753"/>
              <a:gd name="T31" fmla="*/ 2317 h 2716"/>
              <a:gd name="T32" fmla="*/ 2753 w 2753"/>
              <a:gd name="T33" fmla="*/ 399 h 2716"/>
              <a:gd name="T34" fmla="*/ 2355 w 2753"/>
              <a:gd name="T35" fmla="*/ 0 h 2716"/>
            </a:gdLst>
            <a:ahLst/>
            <a:cxnLst/>
            <a:rect l="0" t="0" r="r" b="b"/>
            <a:pathLst>
              <a:path w="2753" h="2716">
                <a:moveTo>
                  <a:pt x="2355" y="114"/>
                </a:moveTo>
                <a:cubicBezTo>
                  <a:pt x="2512" y="114"/>
                  <a:pt x="2639" y="242"/>
                  <a:pt x="2639" y="399"/>
                </a:cubicBezTo>
                <a:cubicBezTo>
                  <a:pt x="2639" y="2317"/>
                  <a:pt x="2639" y="2317"/>
                  <a:pt x="2639" y="2317"/>
                </a:cubicBezTo>
                <a:cubicBezTo>
                  <a:pt x="2639" y="2474"/>
                  <a:pt x="2512" y="2602"/>
                  <a:pt x="2355" y="2602"/>
                </a:cubicBezTo>
                <a:cubicBezTo>
                  <a:pt x="398" y="2602"/>
                  <a:pt x="398" y="2602"/>
                  <a:pt x="398" y="2602"/>
                </a:cubicBezTo>
                <a:cubicBezTo>
                  <a:pt x="241" y="2602"/>
                  <a:pt x="113" y="2474"/>
                  <a:pt x="113" y="2317"/>
                </a:cubicBezTo>
                <a:cubicBezTo>
                  <a:pt x="113" y="399"/>
                  <a:pt x="113" y="399"/>
                  <a:pt x="113" y="399"/>
                </a:cubicBezTo>
                <a:cubicBezTo>
                  <a:pt x="113" y="242"/>
                  <a:pt x="241" y="114"/>
                  <a:pt x="398" y="114"/>
                </a:cubicBezTo>
                <a:cubicBezTo>
                  <a:pt x="2355" y="114"/>
                  <a:pt x="2355" y="114"/>
                  <a:pt x="2355" y="114"/>
                </a:cubicBezTo>
                <a:moveTo>
                  <a:pt x="2355" y="0"/>
                </a:moveTo>
                <a:cubicBezTo>
                  <a:pt x="398" y="0"/>
                  <a:pt x="398" y="0"/>
                  <a:pt x="398" y="0"/>
                </a:cubicBezTo>
                <a:cubicBezTo>
                  <a:pt x="178" y="0"/>
                  <a:pt x="0" y="179"/>
                  <a:pt x="0" y="399"/>
                </a:cubicBezTo>
                <a:cubicBezTo>
                  <a:pt x="0" y="2317"/>
                  <a:pt x="0" y="2317"/>
                  <a:pt x="0" y="2317"/>
                </a:cubicBezTo>
                <a:cubicBezTo>
                  <a:pt x="0" y="2538"/>
                  <a:pt x="178" y="2716"/>
                  <a:pt x="398" y="2716"/>
                </a:cubicBezTo>
                <a:cubicBezTo>
                  <a:pt x="2355" y="2716"/>
                  <a:pt x="2355" y="2716"/>
                  <a:pt x="2355" y="2716"/>
                </a:cubicBezTo>
                <a:cubicBezTo>
                  <a:pt x="2575" y="2716"/>
                  <a:pt x="2753" y="2538"/>
                  <a:pt x="2753" y="2317"/>
                </a:cubicBezTo>
                <a:cubicBezTo>
                  <a:pt x="2753" y="399"/>
                  <a:pt x="2753" y="399"/>
                  <a:pt x="2753" y="399"/>
                </a:cubicBezTo>
                <a:cubicBezTo>
                  <a:pt x="2753" y="179"/>
                  <a:pt x="2575" y="0"/>
                  <a:pt x="2355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vert="horz" wrap="square" lIns="121920" tIns="60960" rIns="121920" bIns="60960" anchor="t"/>
          <a:lstStyle/>
          <a:p>
            <a:endParaRPr/>
          </a:p>
        </p:txBody>
      </p:sp>
      <p:sp>
        <p:nvSpPr>
          <p:cNvPr id="14" name="Straight Connector 3">
            <a:extLst>
              <a:ext uri="{FF2B5EF4-FFF2-40B4-BE49-F238E27FC236}">
                <a16:creationId xmlns:a16="http://schemas.microsoft.com/office/drawing/2014/main" id="{8C2AD332-52D8-4B19-B6BD-A035D3D9487E}"/>
              </a:ext>
            </a:extLst>
          </p:cNvPr>
          <p:cNvSpPr>
            <a:spLocks noGrp="1"/>
          </p:cNvSpPr>
          <p:nvPr/>
        </p:nvSpPr>
        <p:spPr>
          <a:xfrm>
            <a:off x="736945" y="6460467"/>
            <a:ext cx="508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pic>
        <p:nvPicPr>
          <p:cNvPr id="29" name="Picture 3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527381" y="280459"/>
            <a:ext cx="812801" cy="812801"/>
          </a:xfrm>
          <a:prstGeom prst="rect">
            <a:avLst/>
          </a:prstGeom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</p:spPr>
      </p:pic>
      <p:pic>
        <p:nvPicPr>
          <p:cNvPr id="30" name="Picture 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30580" y="292955"/>
            <a:ext cx="812801" cy="812801"/>
          </a:xfrm>
          <a:prstGeom prst="rect">
            <a:avLst/>
          </a:prstGeom>
          <a:effectLst>
            <a:outerShdw blurRad="127000" dist="63500" dir="3000000" sx="104000" sy="104000" algn="tl" rotWithShape="0">
              <a:prstClr val="black">
                <a:alpha val="34000"/>
              </a:prstClr>
            </a:outerShdw>
          </a:effectLst>
        </p:spPr>
      </p:pic>
      <p:sp>
        <p:nvSpPr>
          <p:cNvPr id="17" name="矩形 3">
            <a:extLst>
              <a:ext uri="{FF2B5EF4-FFF2-40B4-BE49-F238E27FC236}">
                <a16:creationId xmlns:a16="http://schemas.microsoft.com/office/drawing/2014/main" id="{E033990F-53AC-4947-9DB1-774DFE8FA5D3}"/>
              </a:ext>
            </a:extLst>
          </p:cNvPr>
          <p:cNvSpPr>
            <a:spLocks noGrp="1"/>
          </p:cNvSpPr>
          <p:nvPr/>
        </p:nvSpPr>
        <p:spPr>
          <a:xfrm>
            <a:off x="1583499" y="816963"/>
            <a:ext cx="3409315" cy="306705"/>
          </a:xfrm>
          <a:prstGeom prst="rect">
            <a:avLst/>
          </a:prstGeom>
          <a:noFill/>
          <a:ln>
            <a:noFill/>
          </a:ln>
        </p:spPr>
        <p:txBody>
          <a:bodyPr wrap="none" lIns="91442" tIns="45722" rIns="91442" bIns="45722">
            <a:spAutoFit/>
          </a:bodyPr>
          <a:lstStyle/>
          <a:p>
            <a:r>
              <a:rPr sz="1400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rPr>
              <a:t>Click here to add the title text content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7B35CE7D-0F8F-455F-BEEC-1263DE234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532" y="334005"/>
            <a:ext cx="4288359" cy="502707"/>
          </a:xfrm>
          <a:prstGeom prst="rect">
            <a:avLst/>
          </a:prstGeom>
          <a:noFill/>
          <a:ln>
            <a:noFill/>
          </a:ln>
        </p:spPr>
        <p:txBody>
          <a:bodyPr wrap="none" lIns="68582" tIns="34292" rIns="68582" bIns="34292">
            <a:spAutoFit/>
          </a:bodyPr>
          <a:lstStyle>
            <a:lvl1pPr>
              <a:buNone/>
              <a:defRPr sz="2665" b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algn="l">
              <a:buNone/>
            </a:pPr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FE6141-6C9A-4AD0-95BF-ECA46D3D211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53DFA8A-16ED-49F8-8FA6-FF5A7C70CAC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BF3537-97B2-417C-93AA-14B45212DF6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012E52FD-F389-4238-A0CC-F2E02DE90F89}"/>
              </a:ext>
            </a:extLst>
          </p:cNvPr>
          <p:cNvSpPr>
            <a:spLocks noGrp="1"/>
          </p:cNvSpPr>
          <p:nvPr/>
        </p:nvSpPr>
        <p:spPr>
          <a:xfrm>
            <a:off x="1108925" y="324864"/>
            <a:ext cx="2394787" cy="415290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213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项目介绍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338E8793-0E47-4C7D-B353-F07988A19A11}"/>
              </a:ext>
            </a:extLst>
          </p:cNvPr>
          <p:cNvSpPr>
            <a:spLocks noGrp="1"/>
          </p:cNvSpPr>
          <p:nvPr/>
        </p:nvSpPr>
        <p:spPr>
          <a:xfrm>
            <a:off x="623392" y="260648"/>
            <a:ext cx="480053" cy="48005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图片 6"/>
          <p:cNvPicPr>
            <a:picLocks noChangeAspect="1"/>
          </p:cNvPicPr>
          <p:nvPr/>
        </p:nvPicPr>
        <p:blipFill rotWithShape="1">
          <a:blip r:embed="rId2"/>
          <a:srcRect b="44399"/>
          <a:stretch>
            <a:fillRect/>
          </a:stretch>
        </p:blipFill>
        <p:spPr>
          <a:xfrm rot="5400000">
            <a:off x="9998003" y="211400"/>
            <a:ext cx="2414541" cy="1908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5E2B45-4ADB-4762-89B6-CBF741AC893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86CF222-73AF-468E-BD7D-004D3E7E477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27EF68-BBD8-4BB6-8612-4B36E3AF5F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7C5B78CA-F36F-4723-843A-2754278190BB}"/>
              </a:ext>
            </a:extLst>
          </p:cNvPr>
          <p:cNvSpPr>
            <a:spLocks noGrp="1"/>
          </p:cNvSpPr>
          <p:nvPr/>
        </p:nvSpPr>
        <p:spPr>
          <a:xfrm>
            <a:off x="1108925" y="324864"/>
            <a:ext cx="2394787" cy="415290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213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产品运营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9E68CBE9-2321-46CD-B0F0-E66744C12FAA}"/>
              </a:ext>
            </a:extLst>
          </p:cNvPr>
          <p:cNvSpPr>
            <a:spLocks noGrp="1"/>
          </p:cNvSpPr>
          <p:nvPr/>
        </p:nvSpPr>
        <p:spPr>
          <a:xfrm>
            <a:off x="623392" y="260648"/>
            <a:ext cx="480053" cy="48005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图片 6"/>
          <p:cNvPicPr>
            <a:picLocks noChangeAspect="1"/>
          </p:cNvPicPr>
          <p:nvPr/>
        </p:nvPicPr>
        <p:blipFill rotWithShape="1">
          <a:blip r:embed="rId2"/>
          <a:srcRect b="44399"/>
          <a:stretch>
            <a:fillRect/>
          </a:stretch>
        </p:blipFill>
        <p:spPr>
          <a:xfrm rot="5400000">
            <a:off x="9998003" y="211400"/>
            <a:ext cx="2414541" cy="1908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8C90222-A00C-4988-A5F3-8C9CFF6B97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93A1E9-3922-4ECB-8141-3619BC23643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486A6B-741B-4B51-A22C-BB151082A2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FBA35200-8C34-4EE0-9B5C-CB1A45EA399A}"/>
              </a:ext>
            </a:extLst>
          </p:cNvPr>
          <p:cNvSpPr>
            <a:spLocks noGrp="1"/>
          </p:cNvSpPr>
          <p:nvPr/>
        </p:nvSpPr>
        <p:spPr>
          <a:xfrm>
            <a:off x="1108925" y="324864"/>
            <a:ext cx="2394787" cy="415290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213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发展前景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2800D3CE-5E2A-4283-9A0E-6078D02DE34C}"/>
              </a:ext>
            </a:extLst>
          </p:cNvPr>
          <p:cNvSpPr>
            <a:spLocks noGrp="1"/>
          </p:cNvSpPr>
          <p:nvPr/>
        </p:nvSpPr>
        <p:spPr>
          <a:xfrm>
            <a:off x="623392" y="260648"/>
            <a:ext cx="480053" cy="48005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图片 6"/>
          <p:cNvPicPr>
            <a:picLocks noChangeAspect="1"/>
          </p:cNvPicPr>
          <p:nvPr/>
        </p:nvPicPr>
        <p:blipFill rotWithShape="1">
          <a:blip r:embed="rId2"/>
          <a:srcRect b="44399"/>
          <a:stretch>
            <a:fillRect/>
          </a:stretch>
        </p:blipFill>
        <p:spPr>
          <a:xfrm rot="5400000">
            <a:off x="9998003" y="211400"/>
            <a:ext cx="2414541" cy="1908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3D61DD-3786-47CD-A37C-F6133D717A9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B15B91-F094-44D4-9DF3-7FB8AD10E3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BB4B294-4C76-41D4-861A-4FB61A2FB57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  <p:sp>
        <p:nvSpPr>
          <p:cNvPr id="15" name="文本框 12">
            <a:extLst>
              <a:ext uri="{FF2B5EF4-FFF2-40B4-BE49-F238E27FC236}">
                <a16:creationId xmlns:a16="http://schemas.microsoft.com/office/drawing/2014/main" id="{B7B2A9C5-A2E3-404D-89D5-C4D1A499862A}"/>
              </a:ext>
            </a:extLst>
          </p:cNvPr>
          <p:cNvSpPr>
            <a:spLocks noGrp="1"/>
          </p:cNvSpPr>
          <p:nvPr/>
        </p:nvSpPr>
        <p:spPr>
          <a:xfrm>
            <a:off x="1108925" y="324864"/>
            <a:ext cx="2394787" cy="415290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2135">
                <a:solidFill>
                  <a:schemeClr val="bg1">
                    <a:lumMod val="50000"/>
                  </a:schemeClr>
                </a:solidFill>
                <a:latin typeface="微软雅黑"/>
                <a:ea typeface="微软雅黑"/>
                <a:cs typeface="微软雅黑"/>
              </a:rPr>
              <a:t>合作与目标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FBE4AFDD-434D-49D7-BE58-52C0F04BF46D}"/>
              </a:ext>
            </a:extLst>
          </p:cNvPr>
          <p:cNvSpPr>
            <a:spLocks noGrp="1"/>
          </p:cNvSpPr>
          <p:nvPr/>
        </p:nvSpPr>
        <p:spPr>
          <a:xfrm>
            <a:off x="623392" y="260648"/>
            <a:ext cx="480053" cy="480053"/>
          </a:xfrm>
          <a:prstGeom prst="diamond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2" name="图片 6"/>
          <p:cNvPicPr>
            <a:picLocks noChangeAspect="1"/>
          </p:cNvPicPr>
          <p:nvPr/>
        </p:nvPicPr>
        <p:blipFill rotWithShape="1">
          <a:blip r:embed="rId2"/>
          <a:srcRect b="44399"/>
          <a:stretch>
            <a:fillRect/>
          </a:stretch>
        </p:blipFill>
        <p:spPr>
          <a:xfrm rot="5400000">
            <a:off x="9998003" y="211400"/>
            <a:ext cx="2414541" cy="19084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8119BF33-DE1C-4FB7-9A59-9B972A00E4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0E4530C2-92F8-49EE-83FE-9380C1EEAC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69FC8BA1-9210-4F84-93A9-13901B5AD6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/>
            </a:lvl1pPr>
          </a:lstStyle>
          <a:p>
            <a:pPr>
              <a:buNone/>
            </a:pPr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" y="0"/>
            <a:ext cx="12191332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639961E8-2853-41A6-896E-14A1A64AAA8D}"/>
              </a:ext>
            </a:extLst>
          </p:cNvPr>
          <p:cNvSpPr>
            <a:spLocks noGrp="1"/>
          </p:cNvSpPr>
          <p:nvPr/>
        </p:nvSpPr>
        <p:spPr>
          <a:xfrm flipH="1">
            <a:off x="-5063652" y="330691"/>
            <a:ext cx="2032000" cy="6762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158156F2-E80E-473A-A405-EA197F9B1F8C}"/>
              </a:ext>
            </a:extLst>
          </p:cNvPr>
          <p:cNvSpPr>
            <a:spLocks noGrp="1"/>
          </p:cNvSpPr>
          <p:nvPr/>
        </p:nvSpPr>
        <p:spPr>
          <a:xfrm flipH="1">
            <a:off x="-4699431" y="330691"/>
            <a:ext cx="618245" cy="676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" name="文本框 12">
            <a:extLst>
              <a:ext uri="{FF2B5EF4-FFF2-40B4-BE49-F238E27FC236}">
                <a16:creationId xmlns:a16="http://schemas.microsoft.com/office/drawing/2014/main" id="{AC957640-47FB-4681-9C2F-5CF9D83B415D}"/>
              </a:ext>
            </a:extLst>
          </p:cNvPr>
          <p:cNvSpPr>
            <a:spLocks noGrp="1"/>
          </p:cNvSpPr>
          <p:nvPr/>
        </p:nvSpPr>
        <p:spPr>
          <a:xfrm>
            <a:off x="-1" y="493728"/>
            <a:ext cx="2394787" cy="824865"/>
          </a:xfrm>
          <a:prstGeom prst="rect">
            <a:avLst/>
          </a:prstGeom>
          <a:noFill/>
          <a:ln>
            <a:noFill/>
          </a:ln>
        </p:spPr>
        <p:txBody>
          <a:bodyPr wrap="square" lIns="86697" tIns="43348" rIns="86697" bIns="43348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5pPr>
            <a:lvl6pPr marL="25146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6pPr>
            <a:lvl7pPr marL="29718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7pPr>
            <a:lvl8pPr marL="34290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8pPr>
            <a:lvl9pPr marL="3886200" indent="-228600"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Open Sans"/>
                <a:ea typeface="Open Sans"/>
                <a:cs typeface="Open Sans"/>
              </a:defRPr>
            </a:lvl9pPr>
          </a:lstStyle>
          <a:p>
            <a:r>
              <a:rPr sz="2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点击添加相关标题文字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21" Type="http://schemas.openxmlformats.org/officeDocument/2006/relationships/slideLayout" Target="../slideLayouts/slideLayout34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5" Type="http://schemas.openxmlformats.org/officeDocument/2006/relationships/slideLayout" Target="../slideLayouts/slideLayout38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24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23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Relationship Id="rId22" Type="http://schemas.openxmlformats.org/officeDocument/2006/relationships/slideLayout" Target="../slideLayouts/slideLayout35.xml"/><Relationship Id="rId27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8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53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61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06D1956-4E75-473E-BA95-FB60DB87EE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155E00-3D02-4636-824C-8B03B97F7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EF4C3-65FF-494D-878A-3FD729252485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82548C-D94D-45A8-87D8-F49C556FFBC1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8CB8B4-0F98-467A-AA58-E1B23F30E8E3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712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FE5E514-855E-4A5D-A380-F636B3873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080C00-7B44-431C-826A-7C47EF7C02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0DB61B-5530-49E4-8FA3-0BA170EF14FA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CB4779-F632-4C3F-BB60-4BBFFD57493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0E34A8-1B7B-40FB-B6C2-6E1C5E6C3451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0" y="0"/>
            <a:ext cx="12175830" cy="6858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F685586-01FD-40AE-9846-49FF74B67BF7}"/>
              </a:ext>
            </a:extLst>
          </p:cNvPr>
          <p:cNvSpPr>
            <a:spLocks noGrp="1"/>
          </p:cNvSpPr>
          <p:nvPr/>
        </p:nvSpPr>
        <p:spPr>
          <a:xfrm>
            <a:off x="16170" y="0"/>
            <a:ext cx="12204930" cy="685800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4" r:id="rId23"/>
    <p:sldLayoutId id="2147483685" r:id="rId24"/>
    <p:sldLayoutId id="2147483686" r:id="rId25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13" r:id="rId13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14F685-7C26-418B-A2DD-61F19BCF0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274639"/>
            <a:ext cx="10972800" cy="1143000"/>
          </a:xfrm>
          <a:prstGeom prst="rect">
            <a:avLst/>
          </a:prstGeom>
        </p:spPr>
        <p:txBody>
          <a:bodyPr vert="horz" lIns="91428" tIns="45714" rIns="91428" bIns="45714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57B9719-F0FC-48EB-BB56-507D55C3EA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1" y="1600201"/>
            <a:ext cx="10972800" cy="4525963"/>
          </a:xfrm>
          <a:prstGeom prst="rect">
            <a:avLst/>
          </a:prstGeom>
        </p:spPr>
        <p:txBody>
          <a:bodyPr vert="horz" lIns="91428" tIns="45714" rIns="91428" bIns="45714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6F9E4-E252-43AA-9215-08EA1054B05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09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anchor="ctr"/>
          <a:lstStyle>
            <a:lvl1pPr algn="l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CB1421-B407-4E3C-8214-818424E9B22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65601" y="6356352"/>
            <a:ext cx="3860800" cy="365125"/>
          </a:xfrm>
          <a:prstGeom prst="rect">
            <a:avLst/>
          </a:prstGeom>
        </p:spPr>
        <p:txBody>
          <a:bodyPr vert="horz" lIns="91428" tIns="45714" rIns="91428" bIns="45714" anchor="ctr"/>
          <a:lstStyle>
            <a:lvl1pPr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98CB84-0566-4C8D-8D20-342F5A70D11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737601" y="6356352"/>
            <a:ext cx="2844800" cy="365125"/>
          </a:xfrm>
          <a:prstGeom prst="rect">
            <a:avLst/>
          </a:prstGeom>
        </p:spPr>
        <p:txBody>
          <a:bodyPr vert="horz" lIns="91428" tIns="45714" rIns="91428" bIns="45714" anchor="ctr"/>
          <a:lstStyle>
            <a:lvl1pPr algn="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xStyles>
    <p:titleStyle>
      <a:lvl1pPr algn="ctr" defTabSz="1218565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457200" indent="-457200" algn="l" defTabSz="1218565">
        <a:spcBef>
          <a:spcPts val="130"/>
        </a:spcBef>
        <a:buFont typeface="Arial"/>
        <a:buChar char="•"/>
        <a:defRPr sz="4265" kern="1200">
          <a:solidFill>
            <a:schemeClr val="tx1"/>
          </a:solidFill>
          <a:latin typeface="+mn-lt"/>
          <a:ea typeface="+mn-lt"/>
          <a:cs typeface="+mn-lt"/>
        </a:defRPr>
      </a:lvl1pPr>
      <a:lvl2pPr marL="990600" indent="-381000" algn="l" defTabSz="1218565">
        <a:spcBef>
          <a:spcPts val="130"/>
        </a:spcBef>
        <a:buFont typeface="Arial"/>
        <a:buChar char="–"/>
        <a:defRPr sz="3735" kern="1200">
          <a:solidFill>
            <a:schemeClr val="tx1"/>
          </a:solidFill>
          <a:latin typeface="+mn-lt"/>
          <a:ea typeface="+mn-lt"/>
          <a:cs typeface="+mn-lt"/>
        </a:defRPr>
      </a:lvl2pPr>
      <a:lvl3pPr marL="1524000" indent="-304800" algn="l" defTabSz="1218565">
        <a:spcBef>
          <a:spcPts val="13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3pPr>
      <a:lvl4pPr marL="2133600" indent="-304800" algn="l" defTabSz="1218565">
        <a:spcBef>
          <a:spcPts val="130"/>
        </a:spcBef>
        <a:buFont typeface="Arial"/>
        <a:buChar char="–"/>
        <a:defRPr sz="2665" kern="1200">
          <a:solidFill>
            <a:schemeClr val="tx1"/>
          </a:solidFill>
          <a:latin typeface="+mn-lt"/>
          <a:ea typeface="+mn-lt"/>
          <a:cs typeface="+mn-lt"/>
        </a:defRPr>
      </a:lvl4pPr>
      <a:lvl5pPr marL="2743200" indent="-304800" algn="l" defTabSz="1218565">
        <a:spcBef>
          <a:spcPts val="130"/>
        </a:spcBef>
        <a:buFont typeface="Arial"/>
        <a:buChar char="»"/>
        <a:defRPr sz="2665" kern="1200">
          <a:solidFill>
            <a:schemeClr val="tx1"/>
          </a:solidFill>
          <a:latin typeface="+mn-lt"/>
          <a:ea typeface="+mn-lt"/>
          <a:cs typeface="+mn-lt"/>
        </a:defRPr>
      </a:lvl5pPr>
      <a:lvl6pPr marL="3352165" indent="-304800" algn="l" defTabSz="1218565">
        <a:spcBef>
          <a:spcPts val="130"/>
        </a:spcBef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6pPr>
      <a:lvl7pPr marL="3961765" indent="-304800" algn="l" defTabSz="1218565">
        <a:spcBef>
          <a:spcPts val="130"/>
        </a:spcBef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7pPr>
      <a:lvl8pPr marL="4571365" indent="-304800" algn="l" defTabSz="1218565">
        <a:spcBef>
          <a:spcPts val="130"/>
        </a:spcBef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8pPr>
      <a:lvl9pPr marL="5180965" indent="-304800" algn="l" defTabSz="1218565">
        <a:spcBef>
          <a:spcPts val="130"/>
        </a:spcBef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marL="60960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21920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82880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4pPr>
      <a:lvl5pPr marL="243840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5pPr>
      <a:lvl6pPr marL="3048000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6pPr>
      <a:lvl7pPr marL="3656965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7pPr>
      <a:lvl8pPr marL="4266565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8pPr>
      <a:lvl9pPr marL="4876165" algn="l" defTabSz="1218565">
        <a:buNone/>
        <a:defRPr sz="24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8.png"/><Relationship Id="rId4" Type="http://schemas.openxmlformats.org/officeDocument/2006/relationships/image" Target="../media/image2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13" Type="http://schemas.openxmlformats.org/officeDocument/2006/relationships/tags" Target="../tags/tag15.xml"/><Relationship Id="rId18" Type="http://schemas.openxmlformats.org/officeDocument/2006/relationships/image" Target="../media/image29.png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tags" Target="../tags/tag14.xml"/><Relationship Id="rId17" Type="http://schemas.openxmlformats.org/officeDocument/2006/relationships/notesSlide" Target="../notesSlides/notesSlide1.xml"/><Relationship Id="rId2" Type="http://schemas.openxmlformats.org/officeDocument/2006/relationships/tags" Target="../tags/tag4.xml"/><Relationship Id="rId16" Type="http://schemas.openxmlformats.org/officeDocument/2006/relationships/slideLayout" Target="../slideLayouts/slideLayout12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1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ttps://img8.file.cache.docer.com/storage/1636686949113915230/860bc6d0-29b5-477d-adac-bb2689a3402btjwjv2.png" descr="1523097887_金融素材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9775" y="387985"/>
            <a:ext cx="3832225" cy="5880100"/>
          </a:xfrm>
          <a:prstGeom prst="rect">
            <a:avLst/>
          </a:prstGeom>
        </p:spPr>
      </p:pic>
      <p:sp>
        <p:nvSpPr>
          <p:cNvPr id="26" name="箭头: 五边形 25"/>
          <p:cNvSpPr/>
          <p:nvPr>
            <p:custDataLst>
              <p:tags r:id="rId1"/>
            </p:custDataLst>
          </p:nvPr>
        </p:nvSpPr>
        <p:spPr>
          <a:xfrm>
            <a:off x="-145415" y="2385695"/>
            <a:ext cx="8504555" cy="1088390"/>
          </a:xfrm>
          <a:prstGeom prst="homePlate">
            <a:avLst>
              <a:gd name="adj" fmla="val 34771"/>
            </a:avLst>
          </a:prstGeom>
          <a:gradFill flip="none" rotWithShape="1">
            <a:gsLst>
              <a:gs pos="100000">
                <a:schemeClr val="accent2">
                  <a:alpha val="0"/>
                </a:schemeClr>
              </a:gs>
              <a:gs pos="0">
                <a:schemeClr val="accent1">
                  <a:alpha val="2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6925" tIns="48462" rIns="96925" bIns="48462" rtlCol="0" anchor="ctr"/>
          <a:lstStyle/>
          <a:p>
            <a:pPr algn="ctr" rtl="0"/>
            <a:r>
              <a:rPr lang="zh-CN" altLang="zh-CN" sz="2000" b="1" dirty="0">
                <a:solidFill>
                  <a:schemeClr val="tx1"/>
                </a:solidFill>
              </a:rPr>
              <a:t>大语言模型驱动的多智能体编排技术综述：框架体系、通信协议与演化模式</a:t>
            </a:r>
            <a:endParaRPr lang="zh-CN" altLang="zh-CN" sz="2000" dirty="0">
              <a:solidFill>
                <a:schemeClr val="tx1"/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 rot="16200000" flipH="1">
            <a:off x="2574290" y="1760220"/>
            <a:ext cx="1216660" cy="6010275"/>
            <a:chOff x="674134" y="2071233"/>
            <a:chExt cx="2824290" cy="4302200"/>
          </a:xfrm>
        </p:grpSpPr>
        <p:sp>
          <p:nvSpPr>
            <p:cNvPr id="20" name="十字形 19"/>
            <p:cNvSpPr/>
            <p:nvPr/>
          </p:nvSpPr>
          <p:spPr>
            <a:xfrm>
              <a:off x="674134" y="2071233"/>
              <a:ext cx="2824290" cy="4213662"/>
            </a:xfrm>
            <a:prstGeom prst="plus">
              <a:avLst>
                <a:gd name="adj" fmla="val 8034"/>
              </a:avLst>
            </a:prstGeom>
            <a:gradFill>
              <a:gsLst>
                <a:gs pos="29000">
                  <a:srgbClr val="E3EDFA">
                    <a:alpha val="0"/>
                  </a:srgbClr>
                </a:gs>
                <a:gs pos="917">
                  <a:srgbClr val="CBDDF4">
                    <a:alpha val="0"/>
                  </a:srgbClr>
                </a:gs>
                <a:gs pos="12000">
                  <a:srgbClr val="CBDDF4">
                    <a:alpha val="42000"/>
                  </a:srgbClr>
                </a:gs>
              </a:gsLst>
              <a:lin ang="5400000" scaled="1"/>
            </a:gradFill>
            <a:ln w="127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66000">
                    <a:srgbClr val="7496D2">
                      <a:alpha val="10000"/>
                    </a:srgbClr>
                  </a:gs>
                  <a:gs pos="37000">
                    <a:srgbClr val="7496D2">
                      <a:alpha val="10000"/>
                    </a:srgbClr>
                  </a:gs>
                  <a:gs pos="100000">
                    <a:schemeClr val="accent1">
                      <a:lumMod val="30000"/>
                      <a:lumOff val="70000"/>
                      <a:alpha val="0"/>
                    </a:schemeClr>
                  </a:gs>
                </a:gsLst>
                <a:lin ang="5400000" scaled="1"/>
              </a:gra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十字形 21"/>
            <p:cNvSpPr/>
            <p:nvPr/>
          </p:nvSpPr>
          <p:spPr>
            <a:xfrm>
              <a:off x="788447" y="2159771"/>
              <a:ext cx="2591150" cy="4213662"/>
            </a:xfrm>
            <a:prstGeom prst="plus">
              <a:avLst>
                <a:gd name="adj" fmla="val 7782"/>
              </a:avLst>
            </a:prstGeom>
            <a:gradFill flip="none" rotWithShape="1">
              <a:gsLst>
                <a:gs pos="15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5400000" scaled="0"/>
              <a:tileRect/>
            </a:gradFill>
            <a:ln>
              <a:gradFill>
                <a:gsLst>
                  <a:gs pos="95000">
                    <a:schemeClr val="accent1">
                      <a:lumMod val="5000"/>
                      <a:lumOff val="95000"/>
                      <a:alpha val="0"/>
                    </a:schemeClr>
                  </a:gs>
                  <a:gs pos="0">
                    <a:srgbClr val="7496D2">
                      <a:alpha val="42000"/>
                    </a:srgbClr>
                  </a:gs>
                </a:gsLst>
                <a:lin ang="5400000" scaled="1"/>
              </a:gradFill>
            </a:ln>
            <a:effectLst>
              <a:outerShdw blurRad="317500" dist="38100" dir="5400000" sx="108000" sy="108000" algn="t" rotWithShape="0">
                <a:schemeClr val="accent1">
                  <a:lumMod val="50000"/>
                  <a:alpha val="12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575" dirty="0"/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438573" y="4256617"/>
            <a:ext cx="5525347" cy="5042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gradFill>
                  <a:gsLst>
                    <a:gs pos="23000">
                      <a:srgbClr val="00B0F0"/>
                    </a:gs>
                    <a:gs pos="73000">
                      <a:schemeClr val="accent1"/>
                    </a:gs>
                  </a:gsLst>
                  <a:lin ang="13500000" scaled="1"/>
                </a:gradFill>
              </a:rPr>
              <a:t>团队成员：</a:t>
            </a:r>
            <a:r>
              <a:rPr lang="zh-CN" altLang="zh-CN" dirty="0"/>
              <a:t>陈亚霖 </a:t>
            </a:r>
            <a:r>
              <a:rPr lang="zh-CN" altLang="en-US" dirty="0"/>
              <a:t> </a:t>
            </a:r>
            <a:r>
              <a:rPr lang="zh-CN" altLang="zh-CN" dirty="0"/>
              <a:t>董艺凡 易鑫</a:t>
            </a:r>
            <a:r>
              <a:rPr lang="zh-CN" altLang="en-US" dirty="0"/>
              <a:t>  李婧</a:t>
            </a:r>
            <a:r>
              <a:rPr lang="zh-CN" altLang="en-US"/>
              <a:t>漪 程悦</a:t>
            </a:r>
            <a:endParaRPr lang="zh-CN" altLang="en-US" sz="2400" b="1" dirty="0"/>
          </a:p>
        </p:txBody>
      </p:sp>
      <p:sp>
        <p:nvSpPr>
          <p:cNvPr id="99" name="任意多边形: 形状 98"/>
          <p:cNvSpPr/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任意多边形: 形状 99"/>
          <p:cNvSpPr/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6" name="文本框 185"/>
          <p:cNvSpPr txBox="1"/>
          <p:nvPr>
            <p:custDataLst>
              <p:tags r:id="rId2"/>
            </p:custDataLst>
          </p:nvPr>
        </p:nvSpPr>
        <p:spPr>
          <a:xfrm>
            <a:off x="83185" y="2576830"/>
            <a:ext cx="8183880" cy="782955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defPPr>
              <a:defRPr lang="zh-CN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-150" normalizeH="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字体圈欣意冠黑体" panose="00000500000000000000" pitchFamily="2" charset="-122"/>
                <a:ea typeface="字体圈欣意冠黑体" panose="00000500000000000000" pitchFamily="2" charset="-122"/>
                <a:cs typeface="阿里巴巴普惠体 Medium" panose="00020600040101010101" pitchFamily="18" charset="-122"/>
              </a:defRPr>
            </a:lvl1pPr>
          </a:lstStyle>
          <a:p>
            <a:pPr>
              <a:lnSpc>
                <a:spcPct val="110000"/>
              </a:lnSpc>
            </a:pPr>
            <a:endParaRPr lang="zh-CN" altLang="en-US" sz="3900" dirty="0">
              <a:gradFill>
                <a:gsLst>
                  <a:gs pos="77000">
                    <a:schemeClr val="accent1"/>
                  </a:gs>
                  <a:gs pos="0">
                    <a:schemeClr val="accent3"/>
                  </a:gs>
                </a:gsLst>
                <a:lin ang="2700000" scaled="1"/>
              </a:gradFill>
              <a:latin typeface="优设标题黑" panose="00000500000000000000" pitchFamily="2" charset="-122"/>
              <a:ea typeface="优设标题黑" panose="00000500000000000000" pitchFamily="2" charset="-122"/>
              <a:cs typeface="OPPOSans B" panose="00020600040101010101" pitchFamily="18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0" y="212725"/>
            <a:ext cx="2956560" cy="63944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31819-8899-5390-BE29-7B864BEBD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图片 10">
            <a:extLst>
              <a:ext uri="{FF2B5EF4-FFF2-40B4-BE49-F238E27FC236}">
                <a16:creationId xmlns:a16="http://schemas.microsoft.com/office/drawing/2014/main" id="{988854D1-484F-0B5F-26CD-37FFD2A1A1BA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b="44399"/>
          <a:stretch>
            <a:fillRect/>
          </a:stretch>
        </p:blipFill>
        <p:spPr>
          <a:xfrm>
            <a:off x="0" y="20955"/>
            <a:ext cx="4824095" cy="3813175"/>
          </a:xfrm>
          <a:prstGeom prst="rect">
            <a:avLst/>
          </a:prstGeom>
        </p:spPr>
      </p:pic>
      <p:pic>
        <p:nvPicPr>
          <p:cNvPr id="189" name="图片 11">
            <a:extLst>
              <a:ext uri="{FF2B5EF4-FFF2-40B4-BE49-F238E27FC236}">
                <a16:creationId xmlns:a16="http://schemas.microsoft.com/office/drawing/2014/main" id="{FDA3C3A0-E781-4CCD-E7D5-0CB6ECF2131E}"/>
              </a:ext>
            </a:extLst>
          </p:cNvPr>
          <p:cNvPicPr>
            <a:picLocks noChangeAspect="1"/>
          </p:cNvPicPr>
          <p:nvPr/>
        </p:nvPicPr>
        <p:blipFill rotWithShape="1">
          <a:blip r:embed="rId18"/>
          <a:srcRect t="55151"/>
          <a:stretch>
            <a:fillRect/>
          </a:stretch>
        </p:blipFill>
        <p:spPr>
          <a:xfrm>
            <a:off x="8025130" y="4253230"/>
            <a:ext cx="4166870" cy="2656840"/>
          </a:xfrm>
          <a:prstGeom prst="rect">
            <a:avLst/>
          </a:prstGeom>
        </p:spPr>
      </p:pic>
      <p:sp>
        <p:nvSpPr>
          <p:cNvPr id="7" name="文本框 19">
            <a:extLst>
              <a:ext uri="{FF2B5EF4-FFF2-40B4-BE49-F238E27FC236}">
                <a16:creationId xmlns:a16="http://schemas.microsoft.com/office/drawing/2014/main" id="{49E07FBC-3F5A-BDEE-7B78-08354D7A4E1C}"/>
              </a:ext>
            </a:extLst>
          </p:cNvPr>
          <p:cNvSpPr>
            <a:spLocks noGrp="1"/>
          </p:cNvSpPr>
          <p:nvPr/>
        </p:nvSpPr>
        <p:spPr>
          <a:xfrm>
            <a:off x="2504017" y="2837900"/>
            <a:ext cx="1603918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82B237-590D-9AFF-D8CF-86CF068BA3D4}"/>
              </a:ext>
            </a:extLst>
          </p:cNvPr>
          <p:cNvSpPr>
            <a:spLocks noGrp="1"/>
          </p:cNvSpPr>
          <p:nvPr/>
        </p:nvSpPr>
        <p:spPr>
          <a:xfrm>
            <a:off x="2467399" y="3957093"/>
            <a:ext cx="1694555" cy="65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EEE39A4C-235B-6197-8C4F-064041F70D10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642402" y="2505396"/>
            <a:ext cx="5373062" cy="1478423"/>
            <a:chOff x="2922847" y="2636911"/>
            <a:chExt cx="4468503" cy="1229529"/>
          </a:xfrm>
        </p:grpSpPr>
        <p:sp>
          <p:nvSpPr>
            <p:cNvPr id="3" name="直接连接符 5">
              <a:extLst>
                <a:ext uri="{FF2B5EF4-FFF2-40B4-BE49-F238E27FC236}">
                  <a16:creationId xmlns:a16="http://schemas.microsoft.com/office/drawing/2014/main" id="{A8C3A0C2-022E-AF9C-2FB6-2E4BF62BE747}"/>
                </a:ext>
              </a:extLst>
            </p:cNvPr>
            <p:cNvSpPr>
              <a:spLocks noChangeShapeType="1"/>
            </p:cNvSpPr>
            <p:nvPr>
              <p:custDataLst>
                <p:tags r:id="rId14"/>
              </p:custDataLst>
            </p:nvPr>
          </p:nvSpPr>
          <p:spPr bwMode="auto">
            <a:xfrm>
              <a:off x="2922847" y="3186087"/>
              <a:ext cx="1839656" cy="680353"/>
            </a:xfrm>
            <a:prstGeom prst="line">
              <a:avLst/>
            </a:prstGeom>
            <a:noFill/>
            <a:ln w="9525" cap="flat" cmpd="sng">
              <a:solidFill>
                <a:schemeClr val="tx1">
                  <a:lumMod val="50000"/>
                  <a:lumOff val="50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  <p:sp>
          <p:nvSpPr>
            <p:cNvPr id="4" name="直接连接符 158">
              <a:extLst>
                <a:ext uri="{FF2B5EF4-FFF2-40B4-BE49-F238E27FC236}">
                  <a16:creationId xmlns:a16="http://schemas.microsoft.com/office/drawing/2014/main" id="{2C289EED-9663-A76F-B8F2-F0CF6AF09732}"/>
                </a:ext>
              </a:extLst>
            </p:cNvPr>
            <p:cNvSpPr>
              <a:spLocks noChangeShapeType="1"/>
            </p:cNvSpPr>
            <p:nvPr>
              <p:custDataLst>
                <p:tags r:id="rId15"/>
              </p:custDataLst>
            </p:nvPr>
          </p:nvSpPr>
          <p:spPr bwMode="auto">
            <a:xfrm flipV="1">
              <a:off x="4762503" y="2636911"/>
              <a:ext cx="2628847" cy="1229527"/>
            </a:xfrm>
            <a:prstGeom prst="line">
              <a:avLst/>
            </a:prstGeom>
            <a:noFill/>
            <a:ln w="9525" cap="flat" cmpd="sng">
              <a:solidFill>
                <a:schemeClr val="tx1">
                  <a:lumMod val="50000"/>
                  <a:lumOff val="50000"/>
                </a:schemeClr>
              </a:solidFill>
              <a:beve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2400"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D08A28E-F1AD-FF2E-CBB7-38915089C576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2592136" y="2505151"/>
            <a:ext cx="1101725" cy="1276985"/>
            <a:chOff x="2102110" y="2789212"/>
            <a:chExt cx="863600" cy="909637"/>
          </a:xfrm>
        </p:grpSpPr>
        <p:sp>
          <p:nvSpPr>
            <p:cNvPr id="9" name="矩形 2">
              <a:extLst>
                <a:ext uri="{FF2B5EF4-FFF2-40B4-BE49-F238E27FC236}">
                  <a16:creationId xmlns:a16="http://schemas.microsoft.com/office/drawing/2014/main" id="{0C8DDC0A-50C2-63B9-4E9D-B974AD809B69}"/>
                </a:ext>
              </a:extLst>
            </p:cNvPr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102110" y="2789212"/>
              <a:ext cx="863600" cy="9096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anchor="ctr"/>
            <a:lstStyle/>
            <a:p>
              <a:pPr marL="0" indent="0" algn="ctr" defTabSz="914400" rtl="0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" name="文本框 19">
              <a:extLst>
                <a:ext uri="{FF2B5EF4-FFF2-40B4-BE49-F238E27FC236}">
                  <a16:creationId xmlns:a16="http://schemas.microsoft.com/office/drawing/2014/main" id="{BC42C6B3-57E6-5E0F-1A9F-5D000BD7F9FA}"/>
                </a:ext>
              </a:extLst>
            </p:cNvPr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2129161" y="2891317"/>
              <a:ext cx="809497" cy="4156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01</a:t>
              </a:r>
              <a:endParaRPr lang="zh-CN" altLang="en-US" sz="32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12E78D0-7A26-63B5-AD1B-9F050214595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2102110" y="3421809"/>
              <a:ext cx="863600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indent="0" algn="ctr" defTabSz="914400" rtl="0"/>
              <a:endParaRPr lang="zh-CN" altLang="en-US" sz="240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0AEF677-E568-2723-AA11-89AD66FC8339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101880" y="2858337"/>
            <a:ext cx="1431016" cy="1496544"/>
            <a:chOff x="4190466" y="3106258"/>
            <a:chExt cx="1190104" cy="1244600"/>
          </a:xfrm>
        </p:grpSpPr>
        <p:sp>
          <p:nvSpPr>
            <p:cNvPr id="13" name="矩形 150">
              <a:extLst>
                <a:ext uri="{FF2B5EF4-FFF2-40B4-BE49-F238E27FC236}">
                  <a16:creationId xmlns:a16="http://schemas.microsoft.com/office/drawing/2014/main" id="{62CF338B-3AC1-9B2F-7DB2-17FA4409A8E2}"/>
                </a:ext>
              </a:extLst>
            </p:cNvPr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199470" y="3106258"/>
              <a:ext cx="1181100" cy="1244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anchor="ctr"/>
            <a:lstStyle/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4" name="文本框 19">
              <a:extLst>
                <a:ext uri="{FF2B5EF4-FFF2-40B4-BE49-F238E27FC236}">
                  <a16:creationId xmlns:a16="http://schemas.microsoft.com/office/drawing/2014/main" id="{1016F7A3-A81A-C074-9E2F-5871D6304F5B}"/>
                </a:ext>
              </a:extLst>
            </p:cNvPr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216183" y="3272566"/>
              <a:ext cx="1126449" cy="587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4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02</a:t>
              </a:r>
              <a:endParaRPr lang="zh-CN" altLang="en-US" sz="4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08340241-2944-57EC-5025-65BA2F87BC57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4190466" y="4058588"/>
              <a:ext cx="1190104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5CB41963-FB0E-8C86-C7EB-44727E901E29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8049117" y="1777045"/>
            <a:ext cx="1722015" cy="1746605"/>
            <a:chOff x="6480176" y="2152171"/>
            <a:chExt cx="1432112" cy="1452562"/>
          </a:xfrm>
        </p:grpSpPr>
        <p:sp>
          <p:nvSpPr>
            <p:cNvPr id="17" name="矩形 156">
              <a:extLst>
                <a:ext uri="{FF2B5EF4-FFF2-40B4-BE49-F238E27FC236}">
                  <a16:creationId xmlns:a16="http://schemas.microsoft.com/office/drawing/2014/main" id="{1F2BFCB8-CCF5-9200-24A3-C90D1B9FC0F1}"/>
                </a:ext>
              </a:extLst>
            </p:cNvPr>
            <p:cNvSpPr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6534338" y="2152171"/>
              <a:ext cx="1377950" cy="145256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>
              <a:reflection blurRad="6350" stA="52000" endA="300" endPos="35000" dir="5400000" sy="-100000" algn="bl" rotWithShape="0"/>
            </a:effectLst>
          </p:spPr>
          <p:txBody>
            <a:bodyPr anchor="ctr"/>
            <a:lstStyle/>
            <a:p>
              <a:pPr algn="ctr"/>
              <a:endParaRPr lang="zh-CN" altLang="zh-CN" sz="240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8" name="文本框 19">
              <a:extLst>
                <a:ext uri="{FF2B5EF4-FFF2-40B4-BE49-F238E27FC236}">
                  <a16:creationId xmlns:a16="http://schemas.microsoft.com/office/drawing/2014/main" id="{53340142-0A3E-161A-26B2-592F084ACE64}"/>
                </a:ext>
              </a:extLst>
            </p:cNvPr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6808157" y="2466046"/>
              <a:ext cx="776111" cy="5365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spc="-113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微软雅黑" panose="020B0503020204020204" charset="-122"/>
                </a:rPr>
                <a:t>03</a:t>
              </a:r>
              <a:endParaRPr lang="zh-CN" altLang="en-US" sz="2400" b="1" spc="-113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8A461952-B62E-DF35-1AB6-5676357D7048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6480176" y="3318189"/>
              <a:ext cx="1432112" cy="4571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/>
            </a:p>
          </p:txBody>
        </p:sp>
      </p:grpSp>
      <p:sp>
        <p:nvSpPr>
          <p:cNvPr id="20" name="TextBox 29">
            <a:extLst>
              <a:ext uri="{FF2B5EF4-FFF2-40B4-BE49-F238E27FC236}">
                <a16:creationId xmlns:a16="http://schemas.microsoft.com/office/drawing/2014/main" id="{4711BAF2-24DB-C38E-FFB8-3889E191046B}"/>
              </a:ext>
            </a:extLst>
          </p:cNvPr>
          <p:cNvSpPr txBox="1"/>
          <p:nvPr/>
        </p:nvSpPr>
        <p:spPr>
          <a:xfrm>
            <a:off x="3792756" y="165649"/>
            <a:ext cx="4320480" cy="896015"/>
          </a:xfrm>
          <a:prstGeom prst="rect">
            <a:avLst/>
          </a:prstGeom>
          <a:noFill/>
        </p:spPr>
        <p:txBody>
          <a:bodyPr wrap="square" lIns="91421" tIns="0" rIns="91421" bIns="0" rtlCol="0" anchor="t">
            <a:spAutoFit/>
          </a:bodyPr>
          <a:lstStyle/>
          <a:p>
            <a:pPr algn="ctr">
              <a:lnSpc>
                <a:spcPct val="150000"/>
              </a:lnSpc>
              <a:spcBef>
                <a:spcPts val="565"/>
              </a:spcBef>
            </a:pPr>
            <a:r>
              <a:rPr lang="zh-CN" altLang="en-US" sz="4400" dirty="0"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目录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9C61E14-3685-28A7-A78D-4E04ACE74F58}"/>
              </a:ext>
            </a:extLst>
          </p:cNvPr>
          <p:cNvSpPr txBox="1"/>
          <p:nvPr/>
        </p:nvSpPr>
        <p:spPr>
          <a:xfrm>
            <a:off x="2244364" y="3969943"/>
            <a:ext cx="1797268" cy="751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zh-CN" altLang="en-US" sz="2000" dirty="0">
                <a:solidFill>
                  <a:schemeClr val="tx1"/>
                </a:solidFill>
                <a:latin typeface="优设标题黑"/>
                <a:ea typeface="优设标题黑"/>
                <a:cs typeface="优设标题黑"/>
              </a:rPr>
              <a:t>编排基础与组织拓扑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EBB0FFE-3790-6A87-7EB2-4C61F5FE26E6}"/>
              </a:ext>
            </a:extLst>
          </p:cNvPr>
          <p:cNvSpPr txBox="1"/>
          <p:nvPr/>
        </p:nvSpPr>
        <p:spPr>
          <a:xfrm>
            <a:off x="4748430" y="44597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 defTabSz="914400" rtl="0"/>
            <a:r>
              <a:rPr lang="zh-CN" altLang="en-US" sz="1800" dirty="0">
                <a:solidFill>
                  <a:schemeClr val="tx1"/>
                </a:solidFill>
                <a:latin typeface="优设标题黑"/>
                <a:ea typeface="优设标题黑"/>
                <a:cs typeface="优设标题黑"/>
              </a:rPr>
              <a:t>框架比较与通信协议</a:t>
            </a:r>
            <a:endParaRPr lang="zh-CN" altLang="en-US" dirty="0"/>
          </a:p>
        </p:txBody>
      </p:sp>
      <p:sp>
        <p:nvSpPr>
          <p:cNvPr id="23" name="文本框 184">
            <a:extLst>
              <a:ext uri="{FF2B5EF4-FFF2-40B4-BE49-F238E27FC236}">
                <a16:creationId xmlns:a16="http://schemas.microsoft.com/office/drawing/2014/main" id="{31619C49-A5C2-FADE-F20A-3124BFC14907}"/>
              </a:ext>
            </a:extLst>
          </p:cNvPr>
          <p:cNvSpPr>
            <a:spLocks noGrp="1"/>
          </p:cNvSpPr>
          <p:nvPr/>
        </p:nvSpPr>
        <p:spPr>
          <a:xfrm>
            <a:off x="7796430" y="3686730"/>
            <a:ext cx="69799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R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000" b="0" i="0" u="none" cap="none" spc="-15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latin typeface="字体圈欣意冠黑体"/>
                <a:ea typeface="字体圈欣意冠黑体"/>
                <a:cs typeface="字体圈欣意冠黑体"/>
              </a:defRPr>
            </a:lvl1pPr>
          </a:lstStyle>
          <a:p>
            <a:pPr rtl="0"/>
            <a:r>
              <a:rPr lang="zh-CN" altLang="zh-CN" sz="1600" dirty="0">
                <a:solidFill>
                  <a:schemeClr val="tx1"/>
                </a:solidFill>
                <a:latin typeface="优设标题黑"/>
              </a:rPr>
              <a:t>生产设计、评价与未来方向</a:t>
            </a:r>
            <a:endParaRPr sz="1600" dirty="0">
              <a:solidFill>
                <a:schemeClr val="tx1"/>
              </a:solidFill>
              <a:latin typeface="优设标题黑"/>
            </a:endParaRPr>
          </a:p>
        </p:txBody>
      </p:sp>
    </p:spTree>
    <p:extLst>
      <p:ext uri="{BB962C8B-B14F-4D97-AF65-F5344CB8AC3E}">
        <p14:creationId xmlns:p14="http://schemas.microsoft.com/office/powerpoint/2010/main" val="1705180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图片 10"/>
          <p:cNvPicPr>
            <a:picLocks noChangeAspect="1"/>
          </p:cNvPicPr>
          <p:nvPr/>
        </p:nvPicPr>
        <p:blipFill rotWithShape="1">
          <a:blip r:embed="rId3"/>
          <a:srcRect b="44399"/>
          <a:stretch>
            <a:fillRect/>
          </a:stretch>
        </p:blipFill>
        <p:spPr>
          <a:xfrm>
            <a:off x="0" y="20955"/>
            <a:ext cx="4824095" cy="3813175"/>
          </a:xfrm>
          <a:prstGeom prst="rect">
            <a:avLst/>
          </a:prstGeom>
        </p:spPr>
      </p:pic>
      <p:pic>
        <p:nvPicPr>
          <p:cNvPr id="189" name="图片 11"/>
          <p:cNvPicPr>
            <a:picLocks noChangeAspect="1"/>
          </p:cNvPicPr>
          <p:nvPr/>
        </p:nvPicPr>
        <p:blipFill rotWithShape="1">
          <a:blip r:embed="rId3"/>
          <a:srcRect t="55151"/>
          <a:stretch>
            <a:fillRect/>
          </a:stretch>
        </p:blipFill>
        <p:spPr>
          <a:xfrm>
            <a:off x="8025130" y="4253230"/>
            <a:ext cx="4166870" cy="2656840"/>
          </a:xfrm>
          <a:prstGeom prst="rect">
            <a:avLst/>
          </a:prstGeom>
        </p:spPr>
      </p:pic>
      <p:sp>
        <p:nvSpPr>
          <p:cNvPr id="6" name="矩形 150">
            <a:extLst>
              <a:ext uri="{FF2B5EF4-FFF2-40B4-BE49-F238E27FC236}">
                <a16:creationId xmlns:a16="http://schemas.microsoft.com/office/drawing/2014/main" id="{7E61090F-4A9F-4C4D-B741-0E249B5083AE}"/>
              </a:ext>
            </a:extLst>
          </p:cNvPr>
          <p:cNvSpPr>
            <a:spLocks noGrp="1"/>
          </p:cNvSpPr>
          <p:nvPr/>
        </p:nvSpPr>
        <p:spPr>
          <a:xfrm>
            <a:off x="2480220" y="2601099"/>
            <a:ext cx="1681734" cy="177214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3B3BF2BB-AA09-4356-BB7D-2004CD86F6A1}"/>
              </a:ext>
            </a:extLst>
          </p:cNvPr>
          <p:cNvSpPr>
            <a:spLocks noGrp="1"/>
          </p:cNvSpPr>
          <p:nvPr/>
        </p:nvSpPr>
        <p:spPr>
          <a:xfrm>
            <a:off x="2504017" y="2837900"/>
            <a:ext cx="1603918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4CC61-CC14-4D9E-86C3-7CAEB35110CB}"/>
              </a:ext>
            </a:extLst>
          </p:cNvPr>
          <p:cNvSpPr>
            <a:spLocks noGrp="1"/>
          </p:cNvSpPr>
          <p:nvPr/>
        </p:nvSpPr>
        <p:spPr>
          <a:xfrm>
            <a:off x="2467399" y="3957093"/>
            <a:ext cx="1694555" cy="65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5EE92FC-BB38-4E06-88A7-9AE8F1F6EB3F}"/>
              </a:ext>
            </a:extLst>
          </p:cNvPr>
          <p:cNvSpPr>
            <a:spLocks noGrp="1"/>
          </p:cNvSpPr>
          <p:nvPr/>
        </p:nvSpPr>
        <p:spPr>
          <a:xfrm>
            <a:off x="4315395" y="3047053"/>
            <a:ext cx="6979920" cy="7044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R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000" b="0" i="0" u="none" cap="none" spc="-15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latin typeface="字体圈欣意冠黑体"/>
                <a:ea typeface="字体圈欣意冠黑体"/>
                <a:cs typeface="字体圈欣意冠黑体"/>
              </a:defRPr>
            </a:lvl1pPr>
          </a:lstStyle>
          <a:p>
            <a:pPr>
              <a:lnSpc>
                <a:spcPct val="110000"/>
              </a:lnSpc>
              <a:buNone/>
            </a:pPr>
            <a:r>
              <a:rPr sz="4400" b="1" dirty="0" err="1"/>
              <a:t>编排基础</a:t>
            </a:r>
            <a:r>
              <a:rPr lang="zh-CN" altLang="en-US" sz="4400" b="1" dirty="0"/>
              <a:t>与组织拓扑</a:t>
            </a:r>
            <a:endParaRPr sz="4400" b="1" dirty="0"/>
          </a:p>
        </p:txBody>
      </p:sp>
    </p:spTree>
    <p:extLst>
      <p:ext uri="{BB962C8B-B14F-4D97-AF65-F5344CB8AC3E}">
        <p14:creationId xmlns:p14="http://schemas.microsoft.com/office/powerpoint/2010/main" val="900000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34AF4B1F-A902-4D89-B59E-CB836E1BA256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9E9C24E0-D67B-410C-995B-C4BADA822336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1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F1672D-A346-4452-9CEA-255C9507CD24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1.1  从LLM到多智能体：复杂任务推动协作升级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7A8EFC-2BFE-4B9C-AA56-1E23C52C2417}"/>
              </a:ext>
            </a:extLst>
          </p:cNvPr>
          <p:cNvSpPr>
            <a:spLocks noGrp="1"/>
          </p:cNvSpPr>
          <p:nvPr/>
        </p:nvSpPr>
        <p:spPr>
          <a:xfrm>
            <a:off x="400050" y="82296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单个模型会生成，智能体会行动；多智能体进一步用角色与通信解决复杂协作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DD47DA0-92C1-40A1-90FF-672ACEAB3526}"/>
              </a:ext>
            </a:extLst>
          </p:cNvPr>
          <p:cNvSpPr>
            <a:spLocks noGrp="1"/>
          </p:cNvSpPr>
          <p:nvPr/>
        </p:nvSpPr>
        <p:spPr>
          <a:xfrm>
            <a:off x="590550" y="144018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5B6775"/>
          </a:solidFill>
          <a:ln w="11430">
            <a:solidFill>
              <a:srgbClr val="5B677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1E097A-F10A-4E45-986F-48E910F8741B}"/>
              </a:ext>
            </a:extLst>
          </p:cNvPr>
          <p:cNvSpPr>
            <a:spLocks noGrp="1"/>
          </p:cNvSpPr>
          <p:nvPr/>
        </p:nvSpPr>
        <p:spPr>
          <a:xfrm>
            <a:off x="590550" y="1440180"/>
            <a:ext cx="12579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能力演进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0776683-0D2E-48A0-826D-A0B47A57311E}"/>
              </a:ext>
            </a:extLst>
          </p:cNvPr>
          <p:cNvSpPr>
            <a:spLocks noGrp="1"/>
          </p:cNvSpPr>
          <p:nvPr/>
        </p:nvSpPr>
        <p:spPr>
          <a:xfrm>
            <a:off x="6419850" y="1440180"/>
            <a:ext cx="2038350" cy="285750"/>
          </a:xfrm>
          <a:prstGeom prst="roundRect">
            <a:avLst>
              <a:gd name="adj" fmla="val 26667"/>
            </a:avLst>
          </a:prstGeom>
          <a:solidFill>
            <a:srgbClr val="5B6775"/>
          </a:solidFill>
          <a:ln w="11430">
            <a:solidFill>
              <a:srgbClr val="5B677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E0175C-62E3-449C-92EC-0B934F431475}"/>
              </a:ext>
            </a:extLst>
          </p:cNvPr>
          <p:cNvSpPr>
            <a:spLocks noGrp="1"/>
          </p:cNvSpPr>
          <p:nvPr/>
        </p:nvSpPr>
        <p:spPr>
          <a:xfrm>
            <a:off x="6419850" y="144018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为什么继续演进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901CEC-FFA0-4803-9962-65C2CFCFC8A6}"/>
              </a:ext>
            </a:extLst>
          </p:cNvPr>
          <p:cNvSpPr>
            <a:spLocks noGrp="1"/>
          </p:cNvSpPr>
          <p:nvPr/>
        </p:nvSpPr>
        <p:spPr>
          <a:xfrm>
            <a:off x="400050" y="1878330"/>
            <a:ext cx="2133600" cy="933450"/>
          </a:xfrm>
          <a:prstGeom prst="rect">
            <a:avLst/>
          </a:prstGeom>
          <a:noFill/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基础模型｜语言生成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3BAD35-70B2-411E-BE89-435B10B948C1}"/>
              </a:ext>
            </a:extLst>
          </p:cNvPr>
          <p:cNvSpPr>
            <a:spLocks noGrp="1"/>
          </p:cNvSpPr>
          <p:nvPr/>
        </p:nvSpPr>
        <p:spPr>
          <a:xfrm>
            <a:off x="2533650" y="1878330"/>
            <a:ext cx="3238500" cy="933450"/>
          </a:xfrm>
          <a:prstGeom prst="rect">
            <a:avLst/>
          </a:prstGeom>
          <a:solidFill>
            <a:srgbClr val="F7FAFC"/>
          </a:solidFill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30000"/>
              </a:lnSpc>
              <a:buNone/>
              <a:defRPr sz="9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66C5D4"/>
                </a:solidFill>
              </a:rPr>
              <a:t>LLM：推理与生成
局限：知识冻结、无法实时行动</a:t>
            </a:r>
          </a:p>
          <a:p>
            <a:pPr algn="ctr">
              <a:lnSpc>
                <a:spcPct val="130000"/>
              </a:lnSpc>
              <a:buNone/>
              <a:defRPr sz="975" b="0">
                <a:solidFill>
                  <a:srgbClr val="1F2D3D"/>
                </a:solidFill>
              </a:defRPr>
            </a:pPr>
            <a:endParaRPr sz="1200" b="1">
              <a:solidFill>
                <a:srgbClr val="66C5D4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C48030-59F4-417F-85C5-8D34C3D805B8}"/>
              </a:ext>
            </a:extLst>
          </p:cNvPr>
          <p:cNvSpPr>
            <a:spLocks noGrp="1"/>
          </p:cNvSpPr>
          <p:nvPr/>
        </p:nvSpPr>
        <p:spPr>
          <a:xfrm>
            <a:off x="4667250" y="261747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66C5D4"/>
                </a:solidFill>
              </a:defRPr>
            </a:pPr>
            <a:r>
              <a:rPr sz="825" b="1">
                <a:solidFill>
                  <a:srgbClr val="66C5D4"/>
                </a:solidFill>
              </a:rPr>
              <a:t>能力：单轮生成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ED7A1C-E535-4E71-BBE5-67747A566E8A}"/>
              </a:ext>
            </a:extLst>
          </p:cNvPr>
          <p:cNvSpPr>
            <a:spLocks noGrp="1"/>
          </p:cNvSpPr>
          <p:nvPr/>
        </p:nvSpPr>
        <p:spPr>
          <a:xfrm>
            <a:off x="400050" y="3059430"/>
            <a:ext cx="2133600" cy="933450"/>
          </a:xfrm>
          <a:prstGeom prst="rect">
            <a:avLst/>
          </a:prstGeom>
          <a:noFill/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单智能体｜工具 + 记忆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29EB1C-7CFA-4D3B-B022-9BD64CDE37FA}"/>
              </a:ext>
            </a:extLst>
          </p:cNvPr>
          <p:cNvSpPr>
            <a:spLocks noGrp="1"/>
          </p:cNvSpPr>
          <p:nvPr/>
        </p:nvSpPr>
        <p:spPr>
          <a:xfrm>
            <a:off x="2533650" y="3059430"/>
            <a:ext cx="3238500" cy="933450"/>
          </a:xfrm>
          <a:prstGeom prst="rect">
            <a:avLst/>
          </a:prstGeom>
          <a:solidFill>
            <a:srgbClr val="F7FAFC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40000"/>
              </a:lnSpc>
              <a:buNone/>
              <a:defRPr sz="9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ReAct：思考—行动—观察
Reflexion：失败后反思再尝试</a:t>
            </a:r>
          </a:p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endParaRPr sz="1200" b="1">
              <a:solidFill>
                <a:srgbClr val="2E8FC3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1C21FF-733D-410E-8B8F-57595750B1DA}"/>
              </a:ext>
            </a:extLst>
          </p:cNvPr>
          <p:cNvSpPr>
            <a:spLocks noGrp="1"/>
          </p:cNvSpPr>
          <p:nvPr/>
        </p:nvSpPr>
        <p:spPr>
          <a:xfrm>
            <a:off x="4667250" y="378714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2E8FC3"/>
                </a:solidFill>
              </a:defRPr>
            </a:pPr>
            <a:r>
              <a:rPr sz="825" b="1">
                <a:solidFill>
                  <a:srgbClr val="2E8FC3"/>
                </a:solidFill>
              </a:rPr>
              <a:t>能力：自主循环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D611B3-BF79-4BA6-B83C-494F0634138B}"/>
              </a:ext>
            </a:extLst>
          </p:cNvPr>
          <p:cNvSpPr>
            <a:spLocks noGrp="1"/>
          </p:cNvSpPr>
          <p:nvPr/>
        </p:nvSpPr>
        <p:spPr>
          <a:xfrm>
            <a:off x="400050" y="4240530"/>
            <a:ext cx="2133600" cy="1134110"/>
          </a:xfrm>
          <a:prstGeom prst="rect">
            <a:avLst/>
          </a:prstGeom>
          <a:noFill/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多智能体｜角色化协作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7DF79D-73FE-4654-919D-57AF725AF0B1}"/>
              </a:ext>
            </a:extLst>
          </p:cNvPr>
          <p:cNvSpPr>
            <a:spLocks noGrp="1"/>
          </p:cNvSpPr>
          <p:nvPr/>
        </p:nvSpPr>
        <p:spPr>
          <a:xfrm>
            <a:off x="2533650" y="4240530"/>
            <a:ext cx="3238500" cy="1134110"/>
          </a:xfrm>
          <a:prstGeom prst="rect">
            <a:avLst/>
          </a:prstGeom>
          <a:solidFill>
            <a:srgbClr val="F7FAFC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专业角色 + 结构化通信
分工、复核与共享状态</a:t>
            </a:r>
          </a:p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endParaRPr sz="1200" b="1">
              <a:solidFill>
                <a:srgbClr val="1769AA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E7428D-BF1E-4747-898D-805CD28E5785}"/>
              </a:ext>
            </a:extLst>
          </p:cNvPr>
          <p:cNvSpPr>
            <a:spLocks noGrp="1"/>
          </p:cNvSpPr>
          <p:nvPr/>
        </p:nvSpPr>
        <p:spPr>
          <a:xfrm>
            <a:off x="4667250" y="518541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1769AA"/>
                </a:solidFill>
              </a:defRPr>
            </a:pPr>
            <a:r>
              <a:rPr sz="825" b="1">
                <a:solidFill>
                  <a:srgbClr val="1769AA"/>
                </a:solidFill>
              </a:rPr>
              <a:t>能力：复杂任务协同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254FEDA-082C-44A4-8E04-8889D8D100C0}"/>
              </a:ext>
            </a:extLst>
          </p:cNvPr>
          <p:cNvSpPr>
            <a:spLocks noGrp="1"/>
          </p:cNvSpPr>
          <p:nvPr/>
        </p:nvSpPr>
        <p:spPr>
          <a:xfrm>
            <a:off x="6210300" y="1840230"/>
            <a:ext cx="5429250" cy="3543300"/>
          </a:xfrm>
          <a:prstGeom prst="roundRect">
            <a:avLst>
              <a:gd name="adj" fmla="val 2151"/>
            </a:avLst>
          </a:prstGeom>
          <a:noFill/>
          <a:ln w="11430">
            <a:solidFill>
              <a:srgbClr val="C7DCE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A4859A-8BE0-4973-87DF-BE40E86A49E4}"/>
              </a:ext>
            </a:extLst>
          </p:cNvPr>
          <p:cNvSpPr>
            <a:spLocks noGrp="1"/>
          </p:cNvSpPr>
          <p:nvPr/>
        </p:nvSpPr>
        <p:spPr>
          <a:xfrm>
            <a:off x="6515100" y="2106930"/>
            <a:ext cx="1714500" cy="666750"/>
          </a:xfrm>
          <a:prstGeom prst="rect">
            <a:avLst/>
          </a:prstGeom>
          <a:solidFill>
            <a:srgbClr val="EAF5FB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LLM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37EF1B-1528-42AA-B54A-377381D0C6F6}"/>
              </a:ext>
            </a:extLst>
          </p:cNvPr>
          <p:cNvSpPr>
            <a:spLocks noGrp="1"/>
          </p:cNvSpPr>
          <p:nvPr/>
        </p:nvSpPr>
        <p:spPr>
          <a:xfrm>
            <a:off x="9544050" y="1992630"/>
            <a:ext cx="1638300" cy="723900"/>
          </a:xfrm>
          <a:prstGeom prst="rect">
            <a:avLst/>
          </a:prstGeom>
          <a:solidFill>
            <a:srgbClr val="ECF9FA"/>
          </a:solidFill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Agent
工具 + 记忆</a:t>
            </a:r>
          </a:p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endParaRPr sz="1400" b="1">
              <a:solidFill>
                <a:srgbClr val="66C5D4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BB2F9B-65C5-4374-9C48-6A3B1D68E8C8}"/>
              </a:ext>
            </a:extLst>
          </p:cNvPr>
          <p:cNvSpPr>
            <a:spLocks noGrp="1"/>
          </p:cNvSpPr>
          <p:nvPr/>
        </p:nvSpPr>
        <p:spPr>
          <a:xfrm>
            <a:off x="8686800" y="218694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200" b="1">
                <a:solidFill>
                  <a:srgbClr val="66C5D4"/>
                </a:solidFill>
              </a:rPr>
              <a:t>封装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7C3D9A-B387-419D-9C6F-46B1D85DDC04}"/>
              </a:ext>
            </a:extLst>
          </p:cNvPr>
          <p:cNvSpPr>
            <a:spLocks noGrp="1"/>
          </p:cNvSpPr>
          <p:nvPr/>
        </p:nvSpPr>
        <p:spPr>
          <a:xfrm>
            <a:off x="9201150" y="216408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66C5D4"/>
                </a:solidFill>
              </a:defRPr>
            </a:pPr>
            <a:r>
              <a:rPr sz="1650" b="1">
                <a:solidFill>
                  <a:srgbClr val="66C5D4"/>
                </a:solidFill>
              </a:rPr>
              <a:t>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272766-41B4-45C6-AE27-48B8F257A6C5}"/>
              </a:ext>
            </a:extLst>
          </p:cNvPr>
          <p:cNvSpPr>
            <a:spLocks noGrp="1"/>
          </p:cNvSpPr>
          <p:nvPr/>
        </p:nvSpPr>
        <p:spPr>
          <a:xfrm>
            <a:off x="9544050" y="3249930"/>
            <a:ext cx="1638300" cy="781050"/>
          </a:xfrm>
          <a:prstGeom prst="rect">
            <a:avLst/>
          </a:prstGeom>
          <a:solidFill>
            <a:srgbClr val="EAF5FB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Multi-Agent
角色 + 通信</a:t>
            </a:r>
          </a:p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endParaRPr sz="1400" b="1">
              <a:solidFill>
                <a:srgbClr val="2E8FC3"/>
              </a:solidFill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736717-9B5E-4B0B-9C61-4514694AA0E5}"/>
              </a:ext>
            </a:extLst>
          </p:cNvPr>
          <p:cNvSpPr>
            <a:spLocks noGrp="1"/>
          </p:cNvSpPr>
          <p:nvPr/>
        </p:nvSpPr>
        <p:spPr>
          <a:xfrm>
            <a:off x="7818120" y="338328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协作升级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B7A88F-54DD-4FB2-83D2-7B80015863F6}"/>
              </a:ext>
            </a:extLst>
          </p:cNvPr>
          <p:cNvSpPr>
            <a:spLocks noGrp="1"/>
          </p:cNvSpPr>
          <p:nvPr/>
        </p:nvSpPr>
        <p:spPr>
          <a:xfrm>
            <a:off x="9201150" y="340233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E8FC3"/>
                </a:solidFill>
              </a:defRPr>
            </a:pPr>
            <a:r>
              <a:rPr sz="165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1395606-FB66-41D0-8106-85FDBD29EE74}"/>
              </a:ext>
            </a:extLst>
          </p:cNvPr>
          <p:cNvSpPr>
            <a:spLocks noGrp="1"/>
          </p:cNvSpPr>
          <p:nvPr/>
        </p:nvSpPr>
        <p:spPr>
          <a:xfrm>
            <a:off x="9544050" y="4545330"/>
            <a:ext cx="1638300" cy="685800"/>
          </a:xfrm>
          <a:prstGeom prst="rect">
            <a:avLst/>
          </a:prstGeom>
          <a:solidFill>
            <a:srgbClr val="EAF5FB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Orchestration
控制 + 恢复</a:t>
            </a:r>
          </a:p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endParaRPr sz="1200" b="1">
              <a:solidFill>
                <a:srgbClr val="1769AA"/>
              </a:solidFill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BA85F2-8C78-4DF4-A421-D52D45CCB5F4}"/>
              </a:ext>
            </a:extLst>
          </p:cNvPr>
          <p:cNvSpPr>
            <a:spLocks noGrp="1"/>
          </p:cNvSpPr>
          <p:nvPr/>
        </p:nvSpPr>
        <p:spPr>
          <a:xfrm>
            <a:off x="9810750" y="413004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工程化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DD4F87-408B-4469-9067-C9C853372B5C}"/>
              </a:ext>
            </a:extLst>
          </p:cNvPr>
          <p:cNvSpPr>
            <a:spLocks noGrp="1"/>
          </p:cNvSpPr>
          <p:nvPr/>
        </p:nvSpPr>
        <p:spPr>
          <a:xfrm>
            <a:off x="10191750" y="430911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F2EC1D7-D517-4B94-8A89-C56A626997A4}"/>
              </a:ext>
            </a:extLst>
          </p:cNvPr>
          <p:cNvSpPr>
            <a:spLocks noGrp="1"/>
          </p:cNvSpPr>
          <p:nvPr/>
        </p:nvSpPr>
        <p:spPr>
          <a:xfrm>
            <a:off x="6153150" y="28384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050" b="1">
                <a:solidFill>
                  <a:srgbClr val="5B6775"/>
                </a:solidFill>
              </a:rPr>
              <a:t>复杂任务需要持续推理、外部数据与反复修正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02480D-3FF3-43F6-BF68-E900857CB5AF}"/>
              </a:ext>
            </a:extLst>
          </p:cNvPr>
          <p:cNvSpPr>
            <a:spLocks noGrp="1"/>
          </p:cNvSpPr>
          <p:nvPr/>
        </p:nvSpPr>
        <p:spPr>
          <a:xfrm>
            <a:off x="2114550" y="5924550"/>
            <a:ext cx="7962900" cy="361950"/>
          </a:xfrm>
          <a:prstGeom prst="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2D3D"/>
                </a:solidFill>
              </a:defRPr>
            </a:pPr>
            <a:r>
              <a:rPr sz="1400" b="1">
                <a:solidFill>
                  <a:srgbClr val="1F2D3D"/>
                </a:solidFill>
              </a:rPr>
              <a:t>核心变化：能力问题逐步转化为组织与工程问题——多个智能体如何协同而不失控？</a:t>
            </a:r>
          </a:p>
        </p:txBody>
      </p:sp>
      <p:sp>
        <p:nvSpPr>
          <p:cNvPr id="38" name="page-number-1">
            <a:extLst>
              <a:ext uri="{FF2B5EF4-FFF2-40B4-BE49-F238E27FC236}">
                <a16:creationId xmlns:a16="http://schemas.microsoft.com/office/drawing/2014/main" id="{BF31898E-55E4-4CE2-88A0-77A2AE7F8215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1 页</a:t>
            </a:r>
          </a:p>
        </p:txBody>
      </p:sp>
    </p:spTree>
    <p:extLst>
      <p:ext uri="{BB962C8B-B14F-4D97-AF65-F5344CB8AC3E}">
        <p14:creationId xmlns:p14="http://schemas.microsoft.com/office/powerpoint/2010/main" val="900000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F4EBB3C2-CF68-4BBC-BEFD-003A13040F6D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A46B2486-138D-4F35-BFF5-D504E694CCA0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2A499F-17A6-41B5-A7A0-8737E6CE9B95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1.2  编排层让多个智能体形成一个系统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FF2B94-CB09-417A-8455-F0845FE874B4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没有编排，智能体会重复劳动、相互矛盾，甚至陷入无法终止的循环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D38CE78-CA30-444E-A841-EB2607F965B0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36D0E83-037F-4FBE-AB81-8B88546018FD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4F59D5-BCBE-444E-BBC4-B51990911243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①  组织任务流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6BD066A-9F29-44A9-A67C-921A9ED02430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3A1FE8-AFCC-4D30-B489-F821EA9D8565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拆成可执行子任务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9D9AF1-D5DE-4397-B4A8-00637A0C4F28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任务分解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DA56156-2815-4645-B617-7DCCE3CD5CA5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5C7DA2-8AB7-4A64-BC34-5A0E8E81CD86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决定由谁负责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17B89C-9D17-4E35-B822-3B78AC8D9045}"/>
              </a:ext>
            </a:extLst>
          </p:cNvPr>
          <p:cNvSpPr>
            <a:spLocks noGrp="1"/>
          </p:cNvSpPr>
          <p:nvPr/>
        </p:nvSpPr>
        <p:spPr>
          <a:xfrm>
            <a:off x="34480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66C5D4"/>
                </a:solidFill>
              </a:defRPr>
            </a:pPr>
            <a:r>
              <a:rPr sz="1500" b="1">
                <a:solidFill>
                  <a:srgbClr val="66C5D4"/>
                </a:solidFill>
              </a:rPr>
              <a:t>任务分配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8C86F6-350B-41FF-935D-EEF81359D8CA}"/>
              </a:ext>
            </a:extLst>
          </p:cNvPr>
          <p:cNvSpPr>
            <a:spLocks noGrp="1"/>
          </p:cNvSpPr>
          <p:nvPr/>
        </p:nvSpPr>
        <p:spPr>
          <a:xfrm>
            <a:off x="60769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46A88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3CA0B5-163F-415C-90EE-A49986FDD0C9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规定先后与依赖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CC4DDE-1B37-47DE-8C48-456B21E0BF80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控制流程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88FB124-A1A8-4B2F-80F7-481CBEABC21C}"/>
              </a:ext>
            </a:extLst>
          </p:cNvPr>
          <p:cNvSpPr>
            <a:spLocks noGrp="1"/>
          </p:cNvSpPr>
          <p:nvPr/>
        </p:nvSpPr>
        <p:spPr>
          <a:xfrm>
            <a:off x="88201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A0059C-873A-4C70-A3F9-27AE57BE5F48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交换消息与产物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999080-D447-490A-8BEF-A4DD0DF486B5}"/>
              </a:ext>
            </a:extLst>
          </p:cNvPr>
          <p:cNvSpPr>
            <a:spLocks noGrp="1"/>
          </p:cNvSpPr>
          <p:nvPr/>
        </p:nvSpPr>
        <p:spPr>
          <a:xfrm>
            <a:off x="89344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E8FC3"/>
                </a:solidFill>
              </a:defRPr>
            </a:pPr>
            <a:r>
              <a:rPr sz="1500" b="1">
                <a:solidFill>
                  <a:srgbClr val="2E8FC3"/>
                </a:solidFill>
              </a:rPr>
              <a:t>通信共享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4BBE2B4-3520-466D-820D-F16670105FB1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A92D36D-A2F5-4AC2-B3C8-D66C9D22EBE3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42D10D-BB0A-4706-8A2A-14470E62D868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②  维持系统可靠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57B88B5-3694-4720-B774-1B269D4A8A25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3B699D-C659-4BA5-BCEA-2A25FDF2299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保存上下文与中间结果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60AE32-D964-44EB-945D-17D33F0170C0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状态管理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35AF27-321E-4351-A8FD-63BADD7AB25E}"/>
              </a:ext>
            </a:extLst>
          </p:cNvPr>
          <p:cNvSpPr>
            <a:spLocks noGrp="1"/>
          </p:cNvSpPr>
          <p:nvPr/>
        </p:nvSpPr>
        <p:spPr>
          <a:xfrm>
            <a:off x="18478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共享 / 私有 / 混合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DCFFD-63F1-4213-A9E2-E8C8AFCFB5F5}"/>
              </a:ext>
            </a:extLst>
          </p:cNvPr>
          <p:cNvSpPr>
            <a:spLocks noGrp="1"/>
          </p:cNvSpPr>
          <p:nvPr/>
        </p:nvSpPr>
        <p:spPr>
          <a:xfrm>
            <a:off x="401955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A7FB3359-DF8F-4310-A070-3298EAE430B3}"/>
              </a:ext>
            </a:extLst>
          </p:cNvPr>
          <p:cNvSpPr>
            <a:spLocks noGrp="1"/>
          </p:cNvSpPr>
          <p:nvPr/>
        </p:nvSpPr>
        <p:spPr>
          <a:xfrm>
            <a:off x="445770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C97ED5-CDB6-4A56-9CC7-184329C5E5C9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发现超时、冲突与错误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437EA7-FA67-40BA-820A-53B2F4717D20}"/>
              </a:ext>
            </a:extLst>
          </p:cNvPr>
          <p:cNvSpPr>
            <a:spLocks noGrp="1"/>
          </p:cNvSpPr>
          <p:nvPr/>
        </p:nvSpPr>
        <p:spPr>
          <a:xfrm>
            <a:off x="461010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2E8FC3"/>
                </a:solidFill>
              </a:defRPr>
            </a:pPr>
            <a:r>
              <a:rPr sz="1575" b="1">
                <a:solidFill>
                  <a:srgbClr val="2E8FC3"/>
                </a:solidFill>
              </a:rPr>
              <a:t>错误检测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938619-019E-4FF6-86B4-969CF8CB5516}"/>
              </a:ext>
            </a:extLst>
          </p:cNvPr>
          <p:cNvSpPr>
            <a:spLocks noGrp="1"/>
          </p:cNvSpPr>
          <p:nvPr/>
        </p:nvSpPr>
        <p:spPr>
          <a:xfrm>
            <a:off x="552450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追踪、校验、审计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D4E905-15EB-454E-AF53-FAD9D863D3D1}"/>
              </a:ext>
            </a:extLst>
          </p:cNvPr>
          <p:cNvSpPr>
            <a:spLocks noGrp="1"/>
          </p:cNvSpPr>
          <p:nvPr/>
        </p:nvSpPr>
        <p:spPr>
          <a:xfrm>
            <a:off x="769620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9BB176B-70CB-4EDD-AABC-2AE84798940A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D83203-A3C0-4103-822D-077746D87E9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重试、回滚或人工接管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9A7052-E247-4402-BAB9-F3654054D766}"/>
              </a:ext>
            </a:extLst>
          </p:cNvPr>
          <p:cNvSpPr>
            <a:spLocks noGrp="1"/>
          </p:cNvSpPr>
          <p:nvPr/>
        </p:nvSpPr>
        <p:spPr>
          <a:xfrm>
            <a:off x="82867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66C5D4"/>
                </a:solidFill>
              </a:defRPr>
            </a:pPr>
            <a:r>
              <a:rPr sz="1575" b="1">
                <a:solidFill>
                  <a:srgbClr val="66C5D4"/>
                </a:solidFill>
              </a:rPr>
              <a:t>失败恢复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DF4A2E0-20E6-45A9-907B-C92A2431387D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可恢复、可干预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4971BB1-5B18-47F5-A515-B077A34BA754}"/>
              </a:ext>
            </a:extLst>
          </p:cNvPr>
          <p:cNvSpPr>
            <a:spLocks noGrp="1"/>
          </p:cNvSpPr>
          <p:nvPr/>
        </p:nvSpPr>
        <p:spPr>
          <a:xfrm>
            <a:off x="1657350" y="5505450"/>
            <a:ext cx="8877300" cy="381000"/>
          </a:xfrm>
          <a:prstGeom prst="roundRect">
            <a:avLst>
              <a:gd name="adj" fmla="val 20000"/>
            </a:avLst>
          </a:prstGeom>
          <a:solidFill>
            <a:srgbClr val="EAF5FB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2F6910-8807-4A4C-B934-9BA94F67D12C}"/>
              </a:ext>
            </a:extLst>
          </p:cNvPr>
          <p:cNvSpPr>
            <a:spLocks noGrp="1"/>
          </p:cNvSpPr>
          <p:nvPr/>
        </p:nvSpPr>
        <p:spPr>
          <a:xfrm>
            <a:off x="1847850" y="5524500"/>
            <a:ext cx="849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  <a:latin typeface="+mj-lt"/>
                <a:ea typeface="+mj-lt"/>
                <a:cs typeface="+mj-lt"/>
              </a:rPr>
              <a:t>编排的本质：把角色、信息、状态和控制流连接起来，使协作过程可持续、可检查、可恢复</a:t>
            </a:r>
          </a:p>
        </p:txBody>
      </p:sp>
      <p:sp>
        <p:nvSpPr>
          <p:cNvPr id="46" name="page-number-2">
            <a:extLst>
              <a:ext uri="{FF2B5EF4-FFF2-40B4-BE49-F238E27FC236}">
                <a16:creationId xmlns:a16="http://schemas.microsoft.com/office/drawing/2014/main" id="{CBAF3ADB-A531-4E14-856D-962C1406C7E7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2 页</a:t>
            </a:r>
          </a:p>
        </p:txBody>
      </p:sp>
    </p:spTree>
    <p:extLst>
      <p:ext uri="{BB962C8B-B14F-4D97-AF65-F5344CB8AC3E}">
        <p14:creationId xmlns:p14="http://schemas.microsoft.com/office/powerpoint/2010/main" val="90000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2ED9C6F7-518F-4E0B-9765-C4C687D4ADA6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2FA81D98-F738-4363-9597-1F24EB4A4E5D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5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F50022-04CB-4F16-BDD4-046D44E754A1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1.3  论文给出从分类到落地的完整决策框架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EB2AB7-1C5D-41D4-BDA9-E250F9887F9B}"/>
              </a:ext>
            </a:extLst>
          </p:cNvPr>
          <p:cNvSpPr>
            <a:spLocks noGrp="1"/>
          </p:cNvSpPr>
          <p:nvPr/>
        </p:nvSpPr>
        <p:spPr>
          <a:xfrm>
            <a:off x="400050" y="78867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综述覆盖2023年至2026年初，并用证据分层约束厂商与部署结论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8CCBB9-D7D1-4D62-B99C-69A7558D08E1}"/>
              </a:ext>
            </a:extLst>
          </p:cNvPr>
          <p:cNvSpPr>
            <a:spLocks noGrp="1"/>
          </p:cNvSpPr>
          <p:nvPr/>
        </p:nvSpPr>
        <p:spPr>
          <a:xfrm>
            <a:off x="400050" y="1272540"/>
            <a:ext cx="1466850" cy="419100"/>
          </a:xfrm>
          <a:prstGeom prst="rect">
            <a:avLst/>
          </a:prstGeom>
          <a:solidFill>
            <a:srgbClr val="1769AA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研究问题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612FD2-A053-4065-928E-D6C56F8D9D92}"/>
              </a:ext>
            </a:extLst>
          </p:cNvPr>
          <p:cNvSpPr>
            <a:spLocks noGrp="1"/>
          </p:cNvSpPr>
          <p:nvPr/>
        </p:nvSpPr>
        <p:spPr>
          <a:xfrm>
            <a:off x="1866900" y="1272540"/>
            <a:ext cx="21907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论文回答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18A1C2-21A8-4B62-B602-F5627C7ACEE9}"/>
              </a:ext>
            </a:extLst>
          </p:cNvPr>
          <p:cNvSpPr>
            <a:spLocks noGrp="1"/>
          </p:cNvSpPr>
          <p:nvPr/>
        </p:nvSpPr>
        <p:spPr>
          <a:xfrm>
            <a:off x="4057650" y="1272540"/>
            <a:ext cx="18859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核心产出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949418-82A8-44DF-A971-E23F42C9A01F}"/>
              </a:ext>
            </a:extLst>
          </p:cNvPr>
          <p:cNvSpPr>
            <a:spLocks noGrp="1"/>
          </p:cNvSpPr>
          <p:nvPr/>
        </p:nvSpPr>
        <p:spPr>
          <a:xfrm>
            <a:off x="5943600" y="1272540"/>
            <a:ext cx="259080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证据范围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401EA4-4682-4911-8F01-A4E677D9805C}"/>
              </a:ext>
            </a:extLst>
          </p:cNvPr>
          <p:cNvSpPr>
            <a:spLocks noGrp="1"/>
          </p:cNvSpPr>
          <p:nvPr/>
        </p:nvSpPr>
        <p:spPr>
          <a:xfrm>
            <a:off x="8534400" y="1272540"/>
            <a:ext cx="32575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汇报对应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CE03EC-1AB3-4ACF-8D5C-750DBCD8F2D1}"/>
              </a:ext>
            </a:extLst>
          </p:cNvPr>
          <p:cNvSpPr>
            <a:spLocks noGrp="1"/>
          </p:cNvSpPr>
          <p:nvPr/>
        </p:nvSpPr>
        <p:spPr>
          <a:xfrm>
            <a:off x="400050" y="16916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如何组织？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7F37DF-4545-4706-891F-311887157C85}"/>
              </a:ext>
            </a:extLst>
          </p:cNvPr>
          <p:cNvSpPr>
            <a:spLocks noGrp="1"/>
          </p:cNvSpPr>
          <p:nvPr/>
        </p:nvSpPr>
        <p:spPr>
          <a:xfrm>
            <a:off x="1866900" y="16916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拓扑 × 适应性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F2E542-9125-48B9-BEE5-3C1D1BF2BF16}"/>
              </a:ext>
            </a:extLst>
          </p:cNvPr>
          <p:cNvSpPr>
            <a:spLocks noGrp="1"/>
          </p:cNvSpPr>
          <p:nvPr/>
        </p:nvSpPr>
        <p:spPr>
          <a:xfrm>
            <a:off x="4057650" y="16916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3 × 2分类法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DA491F-04D5-4579-A47D-E5CA0DDCD278}"/>
              </a:ext>
            </a:extLst>
          </p:cNvPr>
          <p:cNvSpPr>
            <a:spLocks noGrp="1"/>
          </p:cNvSpPr>
          <p:nvPr/>
        </p:nvSpPr>
        <p:spPr>
          <a:xfrm>
            <a:off x="5943600" y="16916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经典MAS + 实证研究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0C2160-D61F-437A-ADAE-CFABC4EFC375}"/>
              </a:ext>
            </a:extLst>
          </p:cNvPr>
          <p:cNvSpPr>
            <a:spLocks noGrp="1"/>
          </p:cNvSpPr>
          <p:nvPr/>
        </p:nvSpPr>
        <p:spPr>
          <a:xfrm>
            <a:off x="8534400" y="16916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第一部分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D10964-2027-47E1-B752-F5CB30CD5A98}"/>
              </a:ext>
            </a:extLst>
          </p:cNvPr>
          <p:cNvSpPr>
            <a:spLocks noGrp="1"/>
          </p:cNvSpPr>
          <p:nvPr/>
        </p:nvSpPr>
        <p:spPr>
          <a:xfrm>
            <a:off x="400050" y="23393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如何实现？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25641B-43F2-40BD-A301-F6B445061E02}"/>
              </a:ext>
            </a:extLst>
          </p:cNvPr>
          <p:cNvSpPr>
            <a:spLocks noGrp="1"/>
          </p:cNvSpPr>
          <p:nvPr/>
        </p:nvSpPr>
        <p:spPr>
          <a:xfrm>
            <a:off x="1866900" y="23393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比较六类框架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042A29-C9D5-4F6C-8510-E3DADD842BA4}"/>
              </a:ext>
            </a:extLst>
          </p:cNvPr>
          <p:cNvSpPr>
            <a:spLocks noGrp="1"/>
          </p:cNvSpPr>
          <p:nvPr/>
        </p:nvSpPr>
        <p:spPr>
          <a:xfrm>
            <a:off x="4057650" y="23393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状态、成本、恢复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F51A4C-B85C-4025-ADA9-96DE2CA3A778}"/>
              </a:ext>
            </a:extLst>
          </p:cNvPr>
          <p:cNvSpPr>
            <a:spLocks noGrp="1"/>
          </p:cNvSpPr>
          <p:nvPr/>
        </p:nvSpPr>
        <p:spPr>
          <a:xfrm>
            <a:off x="5943600" y="23393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论文与官方文档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A2C862-06EA-4C5D-8605-05FC78781253}"/>
              </a:ext>
            </a:extLst>
          </p:cNvPr>
          <p:cNvSpPr>
            <a:spLocks noGrp="1"/>
          </p:cNvSpPr>
          <p:nvPr/>
        </p:nvSpPr>
        <p:spPr>
          <a:xfrm>
            <a:off x="8534400" y="23393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第二部分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421B67-925E-4DB0-9946-46E4CB0EAADD}"/>
              </a:ext>
            </a:extLst>
          </p:cNvPr>
          <p:cNvSpPr>
            <a:spLocks noGrp="1"/>
          </p:cNvSpPr>
          <p:nvPr/>
        </p:nvSpPr>
        <p:spPr>
          <a:xfrm>
            <a:off x="400050" y="29870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6A88A"/>
                </a:solidFill>
              </a:defRPr>
            </a:pPr>
            <a:r>
              <a:rPr sz="1400" b="1">
                <a:solidFill>
                  <a:srgbClr val="46A88A"/>
                </a:solidFill>
              </a:rPr>
              <a:t>怎样通信？</a:t>
            </a:r>
          </a:p>
          <a:p>
            <a:pPr algn="ctr">
              <a:buNone/>
              <a:defRPr sz="975" b="1">
                <a:solidFill>
                  <a:srgbClr val="46A88A"/>
                </a:solidFill>
              </a:defRPr>
            </a:pPr>
            <a:endParaRPr sz="1400" b="1">
              <a:solidFill>
                <a:srgbClr val="46A88A"/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B3FB69-4A7A-4364-9341-6268D8A48A04}"/>
              </a:ext>
            </a:extLst>
          </p:cNvPr>
          <p:cNvSpPr>
            <a:spLocks noGrp="1"/>
          </p:cNvSpPr>
          <p:nvPr/>
        </p:nvSpPr>
        <p:spPr>
          <a:xfrm>
            <a:off x="1866900" y="29870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MCP / A2A / ANP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C9A19A-A414-4D95-AEFE-9CBDECB3C5FD}"/>
              </a:ext>
            </a:extLst>
          </p:cNvPr>
          <p:cNvSpPr>
            <a:spLocks noGrp="1"/>
          </p:cNvSpPr>
          <p:nvPr/>
        </p:nvSpPr>
        <p:spPr>
          <a:xfrm>
            <a:off x="4057650" y="29870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三层协议栈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7C7CB7-B2F3-4518-AF9B-FF0C7E58F42A}"/>
              </a:ext>
            </a:extLst>
          </p:cNvPr>
          <p:cNvSpPr>
            <a:spLocks noGrp="1"/>
          </p:cNvSpPr>
          <p:nvPr/>
        </p:nvSpPr>
        <p:spPr>
          <a:xfrm>
            <a:off x="5943600" y="29870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标准规范 + 文献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BB7A9C9-BCDB-4735-B0C5-58E235245A88}"/>
              </a:ext>
            </a:extLst>
          </p:cNvPr>
          <p:cNvSpPr>
            <a:spLocks noGrp="1"/>
          </p:cNvSpPr>
          <p:nvPr/>
        </p:nvSpPr>
        <p:spPr>
          <a:xfrm>
            <a:off x="8534400" y="29870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第二部分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520A73-0F20-40EF-A901-46F23C94BBB0}"/>
              </a:ext>
            </a:extLst>
          </p:cNvPr>
          <p:cNvSpPr>
            <a:spLocks noGrp="1"/>
          </p:cNvSpPr>
          <p:nvPr/>
        </p:nvSpPr>
        <p:spPr>
          <a:xfrm>
            <a:off x="400050" y="36347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怎样生产？</a:t>
            </a:r>
          </a:p>
          <a:p>
            <a:pPr algn="ctr">
              <a:buNone/>
              <a:defRPr sz="975" b="1">
                <a:solidFill>
                  <a:srgbClr val="2E8FC3"/>
                </a:solidFill>
              </a:defRPr>
            </a:pPr>
            <a:endParaRPr sz="1400" b="1">
              <a:solidFill>
                <a:srgbClr val="2E8FC3"/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075709-39F8-4486-87BA-348B9FE7FD29}"/>
              </a:ext>
            </a:extLst>
          </p:cNvPr>
          <p:cNvSpPr>
            <a:spLocks noGrp="1"/>
          </p:cNvSpPr>
          <p:nvPr/>
        </p:nvSpPr>
        <p:spPr>
          <a:xfrm>
            <a:off x="1866900" y="36347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状态、规划、安全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7EABDB-FE1F-4331-ACD3-3D4FB3EE5D8C}"/>
              </a:ext>
            </a:extLst>
          </p:cNvPr>
          <p:cNvSpPr>
            <a:spLocks noGrp="1"/>
          </p:cNvSpPr>
          <p:nvPr/>
        </p:nvSpPr>
        <p:spPr>
          <a:xfrm>
            <a:off x="4057650" y="36347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工程设计清单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CA777A-67A9-4DA3-8C9E-3CDE995C1C49}"/>
              </a:ext>
            </a:extLst>
          </p:cNvPr>
          <p:cNvSpPr>
            <a:spLocks noGrp="1"/>
          </p:cNvSpPr>
          <p:nvPr/>
        </p:nvSpPr>
        <p:spPr>
          <a:xfrm>
            <a:off x="5943600" y="36347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公开基准与案例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7858DD2-167F-4072-B9AA-CF7F61760C84}"/>
              </a:ext>
            </a:extLst>
          </p:cNvPr>
          <p:cNvSpPr>
            <a:spLocks noGrp="1"/>
          </p:cNvSpPr>
          <p:nvPr/>
        </p:nvSpPr>
        <p:spPr>
          <a:xfrm>
            <a:off x="8534400" y="36347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第三部分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DEB9CB3-C830-4E54-A7FE-37D32E96C758}"/>
              </a:ext>
            </a:extLst>
          </p:cNvPr>
          <p:cNvSpPr>
            <a:spLocks noGrp="1"/>
          </p:cNvSpPr>
          <p:nvPr/>
        </p:nvSpPr>
        <p:spPr>
          <a:xfrm>
            <a:off x="400050" y="42824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E5A93D"/>
                </a:solidFill>
              </a:defRPr>
            </a:pPr>
            <a:r>
              <a:rPr sz="1400" b="1">
                <a:solidFill>
                  <a:srgbClr val="E5A93D"/>
                </a:solidFill>
              </a:rPr>
              <a:t>怎样评价？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C3DE5D-51B9-4514-B313-10898BD7678F}"/>
              </a:ext>
            </a:extLst>
          </p:cNvPr>
          <p:cNvSpPr>
            <a:spLocks noGrp="1"/>
          </p:cNvSpPr>
          <p:nvPr/>
        </p:nvSpPr>
        <p:spPr>
          <a:xfrm>
            <a:off x="1866900" y="42824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六维协调质量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78162D-D832-42C9-8962-AD6C7AB967DF}"/>
              </a:ext>
            </a:extLst>
          </p:cNvPr>
          <p:cNvSpPr>
            <a:spLocks noGrp="1"/>
          </p:cNvSpPr>
          <p:nvPr/>
        </p:nvSpPr>
        <p:spPr>
          <a:xfrm>
            <a:off x="4057650" y="42824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评价框架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FC1CDB-58FA-4C6D-9F69-2DBA4815E711}"/>
              </a:ext>
            </a:extLst>
          </p:cNvPr>
          <p:cNvSpPr>
            <a:spLocks noGrp="1"/>
          </p:cNvSpPr>
          <p:nvPr/>
        </p:nvSpPr>
        <p:spPr>
          <a:xfrm>
            <a:off x="5943600" y="42824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公开轨迹与基准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A34C7F-C08A-4456-9769-C40B83B0FA19}"/>
              </a:ext>
            </a:extLst>
          </p:cNvPr>
          <p:cNvSpPr>
            <a:spLocks noGrp="1"/>
          </p:cNvSpPr>
          <p:nvPr/>
        </p:nvSpPr>
        <p:spPr>
          <a:xfrm>
            <a:off x="8534400" y="42824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第三部分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B7F8918-7CF6-4904-B36D-60FC0CBA0CA0}"/>
              </a:ext>
            </a:extLst>
          </p:cNvPr>
          <p:cNvSpPr>
            <a:spLocks noGrp="1"/>
          </p:cNvSpPr>
          <p:nvPr/>
        </p:nvSpPr>
        <p:spPr>
          <a:xfrm>
            <a:off x="400050" y="49301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D96C75"/>
                </a:solidFill>
              </a:defRPr>
            </a:pPr>
            <a:r>
              <a:rPr sz="1400" b="1">
                <a:solidFill>
                  <a:srgbClr val="D96C75"/>
                </a:solidFill>
              </a:rPr>
              <a:t>未来往哪走？</a:t>
            </a:r>
          </a:p>
          <a:p>
            <a:pPr algn="ctr">
              <a:buNone/>
              <a:defRPr sz="975" b="1">
                <a:solidFill>
                  <a:srgbClr val="D96C75"/>
                </a:solidFill>
              </a:defRPr>
            </a:pPr>
            <a:endParaRPr sz="1400" b="1">
              <a:solidFill>
                <a:srgbClr val="D96C75"/>
              </a:solidFill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F266DD-286D-4BDC-A9A8-CD64F4FB3FF7}"/>
              </a:ext>
            </a:extLst>
          </p:cNvPr>
          <p:cNvSpPr>
            <a:spLocks noGrp="1"/>
          </p:cNvSpPr>
          <p:nvPr/>
        </p:nvSpPr>
        <p:spPr>
          <a:xfrm>
            <a:off x="1866900" y="49301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八项开放挑战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E086E5-EAE1-4B16-80F4-4E59040142F2}"/>
              </a:ext>
            </a:extLst>
          </p:cNvPr>
          <p:cNvSpPr>
            <a:spLocks noGrp="1"/>
          </p:cNvSpPr>
          <p:nvPr/>
        </p:nvSpPr>
        <p:spPr>
          <a:xfrm>
            <a:off x="4057650" y="49301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研究议程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73378B7-2FC0-4D27-93A3-4F571C6AAB9E}"/>
              </a:ext>
            </a:extLst>
          </p:cNvPr>
          <p:cNvSpPr>
            <a:spLocks noGrp="1"/>
          </p:cNvSpPr>
          <p:nvPr/>
        </p:nvSpPr>
        <p:spPr>
          <a:xfrm>
            <a:off x="5943600" y="49301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104篇参考文献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4294AB2-D778-4AE8-9634-2C73B5089AD2}"/>
              </a:ext>
            </a:extLst>
          </p:cNvPr>
          <p:cNvSpPr>
            <a:spLocks noGrp="1"/>
          </p:cNvSpPr>
          <p:nvPr/>
        </p:nvSpPr>
        <p:spPr>
          <a:xfrm>
            <a:off x="8534400" y="49301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第三部分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endParaRPr sz="1200"/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81183E2F-EAA8-4608-B0AB-7CB196C30880}"/>
              </a:ext>
            </a:extLst>
          </p:cNvPr>
          <p:cNvSpPr>
            <a:spLocks noGrp="1"/>
          </p:cNvSpPr>
          <p:nvPr/>
        </p:nvSpPr>
        <p:spPr>
          <a:xfrm>
            <a:off x="2826385" y="5890260"/>
            <a:ext cx="6539230" cy="419100"/>
          </a:xfrm>
          <a:prstGeom prst="round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证据纪律：同行评审与政府评估优先；厂商自报数据以†标记，不直接视为独立结论</a:t>
            </a:r>
          </a:p>
        </p:txBody>
      </p:sp>
      <p:sp>
        <p:nvSpPr>
          <p:cNvPr id="92" name="page-number-3">
            <a:extLst>
              <a:ext uri="{FF2B5EF4-FFF2-40B4-BE49-F238E27FC236}">
                <a16:creationId xmlns:a16="http://schemas.microsoft.com/office/drawing/2014/main" id="{029C0BDE-FFD8-4753-8DFC-9F1265AA14D1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3 页</a:t>
            </a:r>
          </a:p>
        </p:txBody>
      </p:sp>
    </p:spTree>
    <p:extLst>
      <p:ext uri="{BB962C8B-B14F-4D97-AF65-F5344CB8AC3E}">
        <p14:creationId xmlns:p14="http://schemas.microsoft.com/office/powerpoint/2010/main" val="90000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57CA2B62-45EC-4C3E-AFD7-EBB01521BC8B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BADC3990-8EE3-405C-B369-24179BA68624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5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0E8831-9A57-4C09-B8B2-29C9AB10A47C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1.4  二维分类法：拓扑回答“谁控制”，适应性回答“能否变化”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DD07A-EFA3-43DC-9919-32E2478E5CAB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三种基础拓扑互斥，但每种都可以是静态或动态自适应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1A41494A-2C88-4F6A-B6D9-705F7F855185}"/>
              </a:ext>
            </a:extLst>
          </p:cNvPr>
          <p:cNvSpPr>
            <a:spLocks noGrp="1"/>
          </p:cNvSpPr>
          <p:nvPr/>
        </p:nvSpPr>
        <p:spPr>
          <a:xfrm>
            <a:off x="400050" y="1318260"/>
            <a:ext cx="5524500" cy="4427220"/>
          </a:xfrm>
          <a:prstGeom prst="roundRect">
            <a:avLst>
              <a:gd name="adj" fmla="val 1980"/>
            </a:avLst>
          </a:prstGeom>
          <a:noFill/>
          <a:ln w="11430">
            <a:solidFill>
              <a:srgbClr val="46A88A"/>
            </a:solidFill>
            <a:prstDash val="solid"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F9454C8-077C-4690-A4F8-3E78106D6310}"/>
              </a:ext>
            </a:extLst>
          </p:cNvPr>
          <p:cNvSpPr>
            <a:spLocks noGrp="1"/>
          </p:cNvSpPr>
          <p:nvPr/>
        </p:nvSpPr>
        <p:spPr>
          <a:xfrm>
            <a:off x="6267450" y="1318260"/>
            <a:ext cx="5524500" cy="4427220"/>
          </a:xfrm>
          <a:prstGeom prst="roundRect">
            <a:avLst>
              <a:gd name="adj" fmla="val 1980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736C1C2-F69F-4668-8BD3-6FCE56A1C800}"/>
              </a:ext>
            </a:extLst>
          </p:cNvPr>
          <p:cNvSpPr>
            <a:spLocks noGrp="1"/>
          </p:cNvSpPr>
          <p:nvPr/>
        </p:nvSpPr>
        <p:spPr>
          <a:xfrm>
            <a:off x="590550" y="1489710"/>
            <a:ext cx="1200150" cy="285750"/>
          </a:xfrm>
          <a:prstGeom prst="roundRect">
            <a:avLst>
              <a:gd name="adj" fmla="val 26667"/>
            </a:avLst>
          </a:prstGeom>
          <a:solidFill>
            <a:srgbClr val="46A88A"/>
          </a:solidFill>
          <a:ln w="11430">
            <a:solidFill>
              <a:srgbClr val="46A88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F6BABB-494F-48AF-A26A-D2E052676A11}"/>
              </a:ext>
            </a:extLst>
          </p:cNvPr>
          <p:cNvSpPr>
            <a:spLocks noGrp="1"/>
          </p:cNvSpPr>
          <p:nvPr/>
        </p:nvSpPr>
        <p:spPr>
          <a:xfrm>
            <a:off x="590550" y="148971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拓扑轴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2ECB7D-BABF-47D1-8FFF-5FB669E5EFDA}"/>
              </a:ext>
            </a:extLst>
          </p:cNvPr>
          <p:cNvSpPr>
            <a:spLocks noGrp="1"/>
          </p:cNvSpPr>
          <p:nvPr/>
        </p:nvSpPr>
        <p:spPr>
          <a:xfrm>
            <a:off x="1981200" y="1451610"/>
            <a:ext cx="3581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谁决定下一步？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A676FA2-3AC5-47AB-BE9B-F5E555A5DB6C}"/>
              </a:ext>
            </a:extLst>
          </p:cNvPr>
          <p:cNvSpPr>
            <a:spLocks noGrp="1"/>
          </p:cNvSpPr>
          <p:nvPr/>
        </p:nvSpPr>
        <p:spPr>
          <a:xfrm>
            <a:off x="1066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EAF7F2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48B026-36F9-4CF1-83F4-431D7E396BAC}"/>
              </a:ext>
            </a:extLst>
          </p:cNvPr>
          <p:cNvSpPr>
            <a:spLocks noGrp="1"/>
          </p:cNvSpPr>
          <p:nvPr/>
        </p:nvSpPr>
        <p:spPr>
          <a:xfrm>
            <a:off x="1066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集中式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B7E3DE9-DAC9-41D7-B8E8-C33012B50BD2}"/>
              </a:ext>
            </a:extLst>
          </p:cNvPr>
          <p:cNvSpPr>
            <a:spLocks noGrp="1"/>
          </p:cNvSpPr>
          <p:nvPr/>
        </p:nvSpPr>
        <p:spPr>
          <a:xfrm>
            <a:off x="2590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EDF5FB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F288C80-977E-4DC2-BFB8-AF20AD4B5603}"/>
              </a:ext>
            </a:extLst>
          </p:cNvPr>
          <p:cNvSpPr>
            <a:spLocks noGrp="1"/>
          </p:cNvSpPr>
          <p:nvPr/>
        </p:nvSpPr>
        <p:spPr>
          <a:xfrm>
            <a:off x="2590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去中心化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8624E11E-FAF8-4A2F-A85D-59BF0106489A}"/>
              </a:ext>
            </a:extLst>
          </p:cNvPr>
          <p:cNvSpPr>
            <a:spLocks noGrp="1"/>
          </p:cNvSpPr>
          <p:nvPr/>
        </p:nvSpPr>
        <p:spPr>
          <a:xfrm>
            <a:off x="4114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FFF5E3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D462CA-4740-4020-9F65-B05430793168}"/>
              </a:ext>
            </a:extLst>
          </p:cNvPr>
          <p:cNvSpPr>
            <a:spLocks noGrp="1"/>
          </p:cNvSpPr>
          <p:nvPr/>
        </p:nvSpPr>
        <p:spPr>
          <a:xfrm>
            <a:off x="4114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层级式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052CC393-4160-4A39-A562-A53C799992BB}"/>
              </a:ext>
            </a:extLst>
          </p:cNvPr>
          <p:cNvSpPr>
            <a:spLocks noGrp="1"/>
          </p:cNvSpPr>
          <p:nvPr/>
        </p:nvSpPr>
        <p:spPr>
          <a:xfrm>
            <a:off x="1104900" y="5227320"/>
            <a:ext cx="4114800" cy="285750"/>
          </a:xfrm>
          <a:prstGeom prst="roundRect">
            <a:avLst>
              <a:gd name="adj" fmla="val 26667"/>
            </a:avLst>
          </a:prstGeom>
          <a:solidFill>
            <a:srgbClr val="46A88A"/>
          </a:solidFill>
          <a:ln w="11430">
            <a:solidFill>
              <a:srgbClr val="46A88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1284BAE-CEAD-4558-AFD0-0E0C1BD53A45}"/>
              </a:ext>
            </a:extLst>
          </p:cNvPr>
          <p:cNvSpPr>
            <a:spLocks noGrp="1"/>
          </p:cNvSpPr>
          <p:nvPr/>
        </p:nvSpPr>
        <p:spPr>
          <a:xfrm>
            <a:off x="1104900" y="522732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比较：控制瓶颈、容错、通信与规模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816513A-E28D-44C5-A38C-6E817460914E}"/>
              </a:ext>
            </a:extLst>
          </p:cNvPr>
          <p:cNvSpPr>
            <a:spLocks noGrp="1"/>
          </p:cNvSpPr>
          <p:nvPr/>
        </p:nvSpPr>
        <p:spPr>
          <a:xfrm>
            <a:off x="6457950" y="1489710"/>
            <a:ext cx="180975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32B0FED-4F04-4A0D-BFE3-D61B71018395}"/>
              </a:ext>
            </a:extLst>
          </p:cNvPr>
          <p:cNvSpPr>
            <a:spLocks noGrp="1"/>
          </p:cNvSpPr>
          <p:nvPr/>
        </p:nvSpPr>
        <p:spPr>
          <a:xfrm>
            <a:off x="6457950" y="148971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适应性轴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B78C95-39A3-43F0-873E-6588AC6751F4}"/>
              </a:ext>
            </a:extLst>
          </p:cNvPr>
          <p:cNvSpPr>
            <a:spLocks noGrp="1"/>
          </p:cNvSpPr>
          <p:nvPr/>
        </p:nvSpPr>
        <p:spPr>
          <a:xfrm>
            <a:off x="8458200" y="145161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2E8FC3"/>
                </a:solidFill>
              </a:defRPr>
            </a:pPr>
            <a:r>
              <a:rPr sz="1500" b="1">
                <a:solidFill>
                  <a:srgbClr val="2E8FC3"/>
                </a:solidFill>
              </a:rPr>
              <a:t>运行时改变什么？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8F1CACC4-0911-4AEE-8C1E-5B5B9DE9AFDE}"/>
              </a:ext>
            </a:extLst>
          </p:cNvPr>
          <p:cNvSpPr>
            <a:spLocks noGrp="1"/>
          </p:cNvSpPr>
          <p:nvPr/>
        </p:nvSpPr>
        <p:spPr>
          <a:xfrm>
            <a:off x="670560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650A9FC-28DD-4A6D-B333-559ABECE9822}"/>
              </a:ext>
            </a:extLst>
          </p:cNvPr>
          <p:cNvSpPr>
            <a:spLocks noGrp="1"/>
          </p:cNvSpPr>
          <p:nvPr/>
        </p:nvSpPr>
        <p:spPr>
          <a:xfrm>
            <a:off x="670560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静态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7D5D752-9A0E-4F27-B22F-4676D06D040D}"/>
              </a:ext>
            </a:extLst>
          </p:cNvPr>
          <p:cNvSpPr>
            <a:spLocks noGrp="1"/>
          </p:cNvSpPr>
          <p:nvPr/>
        </p:nvSpPr>
        <p:spPr>
          <a:xfrm>
            <a:off x="7981950" y="216027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E8FC3"/>
                </a:solidFill>
              </a:defRPr>
            </a:pPr>
            <a:r>
              <a:rPr sz="180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7341483B-AB8B-4AF6-8A59-5DBB6D528B47}"/>
              </a:ext>
            </a:extLst>
          </p:cNvPr>
          <p:cNvSpPr>
            <a:spLocks noGrp="1"/>
          </p:cNvSpPr>
          <p:nvPr/>
        </p:nvSpPr>
        <p:spPr>
          <a:xfrm>
            <a:off x="836295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48EB19E-1070-4A12-80BE-6D4B7501DC9B}"/>
              </a:ext>
            </a:extLst>
          </p:cNvPr>
          <p:cNvSpPr>
            <a:spLocks noGrp="1"/>
          </p:cNvSpPr>
          <p:nvPr/>
        </p:nvSpPr>
        <p:spPr>
          <a:xfrm>
            <a:off x="836295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路由动态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9563DC8-6B36-4E7E-B8DF-DC494B49B77C}"/>
              </a:ext>
            </a:extLst>
          </p:cNvPr>
          <p:cNvSpPr>
            <a:spLocks noGrp="1"/>
          </p:cNvSpPr>
          <p:nvPr/>
        </p:nvSpPr>
        <p:spPr>
          <a:xfrm>
            <a:off x="9639300" y="216027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E8FC3"/>
                </a:solidFill>
              </a:defRPr>
            </a:pPr>
            <a:r>
              <a:rPr sz="180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00DAF644-2E13-4BA0-AAFF-2E7C40726617}"/>
              </a:ext>
            </a:extLst>
          </p:cNvPr>
          <p:cNvSpPr>
            <a:spLocks noGrp="1"/>
          </p:cNvSpPr>
          <p:nvPr/>
        </p:nvSpPr>
        <p:spPr>
          <a:xfrm>
            <a:off x="1002030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AE3280D-3F20-4DA3-8C42-7EA35B8A2A75}"/>
              </a:ext>
            </a:extLst>
          </p:cNvPr>
          <p:cNvSpPr>
            <a:spLocks noGrp="1"/>
          </p:cNvSpPr>
          <p:nvPr/>
        </p:nvSpPr>
        <p:spPr>
          <a:xfrm>
            <a:off x="1002030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组织动态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5B75A08-E937-448D-B657-89970A77558B}"/>
              </a:ext>
            </a:extLst>
          </p:cNvPr>
          <p:cNvSpPr>
            <a:spLocks noGrp="1"/>
          </p:cNvSpPr>
          <p:nvPr/>
        </p:nvSpPr>
        <p:spPr>
          <a:xfrm>
            <a:off x="6972300" y="5227320"/>
            <a:ext cx="411480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F26F301-65BE-47F7-91C4-58CD0B775C89}"/>
              </a:ext>
            </a:extLst>
          </p:cNvPr>
          <p:cNvSpPr>
            <a:spLocks noGrp="1"/>
          </p:cNvSpPr>
          <p:nvPr/>
        </p:nvSpPr>
        <p:spPr>
          <a:xfrm>
            <a:off x="6972300" y="522732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比较：可预测性、灵活性、成本与治理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CE2DD37-1AB3-4E87-9584-72431334D482}"/>
              </a:ext>
            </a:extLst>
          </p:cNvPr>
          <p:cNvSpPr>
            <a:spLocks noGrp="1"/>
          </p:cNvSpPr>
          <p:nvPr/>
        </p:nvSpPr>
        <p:spPr>
          <a:xfrm>
            <a:off x="2219325" y="220218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↔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A4DDDEA-AA12-4BF1-8265-83DDBCDB6120}"/>
              </a:ext>
            </a:extLst>
          </p:cNvPr>
          <p:cNvSpPr>
            <a:spLocks noGrp="1"/>
          </p:cNvSpPr>
          <p:nvPr/>
        </p:nvSpPr>
        <p:spPr>
          <a:xfrm>
            <a:off x="3743325" y="222123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↔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2B5A7F3-AB83-4E08-8A44-3D296A77FC44}"/>
              </a:ext>
            </a:extLst>
          </p:cNvPr>
          <p:cNvSpPr>
            <a:spLocks noGrp="1"/>
          </p:cNvSpPr>
          <p:nvPr/>
        </p:nvSpPr>
        <p:spPr>
          <a:xfrm>
            <a:off x="811530" y="2800350"/>
            <a:ext cx="459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6A88A"/>
                </a:solidFill>
              </a:defRPr>
            </a:pPr>
            <a:r>
              <a:rPr sz="1200" b="1">
                <a:solidFill>
                  <a:srgbClr val="46A88A"/>
                </a:solidFill>
              </a:rPr>
              <a:t>单一协调者分配任务并汇总结果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610DEAA-8CCC-49C0-92DF-6DEDA3CC4641}"/>
              </a:ext>
            </a:extLst>
          </p:cNvPr>
          <p:cNvSpPr>
            <a:spLocks noGrp="1"/>
          </p:cNvSpPr>
          <p:nvPr/>
        </p:nvSpPr>
        <p:spPr>
          <a:xfrm>
            <a:off x="6877685" y="2794000"/>
            <a:ext cx="462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规则、角色与连接在设计时预先确定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81F80B5-F59E-4DC9-B8E4-35A999E2FE2A}"/>
              </a:ext>
            </a:extLst>
          </p:cNvPr>
          <p:cNvSpPr>
            <a:spLocks noGrp="1"/>
          </p:cNvSpPr>
          <p:nvPr/>
        </p:nvSpPr>
        <p:spPr>
          <a:xfrm>
            <a:off x="1104900" y="33121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优点：全局可见、易审计；风险：单点瓶颈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8871726-5A0E-4814-8228-F9A03B81C30E}"/>
              </a:ext>
            </a:extLst>
          </p:cNvPr>
          <p:cNvSpPr>
            <a:spLocks noGrp="1"/>
          </p:cNvSpPr>
          <p:nvPr/>
        </p:nvSpPr>
        <p:spPr>
          <a:xfrm>
            <a:off x="1104900" y="37769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智能体对等协商，无唯一全局控制者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600E942-8E90-4776-BE60-5338AB763980}"/>
              </a:ext>
            </a:extLst>
          </p:cNvPr>
          <p:cNvSpPr>
            <a:spLocks noGrp="1"/>
          </p:cNvSpPr>
          <p:nvPr/>
        </p:nvSpPr>
        <p:spPr>
          <a:xfrm>
            <a:off x="1104900" y="42646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优点：容错和自治；风险：通信与收敛成本高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044B39A-FE56-48CB-A052-15C3451CA48D}"/>
              </a:ext>
            </a:extLst>
          </p:cNvPr>
          <p:cNvSpPr>
            <a:spLocks noGrp="1"/>
          </p:cNvSpPr>
          <p:nvPr/>
        </p:nvSpPr>
        <p:spPr>
          <a:xfrm>
            <a:off x="1104900" y="47294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管理者—子团队分层，局部自治、全局监督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73F1B41-5FB6-47F8-A9F6-16A43C251D46}"/>
              </a:ext>
            </a:extLst>
          </p:cNvPr>
          <p:cNvSpPr>
            <a:spLocks noGrp="1"/>
          </p:cNvSpPr>
          <p:nvPr/>
        </p:nvSpPr>
        <p:spPr>
          <a:xfrm>
            <a:off x="6972300" y="33121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根据状态选择下一节点，但成员集合不变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4BDE391-8C5C-456B-9115-290EAF640863}"/>
              </a:ext>
            </a:extLst>
          </p:cNvPr>
          <p:cNvSpPr>
            <a:spLocks noGrp="1"/>
          </p:cNvSpPr>
          <p:nvPr/>
        </p:nvSpPr>
        <p:spPr>
          <a:xfrm>
            <a:off x="6972300" y="37769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可扩展、可监督；风险是中层信息失真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D8EA5E7-E3F1-4AD0-918D-4D8D704BB616}"/>
              </a:ext>
            </a:extLst>
          </p:cNvPr>
          <p:cNvSpPr>
            <a:spLocks noGrp="1"/>
          </p:cNvSpPr>
          <p:nvPr/>
        </p:nvSpPr>
        <p:spPr>
          <a:xfrm>
            <a:off x="6972300" y="42646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可招募、淘汰、重组角色，甚至学习连接拓扑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E809FE6-9561-4ACD-AD39-2762FEEE7D95}"/>
              </a:ext>
            </a:extLst>
          </p:cNvPr>
          <p:cNvSpPr>
            <a:spLocks noGrp="1"/>
          </p:cNvSpPr>
          <p:nvPr/>
        </p:nvSpPr>
        <p:spPr>
          <a:xfrm>
            <a:off x="6972300" y="47294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适应性越强，复现、验证和安全治理越困难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037D876-2B60-426A-AE8C-82605F2C74F7}"/>
              </a:ext>
            </a:extLst>
          </p:cNvPr>
          <p:cNvSpPr>
            <a:spLocks noGrp="1"/>
          </p:cNvSpPr>
          <p:nvPr/>
        </p:nvSpPr>
        <p:spPr>
          <a:xfrm>
            <a:off x="1981200" y="6027420"/>
            <a:ext cx="8229600" cy="419100"/>
          </a:xfrm>
          <a:prstGeom prst="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400" b="1">
                <a:solidFill>
                  <a:srgbClr val="1F2D3D"/>
                </a:solidFill>
              </a:rPr>
              <a:t>分类时必须同时回答两个问题：控制权放在哪里？系统在运行中允许改变到什么程度？</a:t>
            </a:r>
          </a:p>
        </p:txBody>
      </p:sp>
      <p:sp>
        <p:nvSpPr>
          <p:cNvPr id="92" name="page-number-4">
            <a:extLst>
              <a:ext uri="{FF2B5EF4-FFF2-40B4-BE49-F238E27FC236}">
                <a16:creationId xmlns:a16="http://schemas.microsoft.com/office/drawing/2014/main" id="{E11641CA-9BB4-4E97-8D78-22B3AE89CBB2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4 页</a:t>
            </a:r>
          </a:p>
        </p:txBody>
      </p:sp>
    </p:spTree>
    <p:extLst>
      <p:ext uri="{BB962C8B-B14F-4D97-AF65-F5344CB8AC3E}">
        <p14:creationId xmlns:p14="http://schemas.microsoft.com/office/powerpoint/2010/main" val="90000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90A91331-C4F9-4F9E-9672-D7CC7D505BE2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C6C773BB-E874-4479-9C29-2FA5E16BC66E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6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698820E-0AB4-409D-A35F-0CF1D8128D53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1.5  3 × 2网格把抽象拓扑转成六种基本配置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803B8C-A4DE-4D7A-B697-E191DC6D9F7D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同一种拓扑在静态与动态条件下，会形成完全不同的成本、恢复和治理特征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3AF8612-0967-43FD-8A7B-C8EBD7108697}"/>
              </a:ext>
            </a:extLst>
          </p:cNvPr>
          <p:cNvSpPr>
            <a:spLocks noGrp="1"/>
          </p:cNvSpPr>
          <p:nvPr/>
        </p:nvSpPr>
        <p:spPr>
          <a:xfrm>
            <a:off x="514350" y="1360170"/>
            <a:ext cx="2724150" cy="285750"/>
          </a:xfrm>
          <a:prstGeom prst="roundRect">
            <a:avLst>
              <a:gd name="adj" fmla="val 26667"/>
            </a:avLst>
          </a:prstGeom>
          <a:solidFill>
            <a:srgbClr val="E5A93D"/>
          </a:solidFill>
          <a:ln w="11430">
            <a:solidFill>
              <a:srgbClr val="E5A93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1021B-2883-4662-B482-B21CC08E4D7C}"/>
              </a:ext>
            </a:extLst>
          </p:cNvPr>
          <p:cNvSpPr>
            <a:spLocks noGrp="1"/>
          </p:cNvSpPr>
          <p:nvPr/>
        </p:nvSpPr>
        <p:spPr>
          <a:xfrm>
            <a:off x="514350" y="136017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从基础拓扑到可选择配置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B6DB8E-23EC-4AEB-B080-E9042AE9B211}"/>
              </a:ext>
            </a:extLst>
          </p:cNvPr>
          <p:cNvSpPr>
            <a:spLocks noGrp="1"/>
          </p:cNvSpPr>
          <p:nvPr/>
        </p:nvSpPr>
        <p:spPr>
          <a:xfrm>
            <a:off x="3524250" y="134112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E5A93D"/>
                </a:solidFill>
              </a:defRPr>
            </a:pPr>
            <a:r>
              <a:rPr sz="1400" b="1">
                <a:solidFill>
                  <a:srgbClr val="E5A93D"/>
                </a:solidFill>
              </a:rPr>
              <a:t>横向看控制权，纵向看运行时变化；混合系统可跨越多个单元格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DAEC8A-37A1-4F5E-9FFB-055EF3C7DF5C}"/>
              </a:ext>
            </a:extLst>
          </p:cNvPr>
          <p:cNvSpPr>
            <a:spLocks noGrp="1"/>
          </p:cNvSpPr>
          <p:nvPr/>
        </p:nvSpPr>
        <p:spPr>
          <a:xfrm>
            <a:off x="64770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集中式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A0E249-29D5-4A04-8196-61E906143946}"/>
              </a:ext>
            </a:extLst>
          </p:cNvPr>
          <p:cNvSpPr>
            <a:spLocks noGrp="1"/>
          </p:cNvSpPr>
          <p:nvPr/>
        </p:nvSpPr>
        <p:spPr>
          <a:xfrm>
            <a:off x="281940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32BE72-4B58-4FE2-9C1F-F74E24530622}"/>
              </a:ext>
            </a:extLst>
          </p:cNvPr>
          <p:cNvSpPr>
            <a:spLocks noGrp="1"/>
          </p:cNvSpPr>
          <p:nvPr/>
        </p:nvSpPr>
        <p:spPr>
          <a:xfrm>
            <a:off x="344805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去中心化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B3D9A7-00DD-4CCF-841B-85C57700139B}"/>
              </a:ext>
            </a:extLst>
          </p:cNvPr>
          <p:cNvSpPr>
            <a:spLocks noGrp="1"/>
          </p:cNvSpPr>
          <p:nvPr/>
        </p:nvSpPr>
        <p:spPr>
          <a:xfrm>
            <a:off x="561975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6FCD2C-0594-4BCF-B582-2A35AAB1C947}"/>
              </a:ext>
            </a:extLst>
          </p:cNvPr>
          <p:cNvSpPr>
            <a:spLocks noGrp="1"/>
          </p:cNvSpPr>
          <p:nvPr/>
        </p:nvSpPr>
        <p:spPr>
          <a:xfrm>
            <a:off x="624840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层级式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5B4B41-1BC5-484C-8F38-0428C2FE309C}"/>
              </a:ext>
            </a:extLst>
          </p:cNvPr>
          <p:cNvSpPr>
            <a:spLocks noGrp="1"/>
          </p:cNvSpPr>
          <p:nvPr/>
        </p:nvSpPr>
        <p:spPr>
          <a:xfrm>
            <a:off x="842010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7E99A-BBCA-411B-ABE0-FD2EBF1BA663}"/>
              </a:ext>
            </a:extLst>
          </p:cNvPr>
          <p:cNvSpPr>
            <a:spLocks noGrp="1"/>
          </p:cNvSpPr>
          <p:nvPr/>
        </p:nvSpPr>
        <p:spPr>
          <a:xfrm>
            <a:off x="904875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混合 / 跨格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575512-4EF0-43E6-A412-51B078D3FCFE}"/>
              </a:ext>
            </a:extLst>
          </p:cNvPr>
          <p:cNvSpPr>
            <a:spLocks noGrp="1"/>
          </p:cNvSpPr>
          <p:nvPr/>
        </p:nvSpPr>
        <p:spPr>
          <a:xfrm>
            <a:off x="400050" y="2827020"/>
            <a:ext cx="1600200" cy="400050"/>
          </a:xfrm>
          <a:prstGeom prst="rect">
            <a:avLst/>
          </a:prstGeom>
          <a:solidFill>
            <a:srgbClr val="1769AA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拓扑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71141F-6FD1-45DB-8313-2422A2E5354B}"/>
              </a:ext>
            </a:extLst>
          </p:cNvPr>
          <p:cNvSpPr>
            <a:spLocks noGrp="1"/>
          </p:cNvSpPr>
          <p:nvPr/>
        </p:nvSpPr>
        <p:spPr>
          <a:xfrm>
            <a:off x="2000250" y="2827020"/>
            <a:ext cx="251460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静态配置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46C169-F37C-4C02-87D7-1B62318A082B}"/>
              </a:ext>
            </a:extLst>
          </p:cNvPr>
          <p:cNvSpPr>
            <a:spLocks noGrp="1"/>
          </p:cNvSpPr>
          <p:nvPr/>
        </p:nvSpPr>
        <p:spPr>
          <a:xfrm>
            <a:off x="4514850" y="2827020"/>
            <a:ext cx="329565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动态自适应配置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CEE943-0F9D-4FEB-BC38-264F77CC8BDF}"/>
              </a:ext>
            </a:extLst>
          </p:cNvPr>
          <p:cNvSpPr>
            <a:spLocks noGrp="1"/>
          </p:cNvSpPr>
          <p:nvPr/>
        </p:nvSpPr>
        <p:spPr>
          <a:xfrm>
            <a:off x="7810500" y="2827020"/>
            <a:ext cx="398145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主要取舍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0886D7-75C8-4EC6-999E-E5C921DC236F}"/>
              </a:ext>
            </a:extLst>
          </p:cNvPr>
          <p:cNvSpPr>
            <a:spLocks noGrp="1"/>
          </p:cNvSpPr>
          <p:nvPr/>
        </p:nvSpPr>
        <p:spPr>
          <a:xfrm>
            <a:off x="400050" y="32270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集中式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F395FF-0E7A-4648-8DD2-4729328A9372}"/>
              </a:ext>
            </a:extLst>
          </p:cNvPr>
          <p:cNvSpPr>
            <a:spLocks noGrp="1"/>
          </p:cNvSpPr>
          <p:nvPr/>
        </p:nvSpPr>
        <p:spPr>
          <a:xfrm>
            <a:off x="2000250" y="3227070"/>
            <a:ext cx="2514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固定协调者 + 预定义路由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07E4A3-3D52-4457-B13E-ED31F4AB8242}"/>
              </a:ext>
            </a:extLst>
          </p:cNvPr>
          <p:cNvSpPr>
            <a:spLocks noGrp="1"/>
          </p:cNvSpPr>
          <p:nvPr/>
        </p:nvSpPr>
        <p:spPr>
          <a:xfrm>
            <a:off x="4514850" y="3227070"/>
            <a:ext cx="32956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协调者按状态动态选择下一Agent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9A2C1B-28FA-4B4B-AA50-5D1CEAE9C9A8}"/>
              </a:ext>
            </a:extLst>
          </p:cNvPr>
          <p:cNvSpPr>
            <a:spLocks noGrp="1"/>
          </p:cNvSpPr>
          <p:nvPr/>
        </p:nvSpPr>
        <p:spPr>
          <a:xfrm>
            <a:off x="7810500" y="3227070"/>
            <a:ext cx="39814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可审计、易调试；存在瓶颈和单点风险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1DEC61-6709-4A8B-8DED-D4E2F5F4900C}"/>
              </a:ext>
            </a:extLst>
          </p:cNvPr>
          <p:cNvSpPr>
            <a:spLocks noGrp="1"/>
          </p:cNvSpPr>
          <p:nvPr/>
        </p:nvSpPr>
        <p:spPr>
          <a:xfrm>
            <a:off x="400050" y="37604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6A88A"/>
                </a:solidFill>
              </a:defRPr>
            </a:pPr>
            <a:r>
              <a:rPr sz="1400" b="1">
                <a:solidFill>
                  <a:srgbClr val="46A88A"/>
                </a:solidFill>
              </a:rPr>
              <a:t>去中心化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2954FD-CCCB-45A8-B11D-DF5AA2B7209F}"/>
              </a:ext>
            </a:extLst>
          </p:cNvPr>
          <p:cNvSpPr>
            <a:spLocks noGrp="1"/>
          </p:cNvSpPr>
          <p:nvPr/>
        </p:nvSpPr>
        <p:spPr>
          <a:xfrm>
            <a:off x="2000250" y="3760470"/>
            <a:ext cx="251460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固定对等角色 + 既定通信规则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54F99F9-C17E-477B-A58E-584B2DB581D5}"/>
              </a:ext>
            </a:extLst>
          </p:cNvPr>
          <p:cNvSpPr>
            <a:spLocks noGrp="1"/>
          </p:cNvSpPr>
          <p:nvPr/>
        </p:nvSpPr>
        <p:spPr>
          <a:xfrm>
            <a:off x="4514850" y="3760470"/>
            <a:ext cx="32956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运行中协商、招募或重组成员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5A442A-0171-42A7-B02E-A280DA106CFD}"/>
              </a:ext>
            </a:extLst>
          </p:cNvPr>
          <p:cNvSpPr>
            <a:spLocks noGrp="1"/>
          </p:cNvSpPr>
          <p:nvPr/>
        </p:nvSpPr>
        <p:spPr>
          <a:xfrm>
            <a:off x="7810500" y="3760470"/>
            <a:ext cx="39814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容错与自治强；通信成本和收敛难度高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08D7FA-DFDD-42A5-A833-355AED7B91DF}"/>
              </a:ext>
            </a:extLst>
          </p:cNvPr>
          <p:cNvSpPr>
            <a:spLocks noGrp="1"/>
          </p:cNvSpPr>
          <p:nvPr/>
        </p:nvSpPr>
        <p:spPr>
          <a:xfrm>
            <a:off x="400050" y="42938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层级式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A60072-9CAB-40F7-A6B4-F42BDA67E40C}"/>
              </a:ext>
            </a:extLst>
          </p:cNvPr>
          <p:cNvSpPr>
            <a:spLocks noGrp="1"/>
          </p:cNvSpPr>
          <p:nvPr/>
        </p:nvSpPr>
        <p:spPr>
          <a:xfrm>
            <a:off x="2000250" y="4293870"/>
            <a:ext cx="2514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固定管理层与子团队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083316C-95B2-46B3-888B-47124E37CC25}"/>
              </a:ext>
            </a:extLst>
          </p:cNvPr>
          <p:cNvSpPr>
            <a:spLocks noGrp="1"/>
          </p:cNvSpPr>
          <p:nvPr/>
        </p:nvSpPr>
        <p:spPr>
          <a:xfrm>
            <a:off x="4514850" y="4293870"/>
            <a:ext cx="32956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管理者重规划，子团队动态调整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E255BB3-1DDB-4DF4-8D4D-621CC66705F5}"/>
              </a:ext>
            </a:extLst>
          </p:cNvPr>
          <p:cNvSpPr>
            <a:spLocks noGrp="1"/>
          </p:cNvSpPr>
          <p:nvPr/>
        </p:nvSpPr>
        <p:spPr>
          <a:xfrm>
            <a:off x="7810500" y="4293870"/>
            <a:ext cx="39814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兼顾规模与监督；中层可能失真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1D6E79-18C6-48C0-AC28-8A9E3BDBAFCD}"/>
              </a:ext>
            </a:extLst>
          </p:cNvPr>
          <p:cNvSpPr>
            <a:spLocks noGrp="1"/>
          </p:cNvSpPr>
          <p:nvPr/>
        </p:nvSpPr>
        <p:spPr>
          <a:xfrm>
            <a:off x="400050" y="48272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96C75"/>
                </a:solidFill>
              </a:defRPr>
            </a:pPr>
            <a:r>
              <a:rPr sz="1400" b="1">
                <a:solidFill>
                  <a:srgbClr val="D96C75"/>
                </a:solidFill>
              </a:rPr>
              <a:t>混合式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6D5B9F6-729B-4F4E-B282-4D846F792EA4}"/>
              </a:ext>
            </a:extLst>
          </p:cNvPr>
          <p:cNvSpPr>
            <a:spLocks noGrp="1"/>
          </p:cNvSpPr>
          <p:nvPr/>
        </p:nvSpPr>
        <p:spPr>
          <a:xfrm>
            <a:off x="2000250" y="4827270"/>
            <a:ext cx="251460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不同阶段采用不同控制结构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E1CD484-C743-4374-A484-7DD8494724D2}"/>
              </a:ext>
            </a:extLst>
          </p:cNvPr>
          <p:cNvSpPr>
            <a:spLocks noGrp="1"/>
          </p:cNvSpPr>
          <p:nvPr/>
        </p:nvSpPr>
        <p:spPr>
          <a:xfrm>
            <a:off x="4514850" y="4827270"/>
            <a:ext cx="32956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在拓扑与适应性单元格间切换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71E840-72BE-4AD4-8EFC-7FB3B477DD10}"/>
              </a:ext>
            </a:extLst>
          </p:cNvPr>
          <p:cNvSpPr>
            <a:spLocks noGrp="1"/>
          </p:cNvSpPr>
          <p:nvPr/>
        </p:nvSpPr>
        <p:spPr>
          <a:xfrm>
            <a:off x="7810500" y="4827270"/>
            <a:ext cx="39814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灵活但最难验证，需要清晰状态边界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9B9E8EF-443A-44F0-AC5D-D8ED3D729F50}"/>
              </a:ext>
            </a:extLst>
          </p:cNvPr>
          <p:cNvSpPr>
            <a:spLocks noGrp="1"/>
          </p:cNvSpPr>
          <p:nvPr/>
        </p:nvSpPr>
        <p:spPr>
          <a:xfrm>
            <a:off x="1685925" y="5779770"/>
            <a:ext cx="8953500" cy="400050"/>
          </a:xfrm>
          <a:prstGeom prst="round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2D3D"/>
                </a:solidFill>
              </a:defRPr>
            </a:pPr>
            <a:r>
              <a:rPr sz="1400">
                <a:solidFill>
                  <a:srgbClr val="1F2D3D"/>
                </a:solidFill>
              </a:rPr>
              <a:t>动态不是第四种拓扑，而是一条正交轴；选择时应先定控制结构，再决定允许哪些运行时变化</a:t>
            </a:r>
          </a:p>
        </p:txBody>
      </p:sp>
      <p:sp>
        <p:nvSpPr>
          <p:cNvPr id="43" name="page-number-5">
            <a:extLst>
              <a:ext uri="{FF2B5EF4-FFF2-40B4-BE49-F238E27FC236}">
                <a16:creationId xmlns:a16="http://schemas.microsoft.com/office/drawing/2014/main" id="{4A4759F0-8A2B-4A4D-B35D-1F3DFAB98BFA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5 页</a:t>
            </a:r>
          </a:p>
        </p:txBody>
      </p:sp>
    </p:spTree>
    <p:extLst>
      <p:ext uri="{BB962C8B-B14F-4D97-AF65-F5344CB8AC3E}">
        <p14:creationId xmlns:p14="http://schemas.microsoft.com/office/powerpoint/2010/main" val="900000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F4EBB3C2-CF68-4BBC-BEFD-003A13040F6D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A46B2486-138D-4F35-BFF5-D504E694CCA0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2A499F-17A6-41B5-A7A0-8737E6CE9B95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1.6  选择编排模式：任务结构、规模与风险共同决定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FF2B94-CB09-417A-8455-F0845FE874B4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不存在普遍最优拓扑；先判断任务和控制边界，再决定是否引入动态变化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D38CE78-CA30-444E-A841-EB2607F965B0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36D0E83-037F-4FBE-AB81-8B88546018FD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4F59D5-BCBE-444E-BBC4-B51990911243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① 判断任务结构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6BD066A-9F29-44A9-A67C-921A9ED02430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3A1FE8-AFCC-4D30-B489-F821EA9D8565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流程已知、强调审计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9D9AF1-D5DE-4397-B4A8-00637A0C4F28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集中式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DA56156-2815-4645-B617-7DCCE3CD5CA5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5C7DA2-8AB7-4A64-BC34-5A0E8E81CD86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开放协商、要求容错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17B89C-9D17-4E35-B822-3B78AC8D9045}"/>
              </a:ext>
            </a:extLst>
          </p:cNvPr>
          <p:cNvSpPr>
            <a:spLocks noGrp="1"/>
          </p:cNvSpPr>
          <p:nvPr/>
        </p:nvSpPr>
        <p:spPr>
          <a:xfrm>
            <a:off x="34480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66C5D4"/>
                </a:solidFill>
              </a:defRPr>
            </a:pPr>
            <a:r>
              <a:rPr sz="1500" b="1">
                <a:solidFill>
                  <a:srgbClr val="66C5D4"/>
                </a:solidFill>
              </a:rPr>
              <a:t>去中心化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8C86F6-350B-41FF-935D-EEF81359D8CA}"/>
              </a:ext>
            </a:extLst>
          </p:cNvPr>
          <p:cNvSpPr>
            <a:spLocks noGrp="1"/>
          </p:cNvSpPr>
          <p:nvPr/>
        </p:nvSpPr>
        <p:spPr>
          <a:xfrm>
            <a:off x="60769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46A88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3CA0B5-163F-415C-90EE-A49986FDD0C9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Agent多、需要分层监督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CC4DDE-1B37-47DE-8C48-456B21E0BF80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层级式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88FB124-A1A8-4B2F-80F7-481CBEABC21C}"/>
              </a:ext>
            </a:extLst>
          </p:cNvPr>
          <p:cNvSpPr>
            <a:spLocks noGrp="1"/>
          </p:cNvSpPr>
          <p:nvPr/>
        </p:nvSpPr>
        <p:spPr>
          <a:xfrm>
            <a:off x="88201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A0059C-873A-4C70-A3F9-27AE57BE5F48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环境变化、需运行时调整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999080-D447-490A-8BEF-A4DD0DF486B5}"/>
              </a:ext>
            </a:extLst>
          </p:cNvPr>
          <p:cNvSpPr>
            <a:spLocks noGrp="1"/>
          </p:cNvSpPr>
          <p:nvPr/>
        </p:nvSpPr>
        <p:spPr>
          <a:xfrm>
            <a:off x="89344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E8FC3"/>
                </a:solidFill>
              </a:defRPr>
            </a:pPr>
            <a:r>
              <a:rPr sz="1500" b="1">
                <a:solidFill>
                  <a:srgbClr val="2E8FC3"/>
                </a:solidFill>
              </a:rPr>
              <a:t>+ 动态自适应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4BBE2B4-3520-466D-820D-F16670105FB1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A92D36D-A2F5-4AC2-B3C8-D66C9D22EBE3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42D10D-BB0A-4706-8A2A-14470E62D868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②  再验证约束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57B88B5-3694-4720-B774-1B269D4A8A25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3B699D-C659-4BA5-BCEA-2A25FDF2299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成本是否是刚性约束？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60AE32-D964-44EB-945D-17D33F0170C0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控通信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35AF27-321E-4351-A8FD-63BADD7AB25E}"/>
              </a:ext>
            </a:extLst>
          </p:cNvPr>
          <p:cNvSpPr>
            <a:spLocks noGrp="1"/>
          </p:cNvSpPr>
          <p:nvPr/>
        </p:nvSpPr>
        <p:spPr>
          <a:xfrm>
            <a:off x="18478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结构化产物 + 选择性消息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DCFFD-63F1-4213-A9E2-E8C8AFCFB5F5}"/>
              </a:ext>
            </a:extLst>
          </p:cNvPr>
          <p:cNvSpPr>
            <a:spLocks noGrp="1"/>
          </p:cNvSpPr>
          <p:nvPr/>
        </p:nvSpPr>
        <p:spPr>
          <a:xfrm>
            <a:off x="401955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A7FB3359-DF8F-4310-A070-3298EAE430B3}"/>
              </a:ext>
            </a:extLst>
          </p:cNvPr>
          <p:cNvSpPr>
            <a:spLocks noGrp="1"/>
          </p:cNvSpPr>
          <p:nvPr/>
        </p:nvSpPr>
        <p:spPr>
          <a:xfrm>
            <a:off x="445770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C97ED5-CDB6-4A56-9CC7-184329C5E5C9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是否需要跨组织协作？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437EA7-FA67-40BA-820A-53B2F4717D20}"/>
              </a:ext>
            </a:extLst>
          </p:cNvPr>
          <p:cNvSpPr>
            <a:spLocks noGrp="1"/>
          </p:cNvSpPr>
          <p:nvPr/>
        </p:nvSpPr>
        <p:spPr>
          <a:xfrm>
            <a:off x="461010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2E8FC3"/>
                </a:solidFill>
              </a:defRPr>
            </a:pPr>
            <a:r>
              <a:rPr sz="1575" b="1">
                <a:solidFill>
                  <a:srgbClr val="2E8FC3"/>
                </a:solidFill>
              </a:rPr>
              <a:t>强容错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938619-019E-4FF6-86B4-969CF8CB5516}"/>
              </a:ext>
            </a:extLst>
          </p:cNvPr>
          <p:cNvSpPr>
            <a:spLocks noGrp="1"/>
          </p:cNvSpPr>
          <p:nvPr/>
        </p:nvSpPr>
        <p:spPr>
          <a:xfrm>
            <a:off x="552450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对等协商 + 明确信任边界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D4E905-15EB-454E-AF53-FAD9D863D3D1}"/>
              </a:ext>
            </a:extLst>
          </p:cNvPr>
          <p:cNvSpPr>
            <a:spLocks noGrp="1"/>
          </p:cNvSpPr>
          <p:nvPr/>
        </p:nvSpPr>
        <p:spPr>
          <a:xfrm>
            <a:off x="769620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9BB176B-70CB-4EDD-AABC-2AE84798940A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D83203-A3C0-4103-822D-077746D87E9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是否属于高风险任务？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9A7052-E247-4402-BAB9-F3654054D766}"/>
              </a:ext>
            </a:extLst>
          </p:cNvPr>
          <p:cNvSpPr>
            <a:spLocks noGrp="1"/>
          </p:cNvSpPr>
          <p:nvPr/>
        </p:nvSpPr>
        <p:spPr>
          <a:xfrm>
            <a:off x="82867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66C5D4"/>
                </a:solidFill>
              </a:defRPr>
            </a:pPr>
            <a:r>
              <a:rPr sz="1575" b="1">
                <a:solidFill>
                  <a:srgbClr val="66C5D4"/>
                </a:solidFill>
              </a:rPr>
              <a:t>强监督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DF4A2E0-20E6-45A9-907B-C92A2431387D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集中审计 + 人工闸门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4971BB1-5B18-47F5-A515-B077A34BA754}"/>
              </a:ext>
            </a:extLst>
          </p:cNvPr>
          <p:cNvSpPr>
            <a:spLocks noGrp="1"/>
          </p:cNvSpPr>
          <p:nvPr/>
        </p:nvSpPr>
        <p:spPr>
          <a:xfrm>
            <a:off x="1657350" y="5505450"/>
            <a:ext cx="8877300" cy="381000"/>
          </a:xfrm>
          <a:prstGeom prst="roundRect">
            <a:avLst>
              <a:gd name="adj" fmla="val 20000"/>
            </a:avLst>
          </a:prstGeom>
          <a:solidFill>
            <a:srgbClr val="EAF5FB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2F6910-8807-4A4C-B934-9BA94F67D12C}"/>
              </a:ext>
            </a:extLst>
          </p:cNvPr>
          <p:cNvSpPr>
            <a:spLocks noGrp="1"/>
          </p:cNvSpPr>
          <p:nvPr/>
        </p:nvSpPr>
        <p:spPr>
          <a:xfrm>
            <a:off x="1847850" y="5524500"/>
            <a:ext cx="849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  <a:latin typeface="+mj-lt"/>
                <a:ea typeface="+mj-lt"/>
                <a:cs typeface="+mj-lt"/>
              </a:rPr>
              <a:t>选择结论：固定流程优先集中式；高容错偏去中心化；超过约10个Agent通常需要层级式；动态变化必须有可观测与回退机制</a:t>
            </a:r>
          </a:p>
        </p:txBody>
      </p:sp>
      <p:sp>
        <p:nvSpPr>
          <p:cNvPr id="46" name="page-number-6">
            <a:extLst>
              <a:ext uri="{FF2B5EF4-FFF2-40B4-BE49-F238E27FC236}">
                <a16:creationId xmlns:a16="http://schemas.microsoft.com/office/drawing/2014/main" id="{2B11BD49-1F46-4040-BE4B-DEDE30B0123B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6 页</a:t>
            </a:r>
          </a:p>
        </p:txBody>
      </p:sp>
    </p:spTree>
    <p:extLst>
      <p:ext uri="{BB962C8B-B14F-4D97-AF65-F5344CB8AC3E}">
        <p14:creationId xmlns:p14="http://schemas.microsoft.com/office/powerpoint/2010/main" val="900000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图片 10"/>
          <p:cNvPicPr>
            <a:picLocks noChangeAspect="1"/>
          </p:cNvPicPr>
          <p:nvPr/>
        </p:nvPicPr>
        <p:blipFill rotWithShape="1">
          <a:blip r:embed="rId3"/>
          <a:srcRect b="44399"/>
          <a:stretch>
            <a:fillRect/>
          </a:stretch>
        </p:blipFill>
        <p:spPr>
          <a:xfrm>
            <a:off x="0" y="20955"/>
            <a:ext cx="4824095" cy="3813175"/>
          </a:xfrm>
          <a:prstGeom prst="rect">
            <a:avLst/>
          </a:prstGeom>
        </p:spPr>
      </p:pic>
      <p:pic>
        <p:nvPicPr>
          <p:cNvPr id="189" name="图片 11"/>
          <p:cNvPicPr>
            <a:picLocks noChangeAspect="1"/>
          </p:cNvPicPr>
          <p:nvPr/>
        </p:nvPicPr>
        <p:blipFill rotWithShape="1">
          <a:blip r:embed="rId3"/>
          <a:srcRect t="55151"/>
          <a:stretch>
            <a:fillRect/>
          </a:stretch>
        </p:blipFill>
        <p:spPr>
          <a:xfrm>
            <a:off x="8025130" y="4253230"/>
            <a:ext cx="4166870" cy="2656840"/>
          </a:xfrm>
          <a:prstGeom prst="rect">
            <a:avLst/>
          </a:prstGeom>
        </p:spPr>
      </p:pic>
      <p:sp>
        <p:nvSpPr>
          <p:cNvPr id="6" name="矩形 150">
            <a:extLst>
              <a:ext uri="{FF2B5EF4-FFF2-40B4-BE49-F238E27FC236}">
                <a16:creationId xmlns:a16="http://schemas.microsoft.com/office/drawing/2014/main" id="{7E61090F-4A9F-4C4D-B741-0E249B5083AE}"/>
              </a:ext>
            </a:extLst>
          </p:cNvPr>
          <p:cNvSpPr>
            <a:spLocks noGrp="1"/>
          </p:cNvSpPr>
          <p:nvPr/>
        </p:nvSpPr>
        <p:spPr>
          <a:xfrm>
            <a:off x="2480220" y="2601099"/>
            <a:ext cx="1681734" cy="177214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3B3BF2BB-AA09-4356-BB7D-2004CD86F6A1}"/>
              </a:ext>
            </a:extLst>
          </p:cNvPr>
          <p:cNvSpPr>
            <a:spLocks noGrp="1"/>
          </p:cNvSpPr>
          <p:nvPr/>
        </p:nvSpPr>
        <p:spPr>
          <a:xfrm>
            <a:off x="2504017" y="2837900"/>
            <a:ext cx="1603918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494CC61-CC14-4D9E-86C3-7CAEB35110CB}"/>
              </a:ext>
            </a:extLst>
          </p:cNvPr>
          <p:cNvSpPr>
            <a:spLocks noGrp="1"/>
          </p:cNvSpPr>
          <p:nvPr/>
        </p:nvSpPr>
        <p:spPr>
          <a:xfrm>
            <a:off x="2467399" y="3957093"/>
            <a:ext cx="1694555" cy="65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A5EE92FC-BB38-4E06-88A7-9AE8F1F6EB3F}"/>
              </a:ext>
            </a:extLst>
          </p:cNvPr>
          <p:cNvSpPr>
            <a:spLocks noGrp="1"/>
          </p:cNvSpPr>
          <p:nvPr/>
        </p:nvSpPr>
        <p:spPr>
          <a:xfrm>
            <a:off x="4336415" y="3006725"/>
            <a:ext cx="6979920" cy="7044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R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000" b="0" i="0" u="none" cap="none" spc="-15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latin typeface="字体圈欣意冠黑体"/>
                <a:ea typeface="字体圈欣意冠黑体"/>
                <a:cs typeface="字体圈欣意冠黑体"/>
              </a:defRPr>
            </a:lvl1pPr>
          </a:lstStyle>
          <a:p>
            <a:pPr>
              <a:lnSpc>
                <a:spcPct val="110000"/>
              </a:lnSpc>
              <a:buNone/>
            </a:pPr>
            <a:r>
              <a:rPr sz="4400" b="1" dirty="0" err="1"/>
              <a:t>框架比较与通信协议</a:t>
            </a:r>
            <a:endParaRPr sz="4400" b="1" dirty="0"/>
          </a:p>
        </p:txBody>
      </p:sp>
    </p:spTree>
    <p:extLst>
      <p:ext uri="{BB962C8B-B14F-4D97-AF65-F5344CB8AC3E}">
        <p14:creationId xmlns:p14="http://schemas.microsoft.com/office/powerpoint/2010/main" val="15096550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2ED9C6F7-518F-4E0B-9765-C4C687D4ADA6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2FA81D98-F738-4363-9597-1F24EB4A4E5D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5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6F50022-04CB-4F16-BDD4-046D44E754A1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2.1  六类框架总览：核心原语决定工程能力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EB2AB7-1C5D-41D4-BDA9-E250F9887F9B}"/>
              </a:ext>
            </a:extLst>
          </p:cNvPr>
          <p:cNvSpPr>
            <a:spLocks noGrp="1"/>
          </p:cNvSpPr>
          <p:nvPr/>
        </p:nvSpPr>
        <p:spPr>
          <a:xfrm>
            <a:off x="400050" y="788670"/>
            <a:ext cx="876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比较重点不是功能多少，而是状态、控制、恢复与成本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8CCBB9-D7D1-4D62-B99C-69A7558D08E1}"/>
              </a:ext>
            </a:extLst>
          </p:cNvPr>
          <p:cNvSpPr>
            <a:spLocks noGrp="1"/>
          </p:cNvSpPr>
          <p:nvPr/>
        </p:nvSpPr>
        <p:spPr>
          <a:xfrm>
            <a:off x="400050" y="1272540"/>
            <a:ext cx="1466850" cy="419100"/>
          </a:xfrm>
          <a:prstGeom prst="rect">
            <a:avLst/>
          </a:prstGeom>
          <a:solidFill>
            <a:srgbClr val="1769AA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框架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612FD2-A053-4065-928E-D6C56F8D9D92}"/>
              </a:ext>
            </a:extLst>
          </p:cNvPr>
          <p:cNvSpPr>
            <a:spLocks noGrp="1"/>
          </p:cNvSpPr>
          <p:nvPr/>
        </p:nvSpPr>
        <p:spPr>
          <a:xfrm>
            <a:off x="1866900" y="1272540"/>
            <a:ext cx="21907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核心原语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18A1C2-21A8-4B62-B602-F5627C7ACEE9}"/>
              </a:ext>
            </a:extLst>
          </p:cNvPr>
          <p:cNvSpPr>
            <a:spLocks noGrp="1"/>
          </p:cNvSpPr>
          <p:nvPr/>
        </p:nvSpPr>
        <p:spPr>
          <a:xfrm>
            <a:off x="4057650" y="1272540"/>
            <a:ext cx="18859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默认组织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949418-82A8-44DF-A971-E23F42C9A01F}"/>
              </a:ext>
            </a:extLst>
          </p:cNvPr>
          <p:cNvSpPr>
            <a:spLocks noGrp="1"/>
          </p:cNvSpPr>
          <p:nvPr/>
        </p:nvSpPr>
        <p:spPr>
          <a:xfrm>
            <a:off x="5943600" y="1272540"/>
            <a:ext cx="259080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状态 / 恢复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5401EA4-4682-4911-8F01-A4E677D9805C}"/>
              </a:ext>
            </a:extLst>
          </p:cNvPr>
          <p:cNvSpPr>
            <a:spLocks noGrp="1"/>
          </p:cNvSpPr>
          <p:nvPr/>
        </p:nvSpPr>
        <p:spPr>
          <a:xfrm>
            <a:off x="8534400" y="1272540"/>
            <a:ext cx="3257550" cy="41910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优势、局限与场景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DCE03EC-1AB3-4ACF-8D5C-750DBCD8F2D1}"/>
              </a:ext>
            </a:extLst>
          </p:cNvPr>
          <p:cNvSpPr>
            <a:spLocks noGrp="1"/>
          </p:cNvSpPr>
          <p:nvPr/>
        </p:nvSpPr>
        <p:spPr>
          <a:xfrm>
            <a:off x="400050" y="16916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LangGraph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7F37DF-4545-4706-891F-311887157C85}"/>
              </a:ext>
            </a:extLst>
          </p:cNvPr>
          <p:cNvSpPr>
            <a:spLocks noGrp="1"/>
          </p:cNvSpPr>
          <p:nvPr/>
        </p:nvSpPr>
        <p:spPr>
          <a:xfrm>
            <a:off x="1866900" y="16916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状态图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F2E542-9125-48B9-BEE5-3C1D1BF2BF16}"/>
              </a:ext>
            </a:extLst>
          </p:cNvPr>
          <p:cNvSpPr>
            <a:spLocks noGrp="1"/>
          </p:cNvSpPr>
          <p:nvPr/>
        </p:nvSpPr>
        <p:spPr>
          <a:xfrm>
            <a:off x="4057650" y="16916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集中 / 层级 / 动态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DA491F-04D5-4579-A47D-E5CA0DDCD278}"/>
              </a:ext>
            </a:extLst>
          </p:cNvPr>
          <p:cNvSpPr>
            <a:spLocks noGrp="1"/>
          </p:cNvSpPr>
          <p:nvPr/>
        </p:nvSpPr>
        <p:spPr>
          <a:xfrm>
            <a:off x="5943600" y="16916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显式 typed state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逐次变更检查点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C0C2160-D61F-437A-ADAE-CFABC4EFC375}"/>
              </a:ext>
            </a:extLst>
          </p:cNvPr>
          <p:cNvSpPr>
            <a:spLocks noGrp="1"/>
          </p:cNvSpPr>
          <p:nvPr/>
        </p:nvSpPr>
        <p:spPr>
          <a:xfrm>
            <a:off x="8534400" y="16916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强控制、可回放；定义繁琐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适合关键业务与长流程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6D10964-2027-47E1-B752-F5CB30CD5A98}"/>
              </a:ext>
            </a:extLst>
          </p:cNvPr>
          <p:cNvSpPr>
            <a:spLocks noGrp="1"/>
          </p:cNvSpPr>
          <p:nvPr/>
        </p:nvSpPr>
        <p:spPr>
          <a:xfrm>
            <a:off x="400050" y="23393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CrewAI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25641B-43F2-40BD-A301-F6B445061E02}"/>
              </a:ext>
            </a:extLst>
          </p:cNvPr>
          <p:cNvSpPr>
            <a:spLocks noGrp="1"/>
          </p:cNvSpPr>
          <p:nvPr/>
        </p:nvSpPr>
        <p:spPr>
          <a:xfrm>
            <a:off x="1866900" y="23393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4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角色团队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E042A29-C9D5-4F6C-8510-E3DADD842BA4}"/>
              </a:ext>
            </a:extLst>
          </p:cNvPr>
          <p:cNvSpPr>
            <a:spLocks noGrp="1"/>
          </p:cNvSpPr>
          <p:nvPr/>
        </p:nvSpPr>
        <p:spPr>
          <a:xfrm>
            <a:off x="4057650" y="23393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顺序 / 经理层级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8F51A4C-B85C-4025-ADA9-96DE2CA3A778}"/>
              </a:ext>
            </a:extLst>
          </p:cNvPr>
          <p:cNvSpPr>
            <a:spLocks noGrp="1"/>
          </p:cNvSpPr>
          <p:nvPr/>
        </p:nvSpPr>
        <p:spPr>
          <a:xfrm>
            <a:off x="5943600" y="23393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对话上下文 + 统一记忆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无任意状态回放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A2C862-06EA-4C5D-8605-05FC78781253}"/>
              </a:ext>
            </a:extLst>
          </p:cNvPr>
          <p:cNvSpPr>
            <a:spLocks noGrp="1"/>
          </p:cNvSpPr>
          <p:nvPr/>
        </p:nvSpPr>
        <p:spPr>
          <a:xfrm>
            <a:off x="8534400" y="23393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直观、快速；特殊流程受限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适合角色明确的团队任务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D421B67-925E-4DB0-9946-46E4CB0EAADD}"/>
              </a:ext>
            </a:extLst>
          </p:cNvPr>
          <p:cNvSpPr>
            <a:spLocks noGrp="1"/>
          </p:cNvSpPr>
          <p:nvPr/>
        </p:nvSpPr>
        <p:spPr>
          <a:xfrm>
            <a:off x="400050" y="29870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46A88A"/>
                </a:solidFill>
              </a:defRPr>
            </a:pPr>
            <a:r>
              <a:rPr sz="1400" b="1">
                <a:solidFill>
                  <a:srgbClr val="46A88A"/>
                </a:solidFill>
              </a:rPr>
              <a:t>AutoGen /</a:t>
            </a:r>
          </a:p>
          <a:p>
            <a:pPr algn="ctr">
              <a:buNone/>
              <a:defRPr sz="975" b="1">
                <a:solidFill>
                  <a:srgbClr val="46A88A"/>
                </a:solidFill>
              </a:defRPr>
            </a:pPr>
            <a:r>
              <a:rPr sz="1400" b="1">
                <a:solidFill>
                  <a:srgbClr val="46A88A"/>
                </a:solidFill>
              </a:rPr>
              <a:t>MS Agent Framework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FB3FB69-4A7A-4364-9341-6268D8A48A04}"/>
              </a:ext>
            </a:extLst>
          </p:cNvPr>
          <p:cNvSpPr>
            <a:spLocks noGrp="1"/>
          </p:cNvSpPr>
          <p:nvPr/>
        </p:nvSpPr>
        <p:spPr>
          <a:xfrm>
            <a:off x="1866900" y="29870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多轮对话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AC9A19A-A414-4D95-AEFE-9CBDECB3C5FD}"/>
              </a:ext>
            </a:extLst>
          </p:cNvPr>
          <p:cNvSpPr>
            <a:spLocks noGrp="1"/>
          </p:cNvSpPr>
          <p:nvPr/>
        </p:nvSpPr>
        <p:spPr>
          <a:xfrm>
            <a:off x="4057650" y="29870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动态 GroupChat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E7C7CB7-B2F3-4518-AF9B-FF0C7E58F42A}"/>
              </a:ext>
            </a:extLst>
          </p:cNvPr>
          <p:cNvSpPr>
            <a:spLocks noGrp="1"/>
          </p:cNvSpPr>
          <p:nvPr/>
        </p:nvSpPr>
        <p:spPr>
          <a:xfrm>
            <a:off x="5943600" y="29870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对话历史 + Sessions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回滚粒度较粗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BB7A9C9-BCDB-4735-B0C5-58E235245A88}"/>
              </a:ext>
            </a:extLst>
          </p:cNvPr>
          <p:cNvSpPr>
            <a:spLocks noGrp="1"/>
          </p:cNvSpPr>
          <p:nvPr/>
        </p:nvSpPr>
        <p:spPr>
          <a:xfrm>
            <a:off x="8534400" y="29870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开放协商；token高、可能误路由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适合迭代、辩论与审阅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8520A73-0F20-40EF-A901-46F23C94BBB0}"/>
              </a:ext>
            </a:extLst>
          </p:cNvPr>
          <p:cNvSpPr>
            <a:spLocks noGrp="1"/>
          </p:cNvSpPr>
          <p:nvPr/>
        </p:nvSpPr>
        <p:spPr>
          <a:xfrm>
            <a:off x="400050" y="36347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OpenAI</a:t>
            </a:r>
          </a:p>
          <a:p>
            <a:pPr algn="ctr">
              <a:buNone/>
              <a:defRPr sz="975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Agents SDK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075709-39F8-4486-87BA-348B9FE7FD29}"/>
              </a:ext>
            </a:extLst>
          </p:cNvPr>
          <p:cNvSpPr>
            <a:spLocks noGrp="1"/>
          </p:cNvSpPr>
          <p:nvPr/>
        </p:nvSpPr>
        <p:spPr>
          <a:xfrm>
            <a:off x="1866900" y="36347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handoff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77EABDB-FE1F-4331-ACD3-3D4FB3EE5D8C}"/>
              </a:ext>
            </a:extLst>
          </p:cNvPr>
          <p:cNvSpPr>
            <a:spLocks noGrp="1"/>
          </p:cNvSpPr>
          <p:nvPr/>
        </p:nvSpPr>
        <p:spPr>
          <a:xfrm>
            <a:off x="4057650" y="36347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集中 / 层级交接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DCA777A-67A9-4DA3-8C9E-3CDE995C1C49}"/>
              </a:ext>
            </a:extLst>
          </p:cNvPr>
          <p:cNvSpPr>
            <a:spLocks noGrp="1"/>
          </p:cNvSpPr>
          <p:nvPr/>
        </p:nvSpPr>
        <p:spPr>
          <a:xfrm>
            <a:off x="5943600" y="36347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Sessions + Tracing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无任意状态回放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7858DD2-167F-4072-B9AA-CF7F61760C84}"/>
              </a:ext>
            </a:extLst>
          </p:cNvPr>
          <p:cNvSpPr>
            <a:spLocks noGrp="1"/>
          </p:cNvSpPr>
          <p:nvPr/>
        </p:nvSpPr>
        <p:spPr>
          <a:xfrm>
            <a:off x="8534400" y="36347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轻量、清晰；复杂同步需自建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适合明确路由与快速上线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DEB9CB3-C830-4E54-A7FE-37D32E96C758}"/>
              </a:ext>
            </a:extLst>
          </p:cNvPr>
          <p:cNvSpPr>
            <a:spLocks noGrp="1"/>
          </p:cNvSpPr>
          <p:nvPr/>
        </p:nvSpPr>
        <p:spPr>
          <a:xfrm>
            <a:off x="400050" y="42824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E5A93D"/>
                </a:solidFill>
              </a:defRPr>
            </a:pPr>
            <a:r>
              <a:rPr sz="1400" b="1">
                <a:solidFill>
                  <a:srgbClr val="E5A93D"/>
                </a:solidFill>
              </a:rPr>
              <a:t>MetaGPT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6C3DE5D-51B9-4514-B313-10898BD7678F}"/>
              </a:ext>
            </a:extLst>
          </p:cNvPr>
          <p:cNvSpPr>
            <a:spLocks noGrp="1"/>
          </p:cNvSpPr>
          <p:nvPr/>
        </p:nvSpPr>
        <p:spPr>
          <a:xfrm>
            <a:off x="1866900" y="4282440"/>
            <a:ext cx="21907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SOP + 文档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8378162D-D832-42C9-8962-AD6C7AB967DF}"/>
              </a:ext>
            </a:extLst>
          </p:cNvPr>
          <p:cNvSpPr>
            <a:spLocks noGrp="1"/>
          </p:cNvSpPr>
          <p:nvPr/>
        </p:nvSpPr>
        <p:spPr>
          <a:xfrm>
            <a:off x="4057650" y="4282440"/>
            <a:ext cx="18859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层级 + 发布订阅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0FC1CDB-58FA-4C6D-9F69-2DBA4815E711}"/>
              </a:ext>
            </a:extLst>
          </p:cNvPr>
          <p:cNvSpPr>
            <a:spLocks noGrp="1"/>
          </p:cNvSpPr>
          <p:nvPr/>
        </p:nvSpPr>
        <p:spPr>
          <a:xfrm>
            <a:off x="5943600" y="4282440"/>
            <a:ext cx="259080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共享消息池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结构化产物交接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3A34C7F-C08A-4456-9769-C40B83B0FA19}"/>
              </a:ext>
            </a:extLst>
          </p:cNvPr>
          <p:cNvSpPr>
            <a:spLocks noGrp="1"/>
          </p:cNvSpPr>
          <p:nvPr/>
        </p:nvSpPr>
        <p:spPr>
          <a:xfrm>
            <a:off x="8534400" y="4282440"/>
            <a:ext cx="3257550" cy="6477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低噪、可审计；偏软件流程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适合标准化流水线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8B7F8918-7CF6-4904-B36D-60FC0CBA0CA0}"/>
              </a:ext>
            </a:extLst>
          </p:cNvPr>
          <p:cNvSpPr>
            <a:spLocks noGrp="1"/>
          </p:cNvSpPr>
          <p:nvPr/>
        </p:nvSpPr>
        <p:spPr>
          <a:xfrm>
            <a:off x="400050" y="4930140"/>
            <a:ext cx="1466850" cy="6477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D96C75"/>
                </a:solidFill>
              </a:defRPr>
            </a:pPr>
            <a:r>
              <a:rPr sz="1400" b="1">
                <a:solidFill>
                  <a:srgbClr val="D96C75"/>
                </a:solidFill>
              </a:rPr>
              <a:t>DSPy /</a:t>
            </a:r>
          </a:p>
          <a:p>
            <a:pPr algn="ctr">
              <a:buNone/>
              <a:defRPr sz="975" b="1">
                <a:solidFill>
                  <a:srgbClr val="D96C75"/>
                </a:solidFill>
              </a:defRPr>
            </a:pPr>
            <a:r>
              <a:rPr sz="1400" b="1">
                <a:solidFill>
                  <a:srgbClr val="D96C75"/>
                </a:solidFill>
              </a:rPr>
              <a:t>自进化框架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7F266DD-286D-4BDC-A9A8-CD64F4FB3FF7}"/>
              </a:ext>
            </a:extLst>
          </p:cNvPr>
          <p:cNvSpPr>
            <a:spLocks noGrp="1"/>
          </p:cNvSpPr>
          <p:nvPr/>
        </p:nvSpPr>
        <p:spPr>
          <a:xfrm>
            <a:off x="1866900" y="4930140"/>
            <a:ext cx="21907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可优化程序 / 图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6E086E5-EAE1-4B16-80F4-4E59040142F2}"/>
              </a:ext>
            </a:extLst>
          </p:cNvPr>
          <p:cNvSpPr>
            <a:spLocks noGrp="1"/>
          </p:cNvSpPr>
          <p:nvPr/>
        </p:nvSpPr>
        <p:spPr>
          <a:xfrm>
            <a:off x="4057650" y="4930140"/>
            <a:ext cx="18859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动态适应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73378B7-2FC0-4D27-93A3-4F571C6AAB9E}"/>
              </a:ext>
            </a:extLst>
          </p:cNvPr>
          <p:cNvSpPr>
            <a:spLocks noGrp="1"/>
          </p:cNvSpPr>
          <p:nvPr/>
        </p:nvSpPr>
        <p:spPr>
          <a:xfrm>
            <a:off x="5943600" y="4930140"/>
            <a:ext cx="259080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指标驱动优化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角色、成员、拓扑可学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4294AB2-D778-4AE8-9634-2C73B5089AD2}"/>
              </a:ext>
            </a:extLst>
          </p:cNvPr>
          <p:cNvSpPr>
            <a:spLocks noGrp="1"/>
          </p:cNvSpPr>
          <p:nvPr/>
        </p:nvSpPr>
        <p:spPr>
          <a:xfrm>
            <a:off x="8534400" y="4930140"/>
            <a:ext cx="3257550" cy="6477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减少手工编排；难复现与治理</a:t>
            </a:r>
          </a:p>
          <a:p>
            <a:pPr algn="ctr">
              <a:buClrTx/>
              <a:buSzTx/>
              <a:buFontTx/>
              <a:buNone/>
              <a:defRPr sz="940" b="0">
                <a:solidFill>
                  <a:srgbClr val="1F2D3D"/>
                </a:solidFill>
              </a:defRPr>
            </a:pPr>
            <a:r>
              <a:rPr sz="1200"/>
              <a:t>适合可量化优化任务</a:t>
            </a:r>
          </a:p>
        </p:txBody>
      </p:sp>
      <p:sp>
        <p:nvSpPr>
          <p:cNvPr id="89" name="圆角矩形 88">
            <a:extLst>
              <a:ext uri="{FF2B5EF4-FFF2-40B4-BE49-F238E27FC236}">
                <a16:creationId xmlns:a16="http://schemas.microsoft.com/office/drawing/2014/main" id="{81183E2F-EAA8-4608-B0AB-7CB196C30880}"/>
              </a:ext>
            </a:extLst>
          </p:cNvPr>
          <p:cNvSpPr>
            <a:spLocks noGrp="1"/>
          </p:cNvSpPr>
          <p:nvPr/>
        </p:nvSpPr>
        <p:spPr>
          <a:xfrm>
            <a:off x="2826385" y="5890260"/>
            <a:ext cx="6539230" cy="419100"/>
          </a:xfrm>
          <a:prstGeom prst="round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400" b="0">
                <a:solidFill>
                  <a:schemeClr val="tx1"/>
                </a:solidFill>
              </a:rPr>
              <a:t>选型三问：状态要回放吗？路径已知吗？动态协商值得吗？</a:t>
            </a:r>
          </a:p>
        </p:txBody>
      </p:sp>
      <p:sp>
        <p:nvSpPr>
          <p:cNvPr id="92" name="page-number-7">
            <a:extLst>
              <a:ext uri="{FF2B5EF4-FFF2-40B4-BE49-F238E27FC236}">
                <a16:creationId xmlns:a16="http://schemas.microsoft.com/office/drawing/2014/main" id="{BC4CADDB-FE9B-4DE2-AA28-BC42071DAACF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7 页</a:t>
            </a:r>
          </a:p>
        </p:txBody>
      </p:sp>
    </p:spTree>
    <p:extLst>
      <p:ext uri="{BB962C8B-B14F-4D97-AF65-F5344CB8AC3E}">
        <p14:creationId xmlns:p14="http://schemas.microsoft.com/office/powerpoint/2010/main" val="671621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C21CEDB7-E0CC-4EFF-82D8-357C6180FEC6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23C9DFBD-0CE0-4B48-877F-8A5EFB6E91C9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B0D9566-CC04-480F-8905-885432AC9BE0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2.2  LangGraph 与 CrewAI：控制精度vs团队直觉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BEC661C-ACA5-414B-976A-F7521AD36E1F}"/>
              </a:ext>
            </a:extLst>
          </p:cNvPr>
          <p:cNvSpPr>
            <a:spLocks noGrp="1"/>
          </p:cNvSpPr>
          <p:nvPr/>
        </p:nvSpPr>
        <p:spPr>
          <a:xfrm>
            <a:off x="400050" y="82296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需要精确回放选LangGraph；需要快速组队选CrewAI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236AF19-3D00-49F4-AC99-74DA6DD185B2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2343150" cy="285750"/>
          </a:xfrm>
          <a:prstGeom prst="roundRect">
            <a:avLst>
              <a:gd name="adj" fmla="val 26667"/>
            </a:avLst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CDB5B6B-2FBC-4764-B306-1146EF6DCF26}"/>
              </a:ext>
            </a:extLst>
          </p:cNvPr>
          <p:cNvSpPr>
            <a:spLocks noGrp="1"/>
          </p:cNvSpPr>
          <p:nvPr/>
        </p:nvSpPr>
        <p:spPr>
          <a:xfrm>
            <a:off x="647700" y="1371600"/>
            <a:ext cx="2343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LangGraph｜图即状态机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8B7DAC8E-AADD-4A05-A24E-176C0BE37550}"/>
              </a:ext>
            </a:extLst>
          </p:cNvPr>
          <p:cNvSpPr>
            <a:spLocks noGrp="1"/>
          </p:cNvSpPr>
          <p:nvPr/>
        </p:nvSpPr>
        <p:spPr>
          <a:xfrm>
            <a:off x="9201150" y="1371600"/>
            <a:ext cx="2343150" cy="285750"/>
          </a:xfrm>
          <a:prstGeom prst="roundRect">
            <a:avLst>
              <a:gd name="adj" fmla="val 26667"/>
            </a:avLst>
          </a:prstGeom>
          <a:solidFill>
            <a:srgbClr val="66C5D4"/>
          </a:solidFill>
          <a:ln w="11430">
            <a:solidFill>
              <a:srgbClr val="66C5D4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2C2958D-8992-4E27-8F52-0A33C2268B4A}"/>
              </a:ext>
            </a:extLst>
          </p:cNvPr>
          <p:cNvSpPr>
            <a:spLocks noGrp="1"/>
          </p:cNvSpPr>
          <p:nvPr/>
        </p:nvSpPr>
        <p:spPr>
          <a:xfrm>
            <a:off x="9201150" y="1371600"/>
            <a:ext cx="2343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CrewAI｜团队即角色分工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A153EE8-7FA2-43E9-A462-FAAD0073BD3C}"/>
              </a:ext>
            </a:extLst>
          </p:cNvPr>
          <p:cNvSpPr>
            <a:spLocks noGrp="1"/>
          </p:cNvSpPr>
          <p:nvPr/>
        </p:nvSpPr>
        <p:spPr>
          <a:xfrm>
            <a:off x="400050" y="1866900"/>
            <a:ext cx="476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节点 + 条件边；开发者显式定义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839D102-F6C9-489C-B438-E0999D272388}"/>
              </a:ext>
            </a:extLst>
          </p:cNvPr>
          <p:cNvSpPr>
            <a:spLocks noGrp="1"/>
          </p:cNvSpPr>
          <p:nvPr/>
        </p:nvSpPr>
        <p:spPr>
          <a:xfrm>
            <a:off x="5314950" y="1866900"/>
            <a:ext cx="1562100" cy="55245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控制流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E6FBF0-B274-4644-85D2-36F8EB10D18C}"/>
              </a:ext>
            </a:extLst>
          </p:cNvPr>
          <p:cNvSpPr>
            <a:spLocks noGrp="1"/>
          </p:cNvSpPr>
          <p:nvPr/>
        </p:nvSpPr>
        <p:spPr>
          <a:xfrm>
            <a:off x="7029450" y="1866900"/>
            <a:ext cx="476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Agent + Task + Crew；流程由角色和任务表达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47A971-94ED-4339-B9EC-6FB6A21F06F6}"/>
              </a:ext>
            </a:extLst>
          </p:cNvPr>
          <p:cNvSpPr>
            <a:spLocks noGrp="1"/>
          </p:cNvSpPr>
          <p:nvPr/>
        </p:nvSpPr>
        <p:spPr>
          <a:xfrm>
            <a:off x="400050" y="2552700"/>
            <a:ext cx="4762500" cy="55245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Typed state + reducer；共享更新可合并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7285E2-AEFB-4097-A54F-A9E0711D292B}"/>
              </a:ext>
            </a:extLst>
          </p:cNvPr>
          <p:cNvSpPr>
            <a:spLocks noGrp="1"/>
          </p:cNvSpPr>
          <p:nvPr/>
        </p:nvSpPr>
        <p:spPr>
          <a:xfrm>
            <a:off x="5314950" y="2552700"/>
            <a:ext cx="1562100" cy="55245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状态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333DDA-E63D-4F85-8A39-6F05562AC3BF}"/>
              </a:ext>
            </a:extLst>
          </p:cNvPr>
          <p:cNvSpPr>
            <a:spLocks noGrp="1"/>
          </p:cNvSpPr>
          <p:nvPr/>
        </p:nvSpPr>
        <p:spPr>
          <a:xfrm>
            <a:off x="7029450" y="2552700"/>
            <a:ext cx="4762500" cy="55245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对话上下文 + 短期/长期/实体/用户记忆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F5D2F78-076E-41B9-BE9A-A4E135B8B363}"/>
              </a:ext>
            </a:extLst>
          </p:cNvPr>
          <p:cNvSpPr>
            <a:spLocks noGrp="1"/>
          </p:cNvSpPr>
          <p:nvPr/>
        </p:nvSpPr>
        <p:spPr>
          <a:xfrm>
            <a:off x="400050" y="3238500"/>
            <a:ext cx="476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每次状态变更可检查点、暂停、回放、回滚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DE5E27B-52DB-4A2A-A583-3B62816E7B52}"/>
              </a:ext>
            </a:extLst>
          </p:cNvPr>
          <p:cNvSpPr>
            <a:spLocks noGrp="1"/>
          </p:cNvSpPr>
          <p:nvPr/>
        </p:nvSpPr>
        <p:spPr>
          <a:xfrm>
            <a:off x="5314950" y="3238500"/>
            <a:ext cx="1562100" cy="55245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恢复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2E73AB3-CCE3-4EB7-AF35-6EA147FAAD4D}"/>
              </a:ext>
            </a:extLst>
          </p:cNvPr>
          <p:cNvSpPr>
            <a:spLocks noGrp="1"/>
          </p:cNvSpPr>
          <p:nvPr/>
        </p:nvSpPr>
        <p:spPr>
          <a:xfrm>
            <a:off x="7029450" y="3238500"/>
            <a:ext cx="476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max_iter / retry；无任意状态快照回放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6881269-0A14-476F-8084-5FC78FB4BF09}"/>
              </a:ext>
            </a:extLst>
          </p:cNvPr>
          <p:cNvSpPr>
            <a:spLocks noGrp="1"/>
          </p:cNvSpPr>
          <p:nvPr/>
        </p:nvSpPr>
        <p:spPr>
          <a:xfrm>
            <a:off x="400050" y="3924300"/>
            <a:ext cx="4762500" cy="55245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样板代码多；复杂分支图难维护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BB361F4-0695-4EE1-8ABF-18A751BB2875}"/>
              </a:ext>
            </a:extLst>
          </p:cNvPr>
          <p:cNvSpPr>
            <a:spLocks noGrp="1"/>
          </p:cNvSpPr>
          <p:nvPr/>
        </p:nvSpPr>
        <p:spPr>
          <a:xfrm>
            <a:off x="5314950" y="3924300"/>
            <a:ext cx="1562100" cy="55245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代价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04C747D-D084-433D-ABBD-7889BA00B67B}"/>
              </a:ext>
            </a:extLst>
          </p:cNvPr>
          <p:cNvSpPr>
            <a:spLocks noGrp="1"/>
          </p:cNvSpPr>
          <p:nvPr/>
        </p:nvSpPr>
        <p:spPr>
          <a:xfrm>
            <a:off x="7029450" y="3924300"/>
            <a:ext cx="4762500" cy="55245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经理委派增加token；非标准流程表达受限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A0D064E-AB67-4E3F-B730-3BB17513DA49}"/>
              </a:ext>
            </a:extLst>
          </p:cNvPr>
          <p:cNvSpPr>
            <a:spLocks noGrp="1"/>
          </p:cNvSpPr>
          <p:nvPr/>
        </p:nvSpPr>
        <p:spPr>
          <a:xfrm>
            <a:off x="400050" y="4800600"/>
            <a:ext cx="5334000" cy="723900"/>
          </a:xfrm>
          <a:prstGeom prst="rect">
            <a:avLst/>
          </a:prstGeom>
          <a:solidFill>
            <a:srgbClr val="EAF5FB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769AA"/>
                </a:solidFill>
              </a:defRPr>
            </a:pPr>
            <a:r>
              <a:rPr b="1">
                <a:solidFill>
                  <a:srgbClr val="1769AA"/>
                </a:solidFill>
              </a:rPr>
              <a:t>复杂、长运行、强审计：金融审批 / 临床工作流 / 人工闸门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47E4830-17B4-406F-A836-489D13AC39AF}"/>
              </a:ext>
            </a:extLst>
          </p:cNvPr>
          <p:cNvSpPr>
            <a:spLocks noGrp="1"/>
          </p:cNvSpPr>
          <p:nvPr/>
        </p:nvSpPr>
        <p:spPr>
          <a:xfrm>
            <a:off x="6457950" y="4800600"/>
            <a:ext cx="5334000" cy="723900"/>
          </a:xfrm>
          <a:prstGeom prst="rect">
            <a:avLst/>
          </a:prstGeom>
          <a:solidFill>
            <a:srgbClr val="ECF9FA"/>
          </a:solidFill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66C5D4"/>
                </a:solidFill>
              </a:defRPr>
            </a:pPr>
            <a:r>
              <a:rPr b="1">
                <a:solidFill>
                  <a:srgbClr val="66C5D4"/>
                </a:solidFill>
              </a:rPr>
              <a:t>角色明确、快速原型：研究团队 / 内容流程 / 经理式委派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B8502CD-39A4-42D9-A33F-94BB6132A782}"/>
              </a:ext>
            </a:extLst>
          </p:cNvPr>
          <p:cNvSpPr>
            <a:spLocks noGrp="1"/>
          </p:cNvSpPr>
          <p:nvPr/>
        </p:nvSpPr>
        <p:spPr>
          <a:xfrm>
            <a:off x="3319145" y="587184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050" b="1">
                <a:solidFill>
                  <a:srgbClr val="1769AA"/>
                </a:solidFill>
              </a:defRPr>
            </a:pPr>
            <a:r>
              <a:rPr sz="1400">
                <a:solidFill>
                  <a:srgbClr val="1769AA"/>
                </a:solidFill>
              </a:rPr>
              <a:t>更强控制与可恢复性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5ACD712-C50A-40AF-AE60-F9BB6C69337C}"/>
              </a:ext>
            </a:extLst>
          </p:cNvPr>
          <p:cNvSpPr>
            <a:spLocks noGrp="1"/>
          </p:cNvSpPr>
          <p:nvPr/>
        </p:nvSpPr>
        <p:spPr>
          <a:xfrm>
            <a:off x="5479415" y="5864860"/>
            <a:ext cx="114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5B6775"/>
                </a:solidFill>
              </a:defRPr>
            </a:pPr>
            <a:r>
              <a:rPr sz="1400">
                <a:solidFill>
                  <a:srgbClr val="5B6775"/>
                </a:solidFill>
              </a:rPr>
              <a:t>←  取舍  →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87A0B1-5F4C-4FD9-A1FF-B64BFCAE7EFC}"/>
              </a:ext>
            </a:extLst>
          </p:cNvPr>
          <p:cNvSpPr>
            <a:spLocks noGrp="1"/>
          </p:cNvSpPr>
          <p:nvPr/>
        </p:nvSpPr>
        <p:spPr>
          <a:xfrm>
            <a:off x="6651625" y="588391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050" b="1">
                <a:solidFill>
                  <a:srgbClr val="66C5D4"/>
                </a:solidFill>
              </a:defRPr>
            </a:pPr>
            <a:r>
              <a:rPr sz="1400">
                <a:solidFill>
                  <a:srgbClr val="66C5D4"/>
                </a:solidFill>
              </a:rPr>
              <a:t>更低建模与上手成本</a:t>
            </a:r>
          </a:p>
        </p:txBody>
      </p:sp>
      <p:sp>
        <p:nvSpPr>
          <p:cNvPr id="33" name="page-number-8">
            <a:extLst>
              <a:ext uri="{FF2B5EF4-FFF2-40B4-BE49-F238E27FC236}">
                <a16:creationId xmlns:a16="http://schemas.microsoft.com/office/drawing/2014/main" id="{C49E6FAB-E939-4928-81F4-6A8CC8B96A17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8 页</a:t>
            </a:r>
          </a:p>
        </p:txBody>
      </p:sp>
    </p:spTree>
    <p:extLst>
      <p:ext uri="{BB962C8B-B14F-4D97-AF65-F5344CB8AC3E}">
        <p14:creationId xmlns:p14="http://schemas.microsoft.com/office/powerpoint/2010/main" val="9752252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57CA2B62-45EC-4C3E-AFD7-EBB01521BC8B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BADC3990-8EE3-405C-B369-24179BA68624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95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70E8831-9A57-4C09-B8B2-29C9AB10A47C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2.3  AutoGen 与 Agents SDK：动态对话vs明确交接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E4DD07A-EFA3-43DC-9919-32E2478E5CAB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9048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关键问题不是“能否多Agent”，而是“下一步由谁、依据什么决定”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1A41494A-2C88-4F6A-B6D9-705F7F855185}"/>
              </a:ext>
            </a:extLst>
          </p:cNvPr>
          <p:cNvSpPr>
            <a:spLocks noGrp="1"/>
          </p:cNvSpPr>
          <p:nvPr/>
        </p:nvSpPr>
        <p:spPr>
          <a:xfrm>
            <a:off x="400050" y="1318260"/>
            <a:ext cx="5524500" cy="4427220"/>
          </a:xfrm>
          <a:prstGeom prst="roundRect">
            <a:avLst>
              <a:gd name="adj" fmla="val 1980"/>
            </a:avLst>
          </a:prstGeom>
          <a:noFill/>
          <a:ln w="11430">
            <a:solidFill>
              <a:srgbClr val="46A88A"/>
            </a:solidFill>
            <a:prstDash val="solid"/>
          </a:ln>
        </p:spPr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F9454C8-077C-4690-A4F8-3E78106D6310}"/>
              </a:ext>
            </a:extLst>
          </p:cNvPr>
          <p:cNvSpPr>
            <a:spLocks noGrp="1"/>
          </p:cNvSpPr>
          <p:nvPr/>
        </p:nvSpPr>
        <p:spPr>
          <a:xfrm>
            <a:off x="6267450" y="1318260"/>
            <a:ext cx="5524500" cy="4427220"/>
          </a:xfrm>
          <a:prstGeom prst="roundRect">
            <a:avLst>
              <a:gd name="adj" fmla="val 1980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736C1C2-F69F-4668-8BD3-6FCE56A1C800}"/>
              </a:ext>
            </a:extLst>
          </p:cNvPr>
          <p:cNvSpPr>
            <a:spLocks noGrp="1"/>
          </p:cNvSpPr>
          <p:nvPr/>
        </p:nvSpPr>
        <p:spPr>
          <a:xfrm>
            <a:off x="590550" y="1489710"/>
            <a:ext cx="1200150" cy="285750"/>
          </a:xfrm>
          <a:prstGeom prst="roundRect">
            <a:avLst>
              <a:gd name="adj" fmla="val 26667"/>
            </a:avLst>
          </a:prstGeom>
          <a:solidFill>
            <a:srgbClr val="46A88A"/>
          </a:solidFill>
          <a:ln w="11430">
            <a:solidFill>
              <a:srgbClr val="46A88A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F6BABB-494F-48AF-A26A-D2E052676A11}"/>
              </a:ext>
            </a:extLst>
          </p:cNvPr>
          <p:cNvSpPr>
            <a:spLocks noGrp="1"/>
          </p:cNvSpPr>
          <p:nvPr/>
        </p:nvSpPr>
        <p:spPr>
          <a:xfrm>
            <a:off x="590550" y="1489710"/>
            <a:ext cx="1200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AutoGen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22ECB7D-BABF-47D1-8FFF-5FB669E5EFDA}"/>
              </a:ext>
            </a:extLst>
          </p:cNvPr>
          <p:cNvSpPr>
            <a:spLocks noGrp="1"/>
          </p:cNvSpPr>
          <p:nvPr/>
        </p:nvSpPr>
        <p:spPr>
          <a:xfrm>
            <a:off x="1981200" y="1451610"/>
            <a:ext cx="35814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对话选择下一位发言者</a:t>
            </a: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AA676FA2-3AC5-47AB-BE9B-F5E555A5DB6C}"/>
              </a:ext>
            </a:extLst>
          </p:cNvPr>
          <p:cNvSpPr>
            <a:spLocks noGrp="1"/>
          </p:cNvSpPr>
          <p:nvPr/>
        </p:nvSpPr>
        <p:spPr>
          <a:xfrm>
            <a:off x="1066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EAF7F2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48B026-36F9-4CF1-83F4-431D7E396BAC}"/>
              </a:ext>
            </a:extLst>
          </p:cNvPr>
          <p:cNvSpPr>
            <a:spLocks noGrp="1"/>
          </p:cNvSpPr>
          <p:nvPr/>
        </p:nvSpPr>
        <p:spPr>
          <a:xfrm>
            <a:off x="1066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规划者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4B7E3DE9-DAC9-41D7-B8E8-C33012B50BD2}"/>
              </a:ext>
            </a:extLst>
          </p:cNvPr>
          <p:cNvSpPr>
            <a:spLocks noGrp="1"/>
          </p:cNvSpPr>
          <p:nvPr/>
        </p:nvSpPr>
        <p:spPr>
          <a:xfrm>
            <a:off x="2590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EDF5FB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F288C80-977E-4DC2-BFB8-AF20AD4B5603}"/>
              </a:ext>
            </a:extLst>
          </p:cNvPr>
          <p:cNvSpPr>
            <a:spLocks noGrp="1"/>
          </p:cNvSpPr>
          <p:nvPr/>
        </p:nvSpPr>
        <p:spPr>
          <a:xfrm>
            <a:off x="2590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执行者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8624E11E-FAF8-4A2F-A85D-59BF0106489A}"/>
              </a:ext>
            </a:extLst>
          </p:cNvPr>
          <p:cNvSpPr>
            <a:spLocks noGrp="1"/>
          </p:cNvSpPr>
          <p:nvPr/>
        </p:nvSpPr>
        <p:spPr>
          <a:xfrm>
            <a:off x="4114800" y="2068830"/>
            <a:ext cx="1047750" cy="609600"/>
          </a:xfrm>
          <a:prstGeom prst="roundRect">
            <a:avLst>
              <a:gd name="adj" fmla="val 12500"/>
            </a:avLst>
          </a:prstGeom>
          <a:solidFill>
            <a:srgbClr val="FFF5E3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D462CA-4740-4020-9F65-B05430793168}"/>
              </a:ext>
            </a:extLst>
          </p:cNvPr>
          <p:cNvSpPr>
            <a:spLocks noGrp="1"/>
          </p:cNvSpPr>
          <p:nvPr/>
        </p:nvSpPr>
        <p:spPr>
          <a:xfrm>
            <a:off x="4114800" y="2068830"/>
            <a:ext cx="1047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审阅者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052CC393-4160-4A39-A562-A53C799992BB}"/>
              </a:ext>
            </a:extLst>
          </p:cNvPr>
          <p:cNvSpPr>
            <a:spLocks noGrp="1"/>
          </p:cNvSpPr>
          <p:nvPr/>
        </p:nvSpPr>
        <p:spPr>
          <a:xfrm>
            <a:off x="1104900" y="5227320"/>
            <a:ext cx="4114800" cy="285750"/>
          </a:xfrm>
          <a:prstGeom prst="roundRect">
            <a:avLst>
              <a:gd name="adj" fmla="val 26667"/>
            </a:avLst>
          </a:prstGeom>
          <a:solidFill>
            <a:srgbClr val="46A88A"/>
          </a:solidFill>
          <a:ln w="11430">
            <a:solidFill>
              <a:srgbClr val="46A88A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1284BAE-CEAD-4558-AFD0-0E0C1BD53A45}"/>
              </a:ext>
            </a:extLst>
          </p:cNvPr>
          <p:cNvSpPr>
            <a:spLocks noGrp="1"/>
          </p:cNvSpPr>
          <p:nvPr/>
        </p:nvSpPr>
        <p:spPr>
          <a:xfrm>
            <a:off x="1104900" y="522732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适用：头脑风暴、迭代改写、对抗审阅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816513A-E28D-44C5-A38C-6E817460914E}"/>
              </a:ext>
            </a:extLst>
          </p:cNvPr>
          <p:cNvSpPr>
            <a:spLocks noGrp="1"/>
          </p:cNvSpPr>
          <p:nvPr/>
        </p:nvSpPr>
        <p:spPr>
          <a:xfrm>
            <a:off x="6457950" y="1489710"/>
            <a:ext cx="180975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32B0FED-4F04-4A0D-BFE3-D61B71018395}"/>
              </a:ext>
            </a:extLst>
          </p:cNvPr>
          <p:cNvSpPr>
            <a:spLocks noGrp="1"/>
          </p:cNvSpPr>
          <p:nvPr/>
        </p:nvSpPr>
        <p:spPr>
          <a:xfrm>
            <a:off x="6457950" y="1489710"/>
            <a:ext cx="1809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OpenAI Agents SDK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C8B78C95-39A3-43F0-873E-6588AC6751F4}"/>
              </a:ext>
            </a:extLst>
          </p:cNvPr>
          <p:cNvSpPr>
            <a:spLocks noGrp="1"/>
          </p:cNvSpPr>
          <p:nvPr/>
        </p:nvSpPr>
        <p:spPr>
          <a:xfrm>
            <a:off x="8458200" y="1451610"/>
            <a:ext cx="2952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500" b="1">
                <a:solidFill>
                  <a:srgbClr val="2E8FC3"/>
                </a:solidFill>
              </a:defRPr>
            </a:pPr>
            <a:r>
              <a:rPr sz="1500" b="1">
                <a:solidFill>
                  <a:srgbClr val="2E8FC3"/>
                </a:solidFill>
              </a:rPr>
              <a:t>handoff 作为最小原语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8F1CACC4-0911-4AEE-8C1E-5B5B9DE9AFDE}"/>
              </a:ext>
            </a:extLst>
          </p:cNvPr>
          <p:cNvSpPr>
            <a:spLocks noGrp="1"/>
          </p:cNvSpPr>
          <p:nvPr/>
        </p:nvSpPr>
        <p:spPr>
          <a:xfrm>
            <a:off x="670560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D650A9FC-28DD-4A6D-B333-559ABECE9822}"/>
              </a:ext>
            </a:extLst>
          </p:cNvPr>
          <p:cNvSpPr>
            <a:spLocks noGrp="1"/>
          </p:cNvSpPr>
          <p:nvPr/>
        </p:nvSpPr>
        <p:spPr>
          <a:xfrm>
            <a:off x="670560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接待 Agent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C7D5D752-9A0E-4F27-B22F-4676D06D040D}"/>
              </a:ext>
            </a:extLst>
          </p:cNvPr>
          <p:cNvSpPr>
            <a:spLocks noGrp="1"/>
          </p:cNvSpPr>
          <p:nvPr/>
        </p:nvSpPr>
        <p:spPr>
          <a:xfrm>
            <a:off x="7981950" y="216027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E8FC3"/>
                </a:solidFill>
              </a:defRPr>
            </a:pPr>
            <a:r>
              <a:rPr sz="180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7341483B-AB8B-4AF6-8A59-5DBB6D528B47}"/>
              </a:ext>
            </a:extLst>
          </p:cNvPr>
          <p:cNvSpPr>
            <a:spLocks noGrp="1"/>
          </p:cNvSpPr>
          <p:nvPr/>
        </p:nvSpPr>
        <p:spPr>
          <a:xfrm>
            <a:off x="836295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D48EB19E-1070-4A12-80BE-6D4B7501DC9B}"/>
              </a:ext>
            </a:extLst>
          </p:cNvPr>
          <p:cNvSpPr>
            <a:spLocks noGrp="1"/>
          </p:cNvSpPr>
          <p:nvPr/>
        </p:nvSpPr>
        <p:spPr>
          <a:xfrm>
            <a:off x="836295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专家 Agent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69563DC8-6B36-4E7E-B8DF-DC494B49B77C}"/>
              </a:ext>
            </a:extLst>
          </p:cNvPr>
          <p:cNvSpPr>
            <a:spLocks noGrp="1"/>
          </p:cNvSpPr>
          <p:nvPr/>
        </p:nvSpPr>
        <p:spPr>
          <a:xfrm>
            <a:off x="9639300" y="216027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2E8FC3"/>
                </a:solidFill>
              </a:defRPr>
            </a:pPr>
            <a:r>
              <a:rPr sz="180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60" name="圆角矩形 59">
            <a:extLst>
              <a:ext uri="{FF2B5EF4-FFF2-40B4-BE49-F238E27FC236}">
                <a16:creationId xmlns:a16="http://schemas.microsoft.com/office/drawing/2014/main" id="{00DAF644-2E13-4BA0-AAFF-2E7C40726617}"/>
              </a:ext>
            </a:extLst>
          </p:cNvPr>
          <p:cNvSpPr>
            <a:spLocks noGrp="1"/>
          </p:cNvSpPr>
          <p:nvPr/>
        </p:nvSpPr>
        <p:spPr>
          <a:xfrm>
            <a:off x="10020300" y="2045970"/>
            <a:ext cx="1238250" cy="609600"/>
          </a:xfrm>
          <a:prstGeom prst="roundRect">
            <a:avLst>
              <a:gd name="adj" fmla="val 12500"/>
            </a:avLst>
          </a:prstGeom>
          <a:solidFill>
            <a:srgbClr val="EAF5FB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5AE3280D-3F20-4DA3-8C42-7EA35B8A2A75}"/>
              </a:ext>
            </a:extLst>
          </p:cNvPr>
          <p:cNvSpPr>
            <a:spLocks noGrp="1"/>
          </p:cNvSpPr>
          <p:nvPr/>
        </p:nvSpPr>
        <p:spPr>
          <a:xfrm>
            <a:off x="10020300" y="2045970"/>
            <a:ext cx="1238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200" b="1">
                <a:solidFill>
                  <a:srgbClr val="1F2D3D"/>
                </a:solidFill>
              </a:rPr>
              <a:t>结果 Agent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E5B75A08-E937-448D-B657-89970A77558B}"/>
              </a:ext>
            </a:extLst>
          </p:cNvPr>
          <p:cNvSpPr>
            <a:spLocks noGrp="1"/>
          </p:cNvSpPr>
          <p:nvPr/>
        </p:nvSpPr>
        <p:spPr>
          <a:xfrm>
            <a:off x="6972300" y="5227320"/>
            <a:ext cx="411480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F26F301-65BE-47F7-91C4-58CD0B775C89}"/>
              </a:ext>
            </a:extLst>
          </p:cNvPr>
          <p:cNvSpPr>
            <a:spLocks noGrp="1"/>
          </p:cNvSpPr>
          <p:nvPr/>
        </p:nvSpPr>
        <p:spPr>
          <a:xfrm>
            <a:off x="6972300" y="5227320"/>
            <a:ext cx="4114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适用：轻量交接、快速上线、明确路由</a:t>
            </a: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7CE2DD37-1AB3-4E87-9584-72431334D482}"/>
              </a:ext>
            </a:extLst>
          </p:cNvPr>
          <p:cNvSpPr>
            <a:spLocks noGrp="1"/>
          </p:cNvSpPr>
          <p:nvPr/>
        </p:nvSpPr>
        <p:spPr>
          <a:xfrm>
            <a:off x="2219325" y="220218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↔</a:t>
            </a: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7A4DDDEA-AA12-4BF1-8265-83DDBCDB6120}"/>
              </a:ext>
            </a:extLst>
          </p:cNvPr>
          <p:cNvSpPr>
            <a:spLocks noGrp="1"/>
          </p:cNvSpPr>
          <p:nvPr/>
        </p:nvSpPr>
        <p:spPr>
          <a:xfrm>
            <a:off x="3743325" y="2221230"/>
            <a:ext cx="2667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↔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42B5A7F3-AB83-4E08-8A44-3D296A77FC44}"/>
              </a:ext>
            </a:extLst>
          </p:cNvPr>
          <p:cNvSpPr>
            <a:spLocks noGrp="1"/>
          </p:cNvSpPr>
          <p:nvPr/>
        </p:nvSpPr>
        <p:spPr>
          <a:xfrm>
            <a:off x="811530" y="2800350"/>
            <a:ext cx="4591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6A88A"/>
                </a:solidFill>
              </a:defRPr>
            </a:pPr>
            <a:r>
              <a:rPr sz="1200" b="1">
                <a:solidFill>
                  <a:srgbClr val="46A88A"/>
                </a:solidFill>
              </a:rPr>
              <a:t>GroupChatManager：auto / round_robin / random / manual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610DEAA-8CCC-49C0-92DF-6DEDA3CC4641}"/>
              </a:ext>
            </a:extLst>
          </p:cNvPr>
          <p:cNvSpPr>
            <a:spLocks noGrp="1"/>
          </p:cNvSpPr>
          <p:nvPr/>
        </p:nvSpPr>
        <p:spPr>
          <a:xfrm>
            <a:off x="6877685" y="2794000"/>
            <a:ext cx="4629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transfer_to_… + input filter + on_handoff</a:t>
            </a: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881F80B5-F59E-4DC9-B8E4-35A999E2FE2A}"/>
              </a:ext>
            </a:extLst>
          </p:cNvPr>
          <p:cNvSpPr>
            <a:spLocks noGrp="1"/>
          </p:cNvSpPr>
          <p:nvPr/>
        </p:nvSpPr>
        <p:spPr>
          <a:xfrm>
            <a:off x="1104900" y="33121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共享对话历史 + LLM / 规则选发言者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8871726-5A0E-4814-8228-F9A03B81C30E}"/>
              </a:ext>
            </a:extLst>
          </p:cNvPr>
          <p:cNvSpPr>
            <a:spLocks noGrp="1"/>
          </p:cNvSpPr>
          <p:nvPr/>
        </p:nvSpPr>
        <p:spPr>
          <a:xfrm>
            <a:off x="1104900" y="37769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对话历史；MS Agent Framework增加Sessions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3600E942-8E90-4776-BE60-5338AB763980}"/>
              </a:ext>
            </a:extLst>
          </p:cNvPr>
          <p:cNvSpPr>
            <a:spLocks noGrp="1"/>
          </p:cNvSpPr>
          <p:nvPr/>
        </p:nvSpPr>
        <p:spPr>
          <a:xfrm>
            <a:off x="1104900" y="42646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高：适合未知路径、迭代与协商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044B39A-FE56-48CB-A052-15C3451CA48D}"/>
              </a:ext>
            </a:extLst>
          </p:cNvPr>
          <p:cNvSpPr>
            <a:spLocks noGrp="1"/>
          </p:cNvSpPr>
          <p:nvPr/>
        </p:nvSpPr>
        <p:spPr>
          <a:xfrm>
            <a:off x="1104900" y="47294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上下文膨胀、token高、角色重叠导致误路由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473F1B41-5FB6-47F8-A9F6-16A43C251D46}"/>
              </a:ext>
            </a:extLst>
          </p:cNvPr>
          <p:cNvSpPr>
            <a:spLocks noGrp="1"/>
          </p:cNvSpPr>
          <p:nvPr/>
        </p:nvSpPr>
        <p:spPr>
          <a:xfrm>
            <a:off x="6972300" y="33121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预定义交接关系 + 结构化参数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F4BDE391-8C5C-456B-9115-290EAF640863}"/>
              </a:ext>
            </a:extLst>
          </p:cNvPr>
          <p:cNvSpPr>
            <a:spLocks noGrp="1"/>
          </p:cNvSpPr>
          <p:nvPr/>
        </p:nvSpPr>
        <p:spPr>
          <a:xfrm>
            <a:off x="6972300" y="37769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Sessions持久化；Tracing记录运行轨迹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D8EA5E7-E3F1-4AD0-918D-4D8D704BB616}"/>
              </a:ext>
            </a:extLst>
          </p:cNvPr>
          <p:cNvSpPr>
            <a:spLocks noGrp="1"/>
          </p:cNvSpPr>
          <p:nvPr/>
        </p:nvSpPr>
        <p:spPr>
          <a:xfrm>
            <a:off x="6972300" y="4264660"/>
            <a:ext cx="4114800" cy="285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中：路径清晰，复杂并行/汇合需外部逻辑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4E809FE6-9561-4ACD-AD39-2762FEEE7D95}"/>
              </a:ext>
            </a:extLst>
          </p:cNvPr>
          <p:cNvSpPr>
            <a:spLocks noGrp="1"/>
          </p:cNvSpPr>
          <p:nvPr/>
        </p:nvSpPr>
        <p:spPr>
          <a:xfrm>
            <a:off x="6972300" y="4729480"/>
            <a:ext cx="4114800" cy="285750"/>
          </a:xfrm>
          <a:prstGeom prst="rect">
            <a:avLst/>
          </a:prstGeom>
          <a:solidFill>
            <a:srgbClr val="F7FAFC"/>
          </a:solidFill>
          <a:ln w="9525">
            <a:solidFill>
              <a:schemeClr val="bg1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handoff过薄，复杂协调模式需要自行实现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037D876-2B60-426A-AE8C-82605F2C74F7}"/>
              </a:ext>
            </a:extLst>
          </p:cNvPr>
          <p:cNvSpPr>
            <a:spLocks noGrp="1"/>
          </p:cNvSpPr>
          <p:nvPr/>
        </p:nvSpPr>
        <p:spPr>
          <a:xfrm>
            <a:off x="1981200" y="6027420"/>
            <a:ext cx="8229600" cy="419100"/>
          </a:xfrm>
          <a:prstGeom prst="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F2D3D"/>
                </a:solidFill>
              </a:defRPr>
            </a:pPr>
            <a:r>
              <a:rPr sz="1400" b="1">
                <a:solidFill>
                  <a:srgbClr val="1F2D3D"/>
                </a:solidFill>
              </a:rPr>
              <a:t>任务需要开放协商？需要 → AutoGen；路径明确、强调可追踪交接？→ Agents SDK</a:t>
            </a:r>
          </a:p>
        </p:txBody>
      </p:sp>
      <p:sp>
        <p:nvSpPr>
          <p:cNvPr id="92" name="page-number-9">
            <a:extLst>
              <a:ext uri="{FF2B5EF4-FFF2-40B4-BE49-F238E27FC236}">
                <a16:creationId xmlns:a16="http://schemas.microsoft.com/office/drawing/2014/main" id="{F5581AB6-3004-4F15-B83E-B0924AF3BCD9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9 页</a:t>
            </a:r>
          </a:p>
        </p:txBody>
      </p:sp>
    </p:spTree>
    <p:extLst>
      <p:ext uri="{BB962C8B-B14F-4D97-AF65-F5344CB8AC3E}">
        <p14:creationId xmlns:p14="http://schemas.microsoft.com/office/powerpoint/2010/main" val="1783212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90A91331-C4F9-4F9E-9672-D7CC7D505BE2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C6C773BB-E874-4479-9C29-2FA5E16BC66E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6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698820E-0AB4-409D-A35F-0CF1D8128D53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2.4  MetaGPT 与自进化框架：优化对象不断扩大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803B8C-A4DE-4D7A-B697-E191DC6D9F7D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从“文档替代对话”到“角色、成员与拓扑可学习”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93AF8612-0967-43FD-8A7B-C8EBD7108697}"/>
              </a:ext>
            </a:extLst>
          </p:cNvPr>
          <p:cNvSpPr>
            <a:spLocks noGrp="1"/>
          </p:cNvSpPr>
          <p:nvPr/>
        </p:nvSpPr>
        <p:spPr>
          <a:xfrm>
            <a:off x="514350" y="1360170"/>
            <a:ext cx="2724150" cy="285750"/>
          </a:xfrm>
          <a:prstGeom prst="roundRect">
            <a:avLst>
              <a:gd name="adj" fmla="val 26667"/>
            </a:avLst>
          </a:prstGeom>
          <a:solidFill>
            <a:srgbClr val="E5A93D"/>
          </a:solidFill>
          <a:ln w="11430">
            <a:solidFill>
              <a:srgbClr val="E5A93D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1021B-2883-4662-B482-B21CC08E4D7C}"/>
              </a:ext>
            </a:extLst>
          </p:cNvPr>
          <p:cNvSpPr>
            <a:spLocks noGrp="1"/>
          </p:cNvSpPr>
          <p:nvPr/>
        </p:nvSpPr>
        <p:spPr>
          <a:xfrm>
            <a:off x="514350" y="1360170"/>
            <a:ext cx="27241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MetaGPT｜SOP驱动的软件团队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B6DB8E-23EC-4AEB-B080-E9042AE9B211}"/>
              </a:ext>
            </a:extLst>
          </p:cNvPr>
          <p:cNvSpPr>
            <a:spLocks noGrp="1"/>
          </p:cNvSpPr>
          <p:nvPr/>
        </p:nvSpPr>
        <p:spPr>
          <a:xfrm>
            <a:off x="3524250" y="1341120"/>
            <a:ext cx="7810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1200" b="1">
                <a:solidFill>
                  <a:srgbClr val="E5A93D"/>
                </a:solidFill>
              </a:defRPr>
            </a:pPr>
            <a:r>
              <a:rPr sz="1400" b="1">
                <a:solidFill>
                  <a:srgbClr val="E5A93D"/>
                </a:solidFill>
              </a:rPr>
              <a:t>结构化产物是智能体之间的接口；发布—订阅只传递角色相关信息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FDAEC8A-37A1-4F5E-9FFB-055EF3C7DF5C}"/>
              </a:ext>
            </a:extLst>
          </p:cNvPr>
          <p:cNvSpPr>
            <a:spLocks noGrp="1"/>
          </p:cNvSpPr>
          <p:nvPr/>
        </p:nvSpPr>
        <p:spPr>
          <a:xfrm>
            <a:off x="64770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需求文档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A0E249-29D5-4A04-8196-61E906143946}"/>
              </a:ext>
            </a:extLst>
          </p:cNvPr>
          <p:cNvSpPr>
            <a:spLocks noGrp="1"/>
          </p:cNvSpPr>
          <p:nvPr/>
        </p:nvSpPr>
        <p:spPr>
          <a:xfrm>
            <a:off x="281940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C32BE72-4B58-4FE2-9C1F-F74E24530622}"/>
              </a:ext>
            </a:extLst>
          </p:cNvPr>
          <p:cNvSpPr>
            <a:spLocks noGrp="1"/>
          </p:cNvSpPr>
          <p:nvPr/>
        </p:nvSpPr>
        <p:spPr>
          <a:xfrm>
            <a:off x="344805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系统设计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DB3D9A7-00DD-4CCF-841B-85C57700139B}"/>
              </a:ext>
            </a:extLst>
          </p:cNvPr>
          <p:cNvSpPr>
            <a:spLocks noGrp="1"/>
          </p:cNvSpPr>
          <p:nvPr/>
        </p:nvSpPr>
        <p:spPr>
          <a:xfrm>
            <a:off x="561975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6FCD2C-0594-4BCF-B582-2A35AAB1C947}"/>
              </a:ext>
            </a:extLst>
          </p:cNvPr>
          <p:cNvSpPr>
            <a:spLocks noGrp="1"/>
          </p:cNvSpPr>
          <p:nvPr/>
        </p:nvSpPr>
        <p:spPr>
          <a:xfrm>
            <a:off x="624840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任务清单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5B4B41-1BC5-484C-8F38-0428C2FE309C}"/>
              </a:ext>
            </a:extLst>
          </p:cNvPr>
          <p:cNvSpPr>
            <a:spLocks noGrp="1"/>
          </p:cNvSpPr>
          <p:nvPr/>
        </p:nvSpPr>
        <p:spPr>
          <a:xfrm>
            <a:off x="8420100" y="2026920"/>
            <a:ext cx="571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800" b="1">
                <a:solidFill>
                  <a:srgbClr val="E5A93D"/>
                </a:solidFill>
              </a:defRPr>
            </a:pPr>
            <a:r>
              <a:rPr sz="1800" b="1">
                <a:solidFill>
                  <a:srgbClr val="E5A93D"/>
                </a:solidFill>
              </a:rPr>
              <a:t>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E17E99A-BBCA-411B-ABE0-FD2EBF1BA663}"/>
              </a:ext>
            </a:extLst>
          </p:cNvPr>
          <p:cNvSpPr>
            <a:spLocks noGrp="1"/>
          </p:cNvSpPr>
          <p:nvPr/>
        </p:nvSpPr>
        <p:spPr>
          <a:xfrm>
            <a:off x="9048750" y="1874520"/>
            <a:ext cx="2152650" cy="609600"/>
          </a:xfrm>
          <a:prstGeom prst="rect">
            <a:avLst/>
          </a:prstGeom>
          <a:solidFill>
            <a:srgbClr val="FFF8E8"/>
          </a:solidFill>
          <a:ln w="9525">
            <a:solidFill>
              <a:srgbClr val="E5A93D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</a:rPr>
              <a:t>代码 / 测试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575512-4EF0-43E6-A412-51B078D3FCFE}"/>
              </a:ext>
            </a:extLst>
          </p:cNvPr>
          <p:cNvSpPr>
            <a:spLocks noGrp="1"/>
          </p:cNvSpPr>
          <p:nvPr/>
        </p:nvSpPr>
        <p:spPr>
          <a:xfrm>
            <a:off x="400050" y="2827020"/>
            <a:ext cx="1600200" cy="400050"/>
          </a:xfrm>
          <a:prstGeom prst="rect">
            <a:avLst/>
          </a:prstGeom>
          <a:solidFill>
            <a:srgbClr val="1769AA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框架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71141F-6FD1-45DB-8313-2422A2E5354B}"/>
              </a:ext>
            </a:extLst>
          </p:cNvPr>
          <p:cNvSpPr>
            <a:spLocks noGrp="1"/>
          </p:cNvSpPr>
          <p:nvPr/>
        </p:nvSpPr>
        <p:spPr>
          <a:xfrm>
            <a:off x="2000250" y="2827020"/>
            <a:ext cx="251460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可调整对象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446C169-F37C-4C02-87D7-1B62318A082B}"/>
              </a:ext>
            </a:extLst>
          </p:cNvPr>
          <p:cNvSpPr>
            <a:spLocks noGrp="1"/>
          </p:cNvSpPr>
          <p:nvPr/>
        </p:nvSpPr>
        <p:spPr>
          <a:xfrm>
            <a:off x="4514850" y="2827020"/>
            <a:ext cx="329565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机制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FCEE943-0F9D-4FEB-BC38-264F77CC8BDF}"/>
              </a:ext>
            </a:extLst>
          </p:cNvPr>
          <p:cNvSpPr>
            <a:spLocks noGrp="1"/>
          </p:cNvSpPr>
          <p:nvPr/>
        </p:nvSpPr>
        <p:spPr>
          <a:xfrm>
            <a:off x="7810500" y="2827020"/>
            <a:ext cx="3981450" cy="400050"/>
          </a:xfrm>
          <a:prstGeom prst="rect">
            <a:avLst/>
          </a:prstGeom>
          <a:solidFill>
            <a:srgbClr val="2E8FC3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意味着什么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00886D7-75C8-4EC6-999E-E5C921DC236F}"/>
              </a:ext>
            </a:extLst>
          </p:cNvPr>
          <p:cNvSpPr>
            <a:spLocks noGrp="1"/>
          </p:cNvSpPr>
          <p:nvPr/>
        </p:nvSpPr>
        <p:spPr>
          <a:xfrm>
            <a:off x="400050" y="32270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DSPy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6F395FF-0E7A-4648-8DD2-4729328A9372}"/>
              </a:ext>
            </a:extLst>
          </p:cNvPr>
          <p:cNvSpPr>
            <a:spLocks noGrp="1"/>
          </p:cNvSpPr>
          <p:nvPr/>
        </p:nvSpPr>
        <p:spPr>
          <a:xfrm>
            <a:off x="2000250" y="3227070"/>
            <a:ext cx="2514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提示 + few-shot示例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D07E4A3-3D52-4457-B13E-ED31F4AB8242}"/>
              </a:ext>
            </a:extLst>
          </p:cNvPr>
          <p:cNvSpPr>
            <a:spLocks noGrp="1"/>
          </p:cNvSpPr>
          <p:nvPr/>
        </p:nvSpPr>
        <p:spPr>
          <a:xfrm>
            <a:off x="4514850" y="3227070"/>
            <a:ext cx="32956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按用户指标编译优化LLM程序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89A2C1B-28FA-4B4B-AA50-5D1CEAE9C9A8}"/>
              </a:ext>
            </a:extLst>
          </p:cNvPr>
          <p:cNvSpPr>
            <a:spLocks noGrp="1"/>
          </p:cNvSpPr>
          <p:nvPr/>
        </p:nvSpPr>
        <p:spPr>
          <a:xfrm>
            <a:off x="7810500" y="3227070"/>
            <a:ext cx="39814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协调策略可以“编译”，而非完全手写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A1DEC61-6709-4A8B-8DED-D4E2F5F4900C}"/>
              </a:ext>
            </a:extLst>
          </p:cNvPr>
          <p:cNvSpPr>
            <a:spLocks noGrp="1"/>
          </p:cNvSpPr>
          <p:nvPr/>
        </p:nvSpPr>
        <p:spPr>
          <a:xfrm>
            <a:off x="400050" y="37604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46A88A"/>
                </a:solidFill>
              </a:defRPr>
            </a:pPr>
            <a:r>
              <a:rPr sz="1400" b="1">
                <a:solidFill>
                  <a:srgbClr val="46A88A"/>
                </a:solidFill>
              </a:rPr>
              <a:t>AgentVerse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C2954FD-CCCB-45A8-B11D-DF5AA2B7209F}"/>
              </a:ext>
            </a:extLst>
          </p:cNvPr>
          <p:cNvSpPr>
            <a:spLocks noGrp="1"/>
          </p:cNvSpPr>
          <p:nvPr/>
        </p:nvSpPr>
        <p:spPr>
          <a:xfrm>
            <a:off x="2000250" y="3760470"/>
            <a:ext cx="251460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角色 + 团队成员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54F99F9-C17E-477B-A58E-584B2DB581D5}"/>
              </a:ext>
            </a:extLst>
          </p:cNvPr>
          <p:cNvSpPr>
            <a:spLocks noGrp="1"/>
          </p:cNvSpPr>
          <p:nvPr/>
        </p:nvSpPr>
        <p:spPr>
          <a:xfrm>
            <a:off x="4514850" y="3760470"/>
            <a:ext cx="32956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随任务阶段动态招募与重组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15A442A-0171-42A7-B02E-A280DA106CFD}"/>
              </a:ext>
            </a:extLst>
          </p:cNvPr>
          <p:cNvSpPr>
            <a:spLocks noGrp="1"/>
          </p:cNvSpPr>
          <p:nvPr/>
        </p:nvSpPr>
        <p:spPr>
          <a:xfrm>
            <a:off x="7810500" y="3760470"/>
            <a:ext cx="39814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团队结构随问题变化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B08D7FA-DFDD-42A5-A833-355AED7B91DF}"/>
              </a:ext>
            </a:extLst>
          </p:cNvPr>
          <p:cNvSpPr>
            <a:spLocks noGrp="1"/>
          </p:cNvSpPr>
          <p:nvPr/>
        </p:nvSpPr>
        <p:spPr>
          <a:xfrm>
            <a:off x="400050" y="42938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DyLAN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BA60072-9CAB-40F7-A6B4-F42BDA67E40C}"/>
              </a:ext>
            </a:extLst>
          </p:cNvPr>
          <p:cNvSpPr>
            <a:spLocks noGrp="1"/>
          </p:cNvSpPr>
          <p:nvPr/>
        </p:nvSpPr>
        <p:spPr>
          <a:xfrm>
            <a:off x="2000250" y="4293870"/>
            <a:ext cx="25146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智能体成员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083316C-95B2-46B3-888B-47124E37CC25}"/>
              </a:ext>
            </a:extLst>
          </p:cNvPr>
          <p:cNvSpPr>
            <a:spLocks noGrp="1"/>
          </p:cNvSpPr>
          <p:nvPr/>
        </p:nvSpPr>
        <p:spPr>
          <a:xfrm>
            <a:off x="4514850" y="4293870"/>
            <a:ext cx="32956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Agent Importance Score筛选团队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E255BB3-1DDB-4DF4-8D4D-621CC66705F5}"/>
              </a:ext>
            </a:extLst>
          </p:cNvPr>
          <p:cNvSpPr>
            <a:spLocks noGrp="1"/>
          </p:cNvSpPr>
          <p:nvPr/>
        </p:nvSpPr>
        <p:spPr>
          <a:xfrm>
            <a:off x="7810500" y="4293870"/>
            <a:ext cx="398145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成员选择成为学习问题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51D6E79-18C6-48C0-AC28-8A9E3BDBAFCD}"/>
              </a:ext>
            </a:extLst>
          </p:cNvPr>
          <p:cNvSpPr>
            <a:spLocks noGrp="1"/>
          </p:cNvSpPr>
          <p:nvPr/>
        </p:nvSpPr>
        <p:spPr>
          <a:xfrm>
            <a:off x="400050" y="4827270"/>
            <a:ext cx="1600200" cy="533400"/>
          </a:xfrm>
          <a:prstGeom prst="rect">
            <a:avLst/>
          </a:prstGeom>
          <a:solidFill>
            <a:srgbClr val="EAF5FB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D96C75"/>
                </a:solidFill>
              </a:defRPr>
            </a:pPr>
            <a:r>
              <a:rPr sz="1400" b="1">
                <a:solidFill>
                  <a:srgbClr val="D96C75"/>
                </a:solidFill>
              </a:rPr>
              <a:t>GPTSwarm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6D5B9F6-729B-4F4E-B282-4D846F792EA4}"/>
              </a:ext>
            </a:extLst>
          </p:cNvPr>
          <p:cNvSpPr>
            <a:spLocks noGrp="1"/>
          </p:cNvSpPr>
          <p:nvPr/>
        </p:nvSpPr>
        <p:spPr>
          <a:xfrm>
            <a:off x="2000250" y="4827270"/>
            <a:ext cx="251460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智能体连接拓扑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E1CD484-C743-4374-A484-7DD8494724D2}"/>
              </a:ext>
            </a:extLst>
          </p:cNvPr>
          <p:cNvSpPr>
            <a:spLocks noGrp="1"/>
          </p:cNvSpPr>
          <p:nvPr/>
        </p:nvSpPr>
        <p:spPr>
          <a:xfrm>
            <a:off x="4514850" y="4827270"/>
            <a:ext cx="32956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把系统建成可优化图并学习边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871E840-72BE-4AD4-8EFC-7FB3B477DD10}"/>
              </a:ext>
            </a:extLst>
          </p:cNvPr>
          <p:cNvSpPr>
            <a:spLocks noGrp="1"/>
          </p:cNvSpPr>
          <p:nvPr/>
        </p:nvSpPr>
        <p:spPr>
          <a:xfrm>
            <a:off x="7810500" y="4827270"/>
            <a:ext cx="3981450" cy="533400"/>
          </a:xfrm>
          <a:prstGeom prst="rect">
            <a:avLst/>
          </a:prstGeom>
          <a:solidFill>
            <a:srgbClr val="F7FAFC"/>
          </a:solidFill>
          <a:ln w="9525">
            <a:solidFill>
              <a:srgbClr val="C7DCE9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协作关系也可通过反馈优化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29B9E8EF-443A-44F0-AC5D-D8ED3D729F50}"/>
              </a:ext>
            </a:extLst>
          </p:cNvPr>
          <p:cNvSpPr>
            <a:spLocks noGrp="1"/>
          </p:cNvSpPr>
          <p:nvPr/>
        </p:nvSpPr>
        <p:spPr>
          <a:xfrm>
            <a:off x="1685925" y="5779770"/>
            <a:ext cx="8953500" cy="400050"/>
          </a:xfrm>
          <a:prstGeom prst="round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2D3D"/>
                </a:solidFill>
              </a:defRPr>
            </a:pPr>
            <a:r>
              <a:rPr sz="1400">
                <a:solidFill>
                  <a:srgbClr val="1F2D3D"/>
                </a:solidFill>
              </a:rPr>
              <a:t>演进方向：固定流程 → 运行时可配置 → 可学习的成员与连接；适应性越强，复现与治理越难</a:t>
            </a:r>
          </a:p>
        </p:txBody>
      </p:sp>
      <p:sp>
        <p:nvSpPr>
          <p:cNvPr id="43" name="page-number-10">
            <a:extLst>
              <a:ext uri="{FF2B5EF4-FFF2-40B4-BE49-F238E27FC236}">
                <a16:creationId xmlns:a16="http://schemas.microsoft.com/office/drawing/2014/main" id="{E2631ADF-A54F-4607-B3A5-C0F3A79335BB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10 页</a:t>
            </a:r>
          </a:p>
        </p:txBody>
      </p:sp>
    </p:spTree>
    <p:extLst>
      <p:ext uri="{BB962C8B-B14F-4D97-AF65-F5344CB8AC3E}">
        <p14:creationId xmlns:p14="http://schemas.microsoft.com/office/powerpoint/2010/main" val="4078742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34AF4B1F-A902-4D89-B59E-CB836E1BA256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9E9C24E0-D67B-410C-995B-C4BADA822336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1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2F1672D-A346-4452-9CEA-255C9507CD24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>
                <a:solidFill>
                  <a:srgbClr val="1F2D3D"/>
                </a:solidFill>
              </a:rPr>
              <a:t>2.5  一次任务的协议链：发现、委派与调用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E7A8EFC-2BFE-4B9C-AA56-1E23C52C2417}"/>
              </a:ext>
            </a:extLst>
          </p:cNvPr>
          <p:cNvSpPr>
            <a:spLocks noGrp="1"/>
          </p:cNvSpPr>
          <p:nvPr/>
        </p:nvSpPr>
        <p:spPr>
          <a:xfrm>
            <a:off x="400050" y="822960"/>
            <a:ext cx="9334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执行顺序是ANP → A2A → MCP；三者解决不同通信边界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1DD47DA0-92C1-40A1-90FF-672ACEAB3526}"/>
              </a:ext>
            </a:extLst>
          </p:cNvPr>
          <p:cNvSpPr>
            <a:spLocks noGrp="1"/>
          </p:cNvSpPr>
          <p:nvPr/>
        </p:nvSpPr>
        <p:spPr>
          <a:xfrm>
            <a:off x="590550" y="1440180"/>
            <a:ext cx="1257300" cy="285750"/>
          </a:xfrm>
          <a:prstGeom prst="roundRect">
            <a:avLst>
              <a:gd name="adj" fmla="val 26667"/>
            </a:avLst>
          </a:prstGeom>
          <a:solidFill>
            <a:srgbClr val="5B6775"/>
          </a:solidFill>
          <a:ln w="11430">
            <a:solidFill>
              <a:srgbClr val="5B677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1E097A-F10A-4E45-986F-48E910F8741B}"/>
              </a:ext>
            </a:extLst>
          </p:cNvPr>
          <p:cNvSpPr>
            <a:spLocks noGrp="1"/>
          </p:cNvSpPr>
          <p:nvPr/>
        </p:nvSpPr>
        <p:spPr>
          <a:xfrm>
            <a:off x="590550" y="1440180"/>
            <a:ext cx="125793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协议分层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10776683-0D2E-48A0-826D-A0B47A57311E}"/>
              </a:ext>
            </a:extLst>
          </p:cNvPr>
          <p:cNvSpPr>
            <a:spLocks noGrp="1"/>
          </p:cNvSpPr>
          <p:nvPr/>
        </p:nvSpPr>
        <p:spPr>
          <a:xfrm>
            <a:off x="6419850" y="1440180"/>
            <a:ext cx="2038350" cy="285750"/>
          </a:xfrm>
          <a:prstGeom prst="roundRect">
            <a:avLst>
              <a:gd name="adj" fmla="val 26667"/>
            </a:avLst>
          </a:prstGeom>
          <a:solidFill>
            <a:srgbClr val="5B6775"/>
          </a:solidFill>
          <a:ln w="11430">
            <a:solidFill>
              <a:srgbClr val="5B677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6E0175C-62E3-449C-92EC-0B934F431475}"/>
              </a:ext>
            </a:extLst>
          </p:cNvPr>
          <p:cNvSpPr>
            <a:spLocks noGrp="1"/>
          </p:cNvSpPr>
          <p:nvPr/>
        </p:nvSpPr>
        <p:spPr>
          <a:xfrm>
            <a:off x="6419850" y="1440180"/>
            <a:ext cx="2038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400" b="1">
                <a:solidFill>
                  <a:srgbClr val="FFFFFF"/>
                </a:solidFill>
              </a:rPr>
              <a:t>一次任务中的组合流程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901CEC-FFA0-4803-9962-65C2CFCFC8A6}"/>
              </a:ext>
            </a:extLst>
          </p:cNvPr>
          <p:cNvSpPr>
            <a:spLocks noGrp="1"/>
          </p:cNvSpPr>
          <p:nvPr/>
        </p:nvSpPr>
        <p:spPr>
          <a:xfrm>
            <a:off x="400050" y="1878330"/>
            <a:ext cx="2133600" cy="933450"/>
          </a:xfrm>
          <a:prstGeom prst="rect">
            <a:avLst/>
          </a:prstGeom>
          <a:noFill/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ANP｜开放网络发现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3BAD35-70B2-411E-BE89-435B10B948C1}"/>
              </a:ext>
            </a:extLst>
          </p:cNvPr>
          <p:cNvSpPr>
            <a:spLocks noGrp="1"/>
          </p:cNvSpPr>
          <p:nvPr/>
        </p:nvSpPr>
        <p:spPr>
          <a:xfrm>
            <a:off x="2533650" y="1878330"/>
            <a:ext cx="3238500" cy="933450"/>
          </a:xfrm>
          <a:prstGeom prst="rect">
            <a:avLst/>
          </a:prstGeom>
          <a:solidFill>
            <a:srgbClr val="F7FAFC"/>
          </a:solidFill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30000"/>
              </a:lnSpc>
              <a:buNone/>
              <a:defRPr sz="9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66C5D4"/>
                </a:solidFill>
              </a:rPr>
              <a:t>Agent ↔ Internet</a:t>
            </a:r>
          </a:p>
          <a:p>
            <a:pPr algn="ctr">
              <a:lnSpc>
                <a:spcPct val="130000"/>
              </a:lnSpc>
              <a:buNone/>
              <a:defRPr sz="975" b="0">
                <a:solidFill>
                  <a:srgbClr val="1F2D3D"/>
                </a:solidFill>
              </a:defRPr>
            </a:pPr>
            <a:r>
              <a:rPr sz="1200"/>
              <a:t>DID 身份 + 元协议协商；面向跨组织、无中心注册的发现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9C48030-59F4-417F-85C5-8D34C3D805B8}"/>
              </a:ext>
            </a:extLst>
          </p:cNvPr>
          <p:cNvSpPr>
            <a:spLocks noGrp="1"/>
          </p:cNvSpPr>
          <p:nvPr/>
        </p:nvSpPr>
        <p:spPr>
          <a:xfrm>
            <a:off x="4667250" y="261747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66C5D4"/>
                </a:solidFill>
              </a:defRPr>
            </a:pPr>
            <a:r>
              <a:rPr sz="825" b="1">
                <a:solidFill>
                  <a:srgbClr val="66C5D4"/>
                </a:solidFill>
              </a:rPr>
              <a:t>成熟度：早期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6ED7A1C-E535-4E71-BBE5-67747A566E8A}"/>
              </a:ext>
            </a:extLst>
          </p:cNvPr>
          <p:cNvSpPr>
            <a:spLocks noGrp="1"/>
          </p:cNvSpPr>
          <p:nvPr/>
        </p:nvSpPr>
        <p:spPr>
          <a:xfrm>
            <a:off x="400050" y="3059430"/>
            <a:ext cx="2133600" cy="933450"/>
          </a:xfrm>
          <a:prstGeom prst="rect">
            <a:avLst/>
          </a:prstGeom>
          <a:noFill/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A2A｜横向智能体协作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629EB1C-7CFA-4D3B-B022-9BD64CDE37FA}"/>
              </a:ext>
            </a:extLst>
          </p:cNvPr>
          <p:cNvSpPr>
            <a:spLocks noGrp="1"/>
          </p:cNvSpPr>
          <p:nvPr/>
        </p:nvSpPr>
        <p:spPr>
          <a:xfrm>
            <a:off x="2533650" y="3059430"/>
            <a:ext cx="3238500" cy="933450"/>
          </a:xfrm>
          <a:prstGeom prst="rect">
            <a:avLst/>
          </a:prstGeom>
          <a:solidFill>
            <a:srgbClr val="F7FAFC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40000"/>
              </a:lnSpc>
              <a:buNone/>
              <a:defRPr sz="9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Agent ↔ Agent</a:t>
            </a:r>
          </a:p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r>
              <a:rPr sz="1200"/>
              <a:t>Agent Card + 六状态 Task 生命周期 + 消息/产物；支持协商与异步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31C21FF-733D-410E-8B8F-57595750B1DA}"/>
              </a:ext>
            </a:extLst>
          </p:cNvPr>
          <p:cNvSpPr>
            <a:spLocks noGrp="1"/>
          </p:cNvSpPr>
          <p:nvPr/>
        </p:nvSpPr>
        <p:spPr>
          <a:xfrm>
            <a:off x="4667250" y="378714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2E8FC3"/>
                </a:solidFill>
              </a:defRPr>
            </a:pPr>
            <a:r>
              <a:rPr sz="825" b="1">
                <a:solidFill>
                  <a:srgbClr val="2E8FC3"/>
                </a:solidFill>
              </a:rPr>
              <a:t>成熟度：增长中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AD611B3-BF79-4BA6-B83C-494F0634138B}"/>
              </a:ext>
            </a:extLst>
          </p:cNvPr>
          <p:cNvSpPr>
            <a:spLocks noGrp="1"/>
          </p:cNvSpPr>
          <p:nvPr/>
        </p:nvSpPr>
        <p:spPr>
          <a:xfrm>
            <a:off x="400050" y="4240530"/>
            <a:ext cx="2133600" cy="1134110"/>
          </a:xfrm>
          <a:prstGeom prst="rect">
            <a:avLst/>
          </a:prstGeom>
          <a:noFill/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MCP｜纵向工具接入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47DF79D-73FE-4654-919D-57AF725AF0B1}"/>
              </a:ext>
            </a:extLst>
          </p:cNvPr>
          <p:cNvSpPr>
            <a:spLocks noGrp="1"/>
          </p:cNvSpPr>
          <p:nvPr/>
        </p:nvSpPr>
        <p:spPr>
          <a:xfrm>
            <a:off x="2533650" y="4240530"/>
            <a:ext cx="3238500" cy="1134110"/>
          </a:xfrm>
          <a:prstGeom prst="rect">
            <a:avLst/>
          </a:prstGeom>
          <a:solidFill>
            <a:srgbClr val="F7FAFC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Agent ↔ Tool / Data</a:t>
            </a:r>
          </a:p>
          <a:p>
            <a:pPr algn="ctr">
              <a:lnSpc>
                <a:spcPct val="140000"/>
              </a:lnSpc>
              <a:buNone/>
              <a:defRPr sz="1275" b="0">
                <a:solidFill>
                  <a:srgbClr val="1F2D3D"/>
                </a:solidFill>
              </a:defRPr>
            </a:pPr>
            <a:r>
              <a:rPr sz="1200"/>
              <a:t>Host–Client–Server；resources / tools / prompts；会话初始化时能力协商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3E7428D-BF1E-4747-898D-805CD28E5785}"/>
              </a:ext>
            </a:extLst>
          </p:cNvPr>
          <p:cNvSpPr>
            <a:spLocks noGrp="1"/>
          </p:cNvSpPr>
          <p:nvPr/>
        </p:nvSpPr>
        <p:spPr>
          <a:xfrm>
            <a:off x="4667250" y="518541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1769AA"/>
                </a:solidFill>
              </a:defRPr>
            </a:pPr>
            <a:r>
              <a:rPr sz="825" b="1">
                <a:solidFill>
                  <a:srgbClr val="1769AA"/>
                </a:solidFill>
              </a:rPr>
              <a:t>成熟度：较高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254FEDA-082C-44A4-8E04-8889D8D100C0}"/>
              </a:ext>
            </a:extLst>
          </p:cNvPr>
          <p:cNvSpPr>
            <a:spLocks noGrp="1"/>
          </p:cNvSpPr>
          <p:nvPr/>
        </p:nvSpPr>
        <p:spPr>
          <a:xfrm>
            <a:off x="6210300" y="1840230"/>
            <a:ext cx="5429250" cy="3543300"/>
          </a:xfrm>
          <a:prstGeom prst="roundRect">
            <a:avLst>
              <a:gd name="adj" fmla="val 2151"/>
            </a:avLst>
          </a:prstGeom>
          <a:noFill/>
          <a:ln w="11430">
            <a:solidFill>
              <a:srgbClr val="C7DCE9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EA4859A-8BE0-4973-87DF-BE40E86A49E4}"/>
              </a:ext>
            </a:extLst>
          </p:cNvPr>
          <p:cNvSpPr>
            <a:spLocks noGrp="1"/>
          </p:cNvSpPr>
          <p:nvPr/>
        </p:nvSpPr>
        <p:spPr>
          <a:xfrm>
            <a:off x="6515100" y="2106930"/>
            <a:ext cx="1714500" cy="666750"/>
          </a:xfrm>
          <a:prstGeom prst="rect">
            <a:avLst/>
          </a:prstGeom>
          <a:solidFill>
            <a:srgbClr val="EAF5FB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200" b="1">
                <a:solidFill>
                  <a:srgbClr val="1769AA"/>
                </a:solidFill>
              </a:defRPr>
            </a:pPr>
            <a:r>
              <a:rPr sz="1400" b="1">
                <a:solidFill>
                  <a:srgbClr val="1769AA"/>
                </a:solidFill>
              </a:rPr>
              <a:t>协调 Agent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E37EF1B-1528-42AA-B54A-377381D0C6F6}"/>
              </a:ext>
            </a:extLst>
          </p:cNvPr>
          <p:cNvSpPr>
            <a:spLocks noGrp="1"/>
          </p:cNvSpPr>
          <p:nvPr/>
        </p:nvSpPr>
        <p:spPr>
          <a:xfrm>
            <a:off x="9544050" y="1992630"/>
            <a:ext cx="1638300" cy="723900"/>
          </a:xfrm>
          <a:prstGeom prst="rect">
            <a:avLst/>
          </a:prstGeom>
          <a:solidFill>
            <a:srgbClr val="ECF9FA"/>
          </a:solidFill>
          <a:ln w="9525">
            <a:solidFill>
              <a:srgbClr val="66C5D4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ANP</a:t>
            </a:r>
          </a:p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400" b="1">
                <a:solidFill>
                  <a:srgbClr val="66C5D4"/>
                </a:solidFill>
              </a:rPr>
              <a:t>发现外部能力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EBB2F9B-65C5-4374-9C48-6A3B1D68E8C8}"/>
              </a:ext>
            </a:extLst>
          </p:cNvPr>
          <p:cNvSpPr>
            <a:spLocks noGrp="1"/>
          </p:cNvSpPr>
          <p:nvPr/>
        </p:nvSpPr>
        <p:spPr>
          <a:xfrm>
            <a:off x="8686800" y="2186940"/>
            <a:ext cx="647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66C5D4"/>
                </a:solidFill>
              </a:defRPr>
            </a:pPr>
            <a:r>
              <a:rPr sz="1200" b="1">
                <a:solidFill>
                  <a:srgbClr val="66C5D4"/>
                </a:solidFill>
              </a:rPr>
              <a:t>发现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37C3D9A-B387-419D-9C6F-46B1D85DDC04}"/>
              </a:ext>
            </a:extLst>
          </p:cNvPr>
          <p:cNvSpPr>
            <a:spLocks noGrp="1"/>
          </p:cNvSpPr>
          <p:nvPr/>
        </p:nvSpPr>
        <p:spPr>
          <a:xfrm>
            <a:off x="9201150" y="216408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66C5D4"/>
                </a:solidFill>
              </a:defRPr>
            </a:pPr>
            <a:r>
              <a:rPr sz="1650" b="1">
                <a:solidFill>
                  <a:srgbClr val="66C5D4"/>
                </a:solidFill>
              </a:rPr>
              <a:t>→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272766-41B4-45C6-AE27-48B8F257A6C5}"/>
              </a:ext>
            </a:extLst>
          </p:cNvPr>
          <p:cNvSpPr>
            <a:spLocks noGrp="1"/>
          </p:cNvSpPr>
          <p:nvPr/>
        </p:nvSpPr>
        <p:spPr>
          <a:xfrm>
            <a:off x="9544050" y="3249930"/>
            <a:ext cx="1638300" cy="781050"/>
          </a:xfrm>
          <a:prstGeom prst="rect">
            <a:avLst/>
          </a:prstGeom>
          <a:solidFill>
            <a:srgbClr val="EAF5FB"/>
          </a:solidFill>
          <a:ln w="9525">
            <a:solidFill>
              <a:srgbClr val="2E8FC3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专业 Agent</a:t>
            </a:r>
          </a:p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400" b="1">
                <a:solidFill>
                  <a:srgbClr val="2E8FC3"/>
                </a:solidFill>
              </a:rPr>
              <a:t>Agent Card + Task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1736717-9B5E-4B0B-9C61-4514694AA0E5}"/>
              </a:ext>
            </a:extLst>
          </p:cNvPr>
          <p:cNvSpPr>
            <a:spLocks noGrp="1"/>
          </p:cNvSpPr>
          <p:nvPr/>
        </p:nvSpPr>
        <p:spPr>
          <a:xfrm>
            <a:off x="7818120" y="3383280"/>
            <a:ext cx="1638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2E8FC3"/>
                </a:solidFill>
              </a:defRPr>
            </a:pPr>
            <a:r>
              <a:rPr sz="1200" b="1">
                <a:solidFill>
                  <a:srgbClr val="2E8FC3"/>
                </a:solidFill>
              </a:rPr>
              <a:t>A2A 委派 / 协商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FB7A88F-54DD-4FB2-83D2-7B80015863F6}"/>
              </a:ext>
            </a:extLst>
          </p:cNvPr>
          <p:cNvSpPr>
            <a:spLocks noGrp="1"/>
          </p:cNvSpPr>
          <p:nvPr/>
        </p:nvSpPr>
        <p:spPr>
          <a:xfrm>
            <a:off x="9201150" y="3402330"/>
            <a:ext cx="28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2E8FC3"/>
                </a:solidFill>
              </a:defRPr>
            </a:pPr>
            <a:r>
              <a:rPr sz="1650" b="1">
                <a:solidFill>
                  <a:srgbClr val="2E8FC3"/>
                </a:solidFill>
              </a:rPr>
              <a:t>→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1395606-FB66-41D0-8106-85FDBD29EE74}"/>
              </a:ext>
            </a:extLst>
          </p:cNvPr>
          <p:cNvSpPr>
            <a:spLocks noGrp="1"/>
          </p:cNvSpPr>
          <p:nvPr/>
        </p:nvSpPr>
        <p:spPr>
          <a:xfrm>
            <a:off x="9544050" y="4545330"/>
            <a:ext cx="1638300" cy="685800"/>
          </a:xfrm>
          <a:prstGeom prst="rect">
            <a:avLst/>
          </a:prstGeom>
          <a:solidFill>
            <a:srgbClr val="EAF5FB"/>
          </a:solidFill>
          <a:ln w="9525">
            <a:solidFill>
              <a:srgbClr val="1769AA"/>
            </a:solidFill>
            <a:prstDash val="solid"/>
          </a:ln>
        </p:spPr>
        <p:txBody>
          <a:bodyPr anchor="ctr"/>
          <a:lstStyle/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工具 / 数据</a:t>
            </a:r>
          </a:p>
          <a:p>
            <a:pPr algn="ctr">
              <a:buNone/>
              <a:defRPr sz="975" b="1">
                <a:solidFill>
                  <a:srgbClr val="1769AA"/>
                </a:solidFill>
              </a:defRPr>
            </a:pPr>
            <a:r>
              <a:rPr sz="1200" b="1">
                <a:solidFill>
                  <a:srgbClr val="1769AA"/>
                </a:solidFill>
              </a:rPr>
              <a:t>resources · tools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BA85F2-8C78-4DF4-A421-D52D45CCB5F4}"/>
              </a:ext>
            </a:extLst>
          </p:cNvPr>
          <p:cNvSpPr>
            <a:spLocks noGrp="1"/>
          </p:cNvSpPr>
          <p:nvPr/>
        </p:nvSpPr>
        <p:spPr>
          <a:xfrm>
            <a:off x="9810750" y="413004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1769AA"/>
                </a:solidFill>
              </a:defRPr>
            </a:pPr>
            <a:r>
              <a:rPr sz="1050" b="1">
                <a:solidFill>
                  <a:srgbClr val="1769AA"/>
                </a:solidFill>
              </a:rPr>
              <a:t>MCP 调用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BDD4F87-408B-4469-9067-C9C853372B5C}"/>
              </a:ext>
            </a:extLst>
          </p:cNvPr>
          <p:cNvSpPr>
            <a:spLocks noGrp="1"/>
          </p:cNvSpPr>
          <p:nvPr/>
        </p:nvSpPr>
        <p:spPr>
          <a:xfrm>
            <a:off x="10191750" y="4309110"/>
            <a:ext cx="28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650" b="1">
                <a:solidFill>
                  <a:srgbClr val="1769AA"/>
                </a:solidFill>
              </a:defRPr>
            </a:pPr>
            <a:r>
              <a:rPr sz="1650" b="1">
                <a:solidFill>
                  <a:srgbClr val="1769AA"/>
                </a:solidFill>
              </a:rPr>
              <a:t>↓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F2EC1D7-D517-4B94-8A89-C56A626997A4}"/>
              </a:ext>
            </a:extLst>
          </p:cNvPr>
          <p:cNvSpPr>
            <a:spLocks noGrp="1"/>
          </p:cNvSpPr>
          <p:nvPr/>
        </p:nvSpPr>
        <p:spPr>
          <a:xfrm>
            <a:off x="6153150" y="2838450"/>
            <a:ext cx="26479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050" b="1">
                <a:solidFill>
                  <a:srgbClr val="5B6775"/>
                </a:solidFill>
              </a:rPr>
              <a:t>框架内部：规划-路由-状态-恢复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02480D-3FF3-43F6-BF68-E900857CB5AF}"/>
              </a:ext>
            </a:extLst>
          </p:cNvPr>
          <p:cNvSpPr>
            <a:spLocks noGrp="1"/>
          </p:cNvSpPr>
          <p:nvPr/>
        </p:nvSpPr>
        <p:spPr>
          <a:xfrm>
            <a:off x="2114550" y="5924550"/>
            <a:ext cx="7962900" cy="361950"/>
          </a:xfrm>
          <a:prstGeom prst="rect">
            <a:avLst/>
          </a:prstGeom>
          <a:solidFill>
            <a:srgbClr val="EAF5FB"/>
          </a:solidFill>
          <a:ln w="9525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1F2D3D"/>
                </a:solidFill>
              </a:defRPr>
            </a:pPr>
            <a:r>
              <a:rPr sz="1400" b="1">
                <a:solidFill>
                  <a:srgbClr val="1F2D3D"/>
                </a:solidFill>
              </a:rPr>
              <a:t>任务执行顺序：ANP“找到伙伴” → A2A“委派任务” → MCP“调用工具”</a:t>
            </a:r>
          </a:p>
        </p:txBody>
      </p:sp>
      <p:sp>
        <p:nvSpPr>
          <p:cNvPr id="38" name="page-number-11">
            <a:extLst>
              <a:ext uri="{FF2B5EF4-FFF2-40B4-BE49-F238E27FC236}">
                <a16:creationId xmlns:a16="http://schemas.microsoft.com/office/drawing/2014/main" id="{7A88048D-ACF4-4F06-B406-C31C873A37FF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11 页</a:t>
            </a:r>
          </a:p>
        </p:txBody>
      </p:sp>
    </p:spTree>
    <p:extLst>
      <p:ext uri="{BB962C8B-B14F-4D97-AF65-F5344CB8AC3E}">
        <p14:creationId xmlns:p14="http://schemas.microsoft.com/office/powerpoint/2010/main" val="15314116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F4EBB3C2-CF68-4BBC-BEFD-003A13040F6D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>
              <a:gd name="connsiteX0" fmla="*/ 12192000 w 12192000"/>
              <a:gd name="connsiteY0" fmla="*/ 0 h 590215"/>
              <a:gd name="connsiteX1" fmla="*/ 12192000 w 12192000"/>
              <a:gd name="connsiteY1" fmla="*/ 590215 h 590215"/>
              <a:gd name="connsiteX2" fmla="*/ 7535465 w 12192000"/>
              <a:gd name="connsiteY2" fmla="*/ 590215 h 590215"/>
              <a:gd name="connsiteX3" fmla="*/ 7843248 w 12192000"/>
              <a:gd name="connsiteY3" fmla="*/ 580203 h 590215"/>
              <a:gd name="connsiteX4" fmla="*/ 11893337 w 12192000"/>
              <a:gd name="connsiteY4" fmla="*/ 93553 h 590215"/>
              <a:gd name="connsiteX5" fmla="*/ 0 w 12192000"/>
              <a:gd name="connsiteY5" fmla="*/ 0 h 590215"/>
              <a:gd name="connsiteX6" fmla="*/ 298663 w 12192000"/>
              <a:gd name="connsiteY6" fmla="*/ 93553 h 590215"/>
              <a:gd name="connsiteX7" fmla="*/ 4348753 w 12192000"/>
              <a:gd name="connsiteY7" fmla="*/ 580203 h 590215"/>
              <a:gd name="connsiteX8" fmla="*/ 4656536 w 12192000"/>
              <a:gd name="connsiteY8" fmla="*/ 590215 h 590215"/>
              <a:gd name="connsiteX9" fmla="*/ 0 w 12192000"/>
              <a:gd name="connsiteY9" fmla="*/ 590215 h 590215"/>
            </a:gdLst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A46B2486-138D-4F35-BFF5-D504E694CCA0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>
              <a:gd name="connsiteX0" fmla="*/ 12192000 w 12192000"/>
              <a:gd name="connsiteY0" fmla="*/ 0 h 391478"/>
              <a:gd name="connsiteX1" fmla="*/ 12192000 w 12192000"/>
              <a:gd name="connsiteY1" fmla="*/ 391478 h 391478"/>
              <a:gd name="connsiteX2" fmla="*/ 7981470 w 12192000"/>
              <a:gd name="connsiteY2" fmla="*/ 391478 h 391478"/>
              <a:gd name="connsiteX3" fmla="*/ 8659552 w 12192000"/>
              <a:gd name="connsiteY3" fmla="*/ 365905 h 391478"/>
              <a:gd name="connsiteX4" fmla="*/ 11893337 w 12192000"/>
              <a:gd name="connsiteY4" fmla="*/ 63963 h 391478"/>
              <a:gd name="connsiteX5" fmla="*/ 0 w 12192000"/>
              <a:gd name="connsiteY5" fmla="*/ 0 h 391478"/>
              <a:gd name="connsiteX6" fmla="*/ 298663 w 12192000"/>
              <a:gd name="connsiteY6" fmla="*/ 63963 h 391478"/>
              <a:gd name="connsiteX7" fmla="*/ 3532448 w 12192000"/>
              <a:gd name="connsiteY7" fmla="*/ 365905 h 391478"/>
              <a:gd name="connsiteX8" fmla="*/ 4210531 w 12192000"/>
              <a:gd name="connsiteY8" fmla="*/ 391478 h 391478"/>
              <a:gd name="connsiteX9" fmla="*/ 0 w 12192000"/>
              <a:gd name="connsiteY9" fmla="*/ 391478 h 391478"/>
            </a:gdLst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49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2A499F-17A6-41B5-A7A0-8737E6CE9B95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sz="2025" b="1" dirty="0">
                <a:solidFill>
                  <a:srgbClr val="1F2D3D"/>
                </a:solidFill>
              </a:rPr>
              <a:t>2.6  </a:t>
            </a:r>
            <a:r>
              <a:rPr sz="2025" b="1" dirty="0" err="1">
                <a:solidFill>
                  <a:srgbClr val="1F2D3D"/>
                </a:solidFill>
              </a:rPr>
              <a:t>选择路径：先定框架，再叠加协议</a:t>
            </a:r>
            <a:endParaRPr sz="2025" b="1" dirty="0">
              <a:solidFill>
                <a:srgbClr val="1F2D3D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DFF2B94-CB09-417A-8455-F0845FE874B4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819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buNone/>
              <a:defRPr sz="1350" b="1">
                <a:solidFill>
                  <a:srgbClr val="1769AA"/>
                </a:solidFill>
              </a:defRPr>
            </a:pPr>
            <a:r>
              <a:rPr sz="1350" b="1">
                <a:solidFill>
                  <a:srgbClr val="1769AA"/>
                </a:solidFill>
              </a:rPr>
              <a:t>第一步问“怎样控制协作”，第二步问“需要连接到哪里”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ED38CE78-CA30-444E-A841-EB2607F965B0}"/>
              </a:ext>
            </a:extLst>
          </p:cNvPr>
          <p:cNvSpPr>
            <a:spLocks noGrp="1"/>
          </p:cNvSpPr>
          <p:nvPr/>
        </p:nvSpPr>
        <p:spPr>
          <a:xfrm>
            <a:off x="400050" y="13144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D36D0E83-037F-4FBE-AB81-8B88546018FD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oundRect">
            <a:avLst>
              <a:gd name="adj" fmla="val 26667"/>
            </a:avLst>
          </a:prstGeom>
          <a:solidFill>
            <a:srgbClr val="1769AA"/>
          </a:solidFill>
          <a:ln w="11430">
            <a:solidFill>
              <a:srgbClr val="1769A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B4F59D5-BCBE-444E-BBC4-B51990911243}"/>
              </a:ext>
            </a:extLst>
          </p:cNvPr>
          <p:cNvSpPr>
            <a:spLocks noGrp="1"/>
          </p:cNvSpPr>
          <p:nvPr/>
        </p:nvSpPr>
        <p:spPr>
          <a:xfrm>
            <a:off x="590550" y="1485900"/>
            <a:ext cx="1485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①  先选典型框架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96BD066A-9F29-44A9-A67C-921A9ED02430}"/>
              </a:ext>
            </a:extLst>
          </p:cNvPr>
          <p:cNvSpPr>
            <a:spLocks noGrp="1"/>
          </p:cNvSpPr>
          <p:nvPr/>
        </p:nvSpPr>
        <p:spPr>
          <a:xfrm>
            <a:off x="5905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3A1FE8-AFCC-4D30-B489-F821EA9D8565}"/>
              </a:ext>
            </a:extLst>
          </p:cNvPr>
          <p:cNvSpPr>
            <a:spLocks noGrp="1"/>
          </p:cNvSpPr>
          <p:nvPr/>
        </p:nvSpPr>
        <p:spPr>
          <a:xfrm>
            <a:off x="7048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强状态 / 回滚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9D9AF1-D5DE-4397-B4A8-00637A0C4F28}"/>
              </a:ext>
            </a:extLst>
          </p:cNvPr>
          <p:cNvSpPr>
            <a:spLocks noGrp="1"/>
          </p:cNvSpPr>
          <p:nvPr/>
        </p:nvSpPr>
        <p:spPr>
          <a:xfrm>
            <a:off x="7048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1769AA"/>
                </a:solidFill>
              </a:defRPr>
            </a:pPr>
            <a:r>
              <a:rPr sz="1500" b="1">
                <a:solidFill>
                  <a:srgbClr val="1769AA"/>
                </a:solidFill>
              </a:rPr>
              <a:t>LangGraph</a:t>
            </a:r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1DA56156-2815-4645-B617-7DCCE3CD5CA5}"/>
              </a:ext>
            </a:extLst>
          </p:cNvPr>
          <p:cNvSpPr>
            <a:spLocks noGrp="1"/>
          </p:cNvSpPr>
          <p:nvPr/>
        </p:nvSpPr>
        <p:spPr>
          <a:xfrm>
            <a:off x="33337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05C7DA2-8AB7-4A64-BC34-5A0E8E81CD86}"/>
              </a:ext>
            </a:extLst>
          </p:cNvPr>
          <p:cNvSpPr>
            <a:spLocks noGrp="1"/>
          </p:cNvSpPr>
          <p:nvPr/>
        </p:nvSpPr>
        <p:spPr>
          <a:xfrm>
            <a:off x="34480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角色团队 / 快速原型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517B89C-9D17-4E35-B822-3B78AC8D9045}"/>
              </a:ext>
            </a:extLst>
          </p:cNvPr>
          <p:cNvSpPr>
            <a:spLocks noGrp="1"/>
          </p:cNvSpPr>
          <p:nvPr/>
        </p:nvSpPr>
        <p:spPr>
          <a:xfrm>
            <a:off x="34480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66C5D4"/>
                </a:solidFill>
              </a:defRPr>
            </a:pPr>
            <a:r>
              <a:rPr sz="1500" b="1">
                <a:solidFill>
                  <a:srgbClr val="66C5D4"/>
                </a:solidFill>
              </a:rPr>
              <a:t>CrewAI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F18C86F6-350B-41FF-935D-EEF81359D8CA}"/>
              </a:ext>
            </a:extLst>
          </p:cNvPr>
          <p:cNvSpPr>
            <a:spLocks noGrp="1"/>
          </p:cNvSpPr>
          <p:nvPr/>
        </p:nvSpPr>
        <p:spPr>
          <a:xfrm>
            <a:off x="60769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46A88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B3CA0B5-163F-415C-90EE-A49986FDD0C9}"/>
              </a:ext>
            </a:extLst>
          </p:cNvPr>
          <p:cNvSpPr>
            <a:spLocks noGrp="1"/>
          </p:cNvSpPr>
          <p:nvPr/>
        </p:nvSpPr>
        <p:spPr>
          <a:xfrm>
            <a:off x="61912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开放协商 / 多轮迭代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2CC4DDE-1B37-47DE-8C48-456B21E0BF80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46A88A"/>
                </a:solidFill>
              </a:defRPr>
            </a:pPr>
            <a:r>
              <a:rPr sz="1500" b="1">
                <a:solidFill>
                  <a:srgbClr val="46A88A"/>
                </a:solidFill>
              </a:rPr>
              <a:t>AutoGen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988FB124-A1A8-4B2F-80F7-481CBEABC21C}"/>
              </a:ext>
            </a:extLst>
          </p:cNvPr>
          <p:cNvSpPr>
            <a:spLocks noGrp="1"/>
          </p:cNvSpPr>
          <p:nvPr/>
        </p:nvSpPr>
        <p:spPr>
          <a:xfrm>
            <a:off x="8820150" y="2038350"/>
            <a:ext cx="2514600" cy="876300"/>
          </a:xfrm>
          <a:prstGeom prst="roundRect">
            <a:avLst>
              <a:gd name="adj" fmla="val 8696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9A0059C-873A-4C70-A3F9-27AE57BE5F48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明确路由 / 轻量交接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7999080-D447-490A-8BEF-A4DD0DF486B5}"/>
              </a:ext>
            </a:extLst>
          </p:cNvPr>
          <p:cNvSpPr>
            <a:spLocks noGrp="1"/>
          </p:cNvSpPr>
          <p:nvPr/>
        </p:nvSpPr>
        <p:spPr>
          <a:xfrm>
            <a:off x="8934450" y="24384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00" b="1">
                <a:solidFill>
                  <a:srgbClr val="2E8FC3"/>
                </a:solidFill>
              </a:defRPr>
            </a:pPr>
            <a:r>
              <a:rPr sz="1500" b="1">
                <a:solidFill>
                  <a:srgbClr val="2E8FC3"/>
                </a:solidFill>
              </a:rPr>
              <a:t>Agents SDK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44BBE2B4-3520-466D-820D-F16670105FB1}"/>
              </a:ext>
            </a:extLst>
          </p:cNvPr>
          <p:cNvSpPr>
            <a:spLocks noGrp="1"/>
          </p:cNvSpPr>
          <p:nvPr/>
        </p:nvSpPr>
        <p:spPr>
          <a:xfrm>
            <a:off x="400050" y="3409950"/>
            <a:ext cx="11391900" cy="1866900"/>
          </a:xfrm>
          <a:prstGeom prst="roundRect">
            <a:avLst>
              <a:gd name="adj" fmla="val 4082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6A92D36D-A2F5-4AC2-B3C8-D66C9D22EBE3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oundRect">
            <a:avLst>
              <a:gd name="adj" fmla="val 26667"/>
            </a:avLst>
          </a:prstGeom>
          <a:solidFill>
            <a:srgbClr val="2E8FC3"/>
          </a:solidFill>
          <a:ln w="11430">
            <a:solidFill>
              <a:srgbClr val="2E8FC3"/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142D10D-BB0A-4706-8A2A-14470E62D868}"/>
              </a:ext>
            </a:extLst>
          </p:cNvPr>
          <p:cNvSpPr>
            <a:spLocks noGrp="1"/>
          </p:cNvSpPr>
          <p:nvPr/>
        </p:nvSpPr>
        <p:spPr>
          <a:xfrm>
            <a:off x="590550" y="3581400"/>
            <a:ext cx="1619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②  再叠加协议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457B88B5-3694-4720-B774-1B269D4A8A25}"/>
              </a:ext>
            </a:extLst>
          </p:cNvPr>
          <p:cNvSpPr>
            <a:spLocks noGrp="1"/>
          </p:cNvSpPr>
          <p:nvPr/>
        </p:nvSpPr>
        <p:spPr>
          <a:xfrm>
            <a:off x="7810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1769AA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C3B699D-C659-4BA5-BCEA-2A25FDF2299D}"/>
              </a:ext>
            </a:extLst>
          </p:cNvPr>
          <p:cNvSpPr>
            <a:spLocks noGrp="1"/>
          </p:cNvSpPr>
          <p:nvPr/>
        </p:nvSpPr>
        <p:spPr>
          <a:xfrm>
            <a:off x="9334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需要工具 / 数据？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1360AE32-D964-44EB-945D-17D33F0170C0}"/>
              </a:ext>
            </a:extLst>
          </p:cNvPr>
          <p:cNvSpPr>
            <a:spLocks noGrp="1"/>
          </p:cNvSpPr>
          <p:nvPr/>
        </p:nvSpPr>
        <p:spPr>
          <a:xfrm>
            <a:off x="9334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1769AA"/>
                </a:solidFill>
              </a:defRPr>
            </a:pPr>
            <a:r>
              <a:rPr sz="1575" b="1">
                <a:solidFill>
                  <a:srgbClr val="1769AA"/>
                </a:solidFill>
              </a:rPr>
              <a:t>MCP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935AF27-321E-4351-A8FD-63BADD7AB25E}"/>
              </a:ext>
            </a:extLst>
          </p:cNvPr>
          <p:cNvSpPr>
            <a:spLocks noGrp="1"/>
          </p:cNvSpPr>
          <p:nvPr/>
        </p:nvSpPr>
        <p:spPr>
          <a:xfrm>
            <a:off x="18478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通常从这里开始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11DCFFD-63F1-4213-A9E2-E8C8AFCFB5F5}"/>
              </a:ext>
            </a:extLst>
          </p:cNvPr>
          <p:cNvSpPr>
            <a:spLocks noGrp="1"/>
          </p:cNvSpPr>
          <p:nvPr/>
        </p:nvSpPr>
        <p:spPr>
          <a:xfrm>
            <a:off x="401955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A7FB3359-DF8F-4310-A070-3298EAE430B3}"/>
              </a:ext>
            </a:extLst>
          </p:cNvPr>
          <p:cNvSpPr>
            <a:spLocks noGrp="1"/>
          </p:cNvSpPr>
          <p:nvPr/>
        </p:nvSpPr>
        <p:spPr>
          <a:xfrm>
            <a:off x="445770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2E8FC3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4C97ED5-CDB6-4A56-9CC7-184329C5E5C9}"/>
              </a:ext>
            </a:extLst>
          </p:cNvPr>
          <p:cNvSpPr>
            <a:spLocks noGrp="1"/>
          </p:cNvSpPr>
          <p:nvPr/>
        </p:nvSpPr>
        <p:spPr>
          <a:xfrm>
            <a:off x="461010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需要独立 Agent 协作？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B437EA7-FA67-40BA-820A-53B2F4717D20}"/>
              </a:ext>
            </a:extLst>
          </p:cNvPr>
          <p:cNvSpPr>
            <a:spLocks noGrp="1"/>
          </p:cNvSpPr>
          <p:nvPr/>
        </p:nvSpPr>
        <p:spPr>
          <a:xfrm>
            <a:off x="461010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2E8FC3"/>
                </a:solidFill>
              </a:defRPr>
            </a:pPr>
            <a:r>
              <a:rPr sz="1575" b="1">
                <a:solidFill>
                  <a:srgbClr val="2E8FC3"/>
                </a:solidFill>
              </a:rPr>
              <a:t>+ A2A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938619-019E-4FF6-86B4-969CF8CB5516}"/>
              </a:ext>
            </a:extLst>
          </p:cNvPr>
          <p:cNvSpPr>
            <a:spLocks noGrp="1"/>
          </p:cNvSpPr>
          <p:nvPr/>
        </p:nvSpPr>
        <p:spPr>
          <a:xfrm>
            <a:off x="552450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跨框架、跨组织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1D4E905-15EB-454E-AF53-FAD9D863D3D1}"/>
              </a:ext>
            </a:extLst>
          </p:cNvPr>
          <p:cNvSpPr>
            <a:spLocks noGrp="1"/>
          </p:cNvSpPr>
          <p:nvPr/>
        </p:nvSpPr>
        <p:spPr>
          <a:xfrm>
            <a:off x="7696200" y="4400550"/>
            <a:ext cx="361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725" b="1">
                <a:solidFill>
                  <a:srgbClr val="5B6775"/>
                </a:solidFill>
              </a:defRPr>
            </a:pPr>
            <a:r>
              <a:rPr sz="1725" b="1">
                <a:solidFill>
                  <a:srgbClr val="5B6775"/>
                </a:solidFill>
              </a:rPr>
              <a:t>→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39BB176B-70CB-4EDD-AABC-2AE84798940A}"/>
              </a:ext>
            </a:extLst>
          </p:cNvPr>
          <p:cNvSpPr>
            <a:spLocks noGrp="1"/>
          </p:cNvSpPr>
          <p:nvPr/>
        </p:nvSpPr>
        <p:spPr>
          <a:xfrm>
            <a:off x="8134350" y="4114800"/>
            <a:ext cx="3200400" cy="895350"/>
          </a:xfrm>
          <a:prstGeom prst="roundRect">
            <a:avLst>
              <a:gd name="adj" fmla="val 8511"/>
            </a:avLst>
          </a:prstGeom>
          <a:noFill/>
          <a:ln w="11430">
            <a:solidFill>
              <a:srgbClr val="66C5D4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3D83203-A3C0-4103-822D-077746D87E90}"/>
              </a:ext>
            </a:extLst>
          </p:cNvPr>
          <p:cNvSpPr>
            <a:spLocks noGrp="1"/>
          </p:cNvSpPr>
          <p:nvPr/>
        </p:nvSpPr>
        <p:spPr>
          <a:xfrm>
            <a:off x="8286750" y="4191000"/>
            <a:ext cx="28956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125" b="1">
                <a:solidFill>
                  <a:srgbClr val="5B6775"/>
                </a:solidFill>
              </a:defRPr>
            </a:pPr>
            <a:r>
              <a:rPr sz="1200" b="1">
                <a:solidFill>
                  <a:srgbClr val="5B6775"/>
                </a:solidFill>
              </a:rPr>
              <a:t>需要开放网络发现？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9A7052-E247-4402-BAB9-F3654054D766}"/>
              </a:ext>
            </a:extLst>
          </p:cNvPr>
          <p:cNvSpPr>
            <a:spLocks noGrp="1"/>
          </p:cNvSpPr>
          <p:nvPr/>
        </p:nvSpPr>
        <p:spPr>
          <a:xfrm>
            <a:off x="8286750" y="4457700"/>
            <a:ext cx="8763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575" b="1">
                <a:solidFill>
                  <a:srgbClr val="66C5D4"/>
                </a:solidFill>
              </a:defRPr>
            </a:pPr>
            <a:r>
              <a:rPr sz="1575" b="1">
                <a:solidFill>
                  <a:srgbClr val="66C5D4"/>
                </a:solidFill>
              </a:rPr>
              <a:t>+ ANP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DF4A2E0-20E6-45A9-907B-C92A2431387D}"/>
              </a:ext>
            </a:extLst>
          </p:cNvPr>
          <p:cNvSpPr>
            <a:spLocks noGrp="1"/>
          </p:cNvSpPr>
          <p:nvPr/>
        </p:nvSpPr>
        <p:spPr>
          <a:xfrm>
            <a:off x="9201150" y="4457700"/>
            <a:ext cx="1943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050" b="0">
                <a:solidFill>
                  <a:srgbClr val="1F2D3D"/>
                </a:solidFill>
              </a:defRPr>
            </a:pPr>
            <a:r>
              <a:rPr sz="1200" b="0">
                <a:solidFill>
                  <a:srgbClr val="1F2D3D"/>
                </a:solidFill>
              </a:rPr>
              <a:t>早期探索，按需加入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74971BB1-5B18-47F5-A515-B077A34BA754}"/>
              </a:ext>
            </a:extLst>
          </p:cNvPr>
          <p:cNvSpPr>
            <a:spLocks noGrp="1"/>
          </p:cNvSpPr>
          <p:nvPr/>
        </p:nvSpPr>
        <p:spPr>
          <a:xfrm>
            <a:off x="1657350" y="5505450"/>
            <a:ext cx="8877300" cy="381000"/>
          </a:xfrm>
          <a:prstGeom prst="roundRect">
            <a:avLst>
              <a:gd name="adj" fmla="val 20000"/>
            </a:avLst>
          </a:prstGeom>
          <a:solidFill>
            <a:srgbClr val="EAF5FB"/>
          </a:solidFill>
          <a:ln w="11430">
            <a:solidFill>
              <a:srgbClr val="C7DCE9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12F6910-8807-4A4C-B934-9BA94F67D12C}"/>
              </a:ext>
            </a:extLst>
          </p:cNvPr>
          <p:cNvSpPr>
            <a:spLocks noGrp="1"/>
          </p:cNvSpPr>
          <p:nvPr/>
        </p:nvSpPr>
        <p:spPr>
          <a:xfrm>
            <a:off x="1847850" y="5524500"/>
            <a:ext cx="84963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buNone/>
              <a:defRPr sz="1275" b="1">
                <a:solidFill>
                  <a:srgbClr val="1F2D3D"/>
                </a:solidFill>
              </a:defRPr>
            </a:pPr>
            <a:r>
              <a:rPr sz="1275" b="1">
                <a:solidFill>
                  <a:srgbClr val="1F2D3D"/>
                </a:solidFill>
                <a:latin typeface="+mj-lt"/>
                <a:ea typeface="+mj-lt"/>
                <a:cs typeface="+mj-lt"/>
              </a:rPr>
              <a:t>没有唯一最佳方案：框架匹配任务结构，协议匹配通信边界；生产落地还需验证安全、成本与可靠性</a:t>
            </a:r>
          </a:p>
        </p:txBody>
      </p:sp>
      <p:sp>
        <p:nvSpPr>
          <p:cNvPr id="46" name="page-number-12">
            <a:extLst>
              <a:ext uri="{FF2B5EF4-FFF2-40B4-BE49-F238E27FC236}">
                <a16:creationId xmlns:a16="http://schemas.microsoft.com/office/drawing/2014/main" id="{AFD664A8-3D97-4957-842E-FF52AEB7360C}"/>
              </a:ext>
            </a:extLst>
          </p:cNvPr>
          <p:cNvSpPr>
            <a:spLocks noGrp="1"/>
          </p:cNvSpPr>
          <p:nvPr/>
        </p:nvSpPr>
        <p:spPr>
          <a:xfrm>
            <a:off x="10953750" y="6096000"/>
            <a:ext cx="6858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13" b="1">
                <a:solidFill>
                  <a:srgbClr val="164B7A"/>
                </a:solidFill>
              </a:defRPr>
            </a:pPr>
            <a:r>
              <a:rPr sz="713" b="1">
                <a:solidFill>
                  <a:srgbClr val="164B7A"/>
                </a:solidFill>
              </a:rPr>
              <a:t>第 12 页</a:t>
            </a:r>
          </a:p>
        </p:txBody>
      </p:sp>
    </p:spTree>
    <p:extLst>
      <p:ext uri="{BB962C8B-B14F-4D97-AF65-F5344CB8AC3E}">
        <p14:creationId xmlns:p14="http://schemas.microsoft.com/office/powerpoint/2010/main" val="1613805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1E4A-649C-47FB-4355-710CDBB38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图片 10">
            <a:extLst>
              <a:ext uri="{FF2B5EF4-FFF2-40B4-BE49-F238E27FC236}">
                <a16:creationId xmlns:a16="http://schemas.microsoft.com/office/drawing/2014/main" id="{DF47ABC1-AE46-FFFF-18E3-BCDFD9ACFFC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4399"/>
          <a:stretch>
            <a:fillRect/>
          </a:stretch>
        </p:blipFill>
        <p:spPr>
          <a:xfrm>
            <a:off x="0" y="20955"/>
            <a:ext cx="4824095" cy="3813175"/>
          </a:xfrm>
          <a:prstGeom prst="rect">
            <a:avLst/>
          </a:prstGeom>
        </p:spPr>
      </p:pic>
      <p:pic>
        <p:nvPicPr>
          <p:cNvPr id="189" name="图片 11">
            <a:extLst>
              <a:ext uri="{FF2B5EF4-FFF2-40B4-BE49-F238E27FC236}">
                <a16:creationId xmlns:a16="http://schemas.microsoft.com/office/drawing/2014/main" id="{1BE18913-B1A7-3345-C07C-DCD3F26209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5151"/>
          <a:stretch>
            <a:fillRect/>
          </a:stretch>
        </p:blipFill>
        <p:spPr>
          <a:xfrm>
            <a:off x="8025130" y="4253230"/>
            <a:ext cx="4166870" cy="2656840"/>
          </a:xfrm>
          <a:prstGeom prst="rect">
            <a:avLst/>
          </a:prstGeom>
        </p:spPr>
      </p:pic>
      <p:sp>
        <p:nvSpPr>
          <p:cNvPr id="6" name="矩形 150">
            <a:extLst>
              <a:ext uri="{FF2B5EF4-FFF2-40B4-BE49-F238E27FC236}">
                <a16:creationId xmlns:a16="http://schemas.microsoft.com/office/drawing/2014/main" id="{C908412B-0EE9-5756-8905-152DE71EED68}"/>
              </a:ext>
            </a:extLst>
          </p:cNvPr>
          <p:cNvSpPr>
            <a:spLocks noGrp="1"/>
          </p:cNvSpPr>
          <p:nvPr/>
        </p:nvSpPr>
        <p:spPr>
          <a:xfrm>
            <a:off x="2480220" y="2601099"/>
            <a:ext cx="1681734" cy="1772149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reflection blurRad="6350" stA="52000" endA="300" endPos="35000" dir="5400000" sy="-100000" algn="bl" rotWithShape="0"/>
          </a:effectLst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" name="文本框 19">
            <a:extLst>
              <a:ext uri="{FF2B5EF4-FFF2-40B4-BE49-F238E27FC236}">
                <a16:creationId xmlns:a16="http://schemas.microsoft.com/office/drawing/2014/main" id="{136AEFFF-2FB6-2B7B-F977-1DAB2004DF60}"/>
              </a:ext>
            </a:extLst>
          </p:cNvPr>
          <p:cNvSpPr>
            <a:spLocks noGrp="1"/>
          </p:cNvSpPr>
          <p:nvPr/>
        </p:nvSpPr>
        <p:spPr>
          <a:xfrm>
            <a:off x="2504017" y="2837900"/>
            <a:ext cx="1603918" cy="70675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0</a:t>
            </a:r>
            <a:r>
              <a:rPr lang="en-US" altLang="zh-CN" sz="4000" b="1" dirty="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4000" b="1" dirty="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31616D-47DD-47C8-F4F0-8C12D31EFF01}"/>
              </a:ext>
            </a:extLst>
          </p:cNvPr>
          <p:cNvSpPr>
            <a:spLocks noGrp="1"/>
          </p:cNvSpPr>
          <p:nvPr/>
        </p:nvSpPr>
        <p:spPr>
          <a:xfrm>
            <a:off x="2467399" y="3957093"/>
            <a:ext cx="1694555" cy="650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43AB0A54-DEF4-FE62-E1AC-1826EACBB028}"/>
              </a:ext>
            </a:extLst>
          </p:cNvPr>
          <p:cNvSpPr>
            <a:spLocks noGrp="1"/>
          </p:cNvSpPr>
          <p:nvPr/>
        </p:nvSpPr>
        <p:spPr>
          <a:xfrm>
            <a:off x="4336415" y="3006725"/>
            <a:ext cx="6979920" cy="70442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R="0" indent="0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000" b="0" i="0" u="none" cap="none" spc="-15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latin typeface="字体圈欣意冠黑体"/>
                <a:ea typeface="字体圈欣意冠黑体"/>
                <a:cs typeface="字体圈欣意冠黑体"/>
              </a:defRPr>
            </a:lvl1pPr>
          </a:lstStyle>
          <a:p>
            <a:pPr>
              <a:lnSpc>
                <a:spcPct val="110000"/>
              </a:lnSpc>
            </a:pPr>
            <a:r>
              <a:rPr lang="zh-CN" altLang="zh-CN" sz="4400" b="1" dirty="0"/>
              <a:t>生产设计、评价与未来方向</a:t>
            </a:r>
            <a:endParaRPr sz="4400" dirty="0">
              <a:solidFill>
                <a:schemeClr val="tx1"/>
              </a:solidFill>
              <a:latin typeface="优设标题黑"/>
              <a:ea typeface="优设标题黑"/>
              <a:cs typeface="优设标题黑"/>
            </a:endParaRPr>
          </a:p>
        </p:txBody>
      </p:sp>
    </p:spTree>
    <p:extLst>
      <p:ext uri="{BB962C8B-B14F-4D97-AF65-F5344CB8AC3E}">
        <p14:creationId xmlns:p14="http://schemas.microsoft.com/office/powerpoint/2010/main" val="4186025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B85830F2-284F-42A5-AFFD-7125A08332FF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3EE5D5C2-E7A2-49A1-AC52-313599337514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6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49CAB5F-EEDC-4EFA-840E-64E66C0C0450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框架能跑通，不等于系统能生产落地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E68223-8D04-49D9-9A0D-8B836496F680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生产级编排必须同时解决持久状态、计划成本、故障恢复、规模扩展与审计安全。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2142CA9-B237-47E6-BE37-8F92ECC9A7EA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55EDE9A-FCEB-477B-8848-BB03AC1A0351}"/>
              </a:ext>
            </a:extLst>
          </p:cNvPr>
          <p:cNvSpPr>
            <a:spLocks noGrp="1"/>
          </p:cNvSpPr>
          <p:nvPr/>
        </p:nvSpPr>
        <p:spPr>
          <a:xfrm>
            <a:off x="552450" y="1657350"/>
            <a:ext cx="1924050" cy="400050"/>
          </a:xfrm>
          <a:prstGeom prst="rect">
            <a:avLst/>
          </a:prstGeom>
          <a:solidFill>
            <a:srgbClr val="168FD0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设计问题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99965F2-BB24-44A5-8792-938D4CEED8CD}"/>
              </a:ext>
            </a:extLst>
          </p:cNvPr>
          <p:cNvSpPr>
            <a:spLocks noGrp="1"/>
          </p:cNvSpPr>
          <p:nvPr/>
        </p:nvSpPr>
        <p:spPr>
          <a:xfrm>
            <a:off x="2476500" y="1657350"/>
            <a:ext cx="2686050" cy="400050"/>
          </a:xfrm>
          <a:prstGeom prst="rect">
            <a:avLst/>
          </a:prstGeom>
          <a:solidFill>
            <a:srgbClr val="168FD0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典型失效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BB1FC08-2902-4754-97FD-A0B468B8CCBD}"/>
              </a:ext>
            </a:extLst>
          </p:cNvPr>
          <p:cNvSpPr>
            <a:spLocks noGrp="1"/>
          </p:cNvSpPr>
          <p:nvPr/>
        </p:nvSpPr>
        <p:spPr>
          <a:xfrm>
            <a:off x="5162550" y="1657350"/>
            <a:ext cx="6477000" cy="400050"/>
          </a:xfrm>
          <a:prstGeom prst="rect">
            <a:avLst/>
          </a:prstGeom>
          <a:solidFill>
            <a:srgbClr val="164B7A"/>
          </a:solidFill>
          <a:ln w="9525">
            <a:solidFill>
              <a:srgbClr val="FFFFFF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生产机制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70ED515-A893-45F4-B93B-4810679BD0DA}"/>
              </a:ext>
            </a:extLst>
          </p:cNvPr>
          <p:cNvSpPr>
            <a:spLocks noGrp="1"/>
          </p:cNvSpPr>
          <p:nvPr/>
        </p:nvSpPr>
        <p:spPr>
          <a:xfrm>
            <a:off x="552450" y="2057400"/>
            <a:ext cx="1924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状态管理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C66265B-BF23-4389-BDE1-5A94B1975CAA}"/>
              </a:ext>
            </a:extLst>
          </p:cNvPr>
          <p:cNvSpPr>
            <a:spLocks noGrp="1"/>
          </p:cNvSpPr>
          <p:nvPr/>
        </p:nvSpPr>
        <p:spPr>
          <a:xfrm>
            <a:off x="2476500" y="2057400"/>
            <a:ext cx="2686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上下文溢出；跨会话状态丢失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D4870FA-D83A-4B95-8252-FA3B5E7EF7D7}"/>
              </a:ext>
            </a:extLst>
          </p:cNvPr>
          <p:cNvSpPr>
            <a:spLocks noGrp="1"/>
          </p:cNvSpPr>
          <p:nvPr/>
        </p:nvSpPr>
        <p:spPr>
          <a:xfrm>
            <a:off x="5162550" y="2057400"/>
            <a:ext cx="647700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Checkpoint + 外部记忆 + 可逆摘要；只向智能体暴露角色相关状态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AD03CF8-9821-4DED-A890-BFEFAE0B6912}"/>
              </a:ext>
            </a:extLst>
          </p:cNvPr>
          <p:cNvSpPr>
            <a:spLocks noGrp="1"/>
          </p:cNvSpPr>
          <p:nvPr/>
        </p:nvSpPr>
        <p:spPr>
          <a:xfrm>
            <a:off x="552450" y="2686050"/>
            <a:ext cx="19240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任务规划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5B6E1DD-85A6-4BE6-98D4-FA340B2E9FC4}"/>
              </a:ext>
            </a:extLst>
          </p:cNvPr>
          <p:cNvSpPr>
            <a:spLocks noGrp="1"/>
          </p:cNvSpPr>
          <p:nvPr/>
        </p:nvSpPr>
        <p:spPr>
          <a:xfrm>
            <a:off x="2476500" y="2686050"/>
            <a:ext cx="26860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静态计划僵化；动态规划成本过高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604900-DCF0-4AC4-B196-024C13955B82}"/>
              </a:ext>
            </a:extLst>
          </p:cNvPr>
          <p:cNvSpPr>
            <a:spLocks noGrp="1"/>
          </p:cNvSpPr>
          <p:nvPr/>
        </p:nvSpPr>
        <p:spPr>
          <a:xfrm>
            <a:off x="5162550" y="2686050"/>
            <a:ext cx="6477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分层分解 + 预算化计划 + 能力路由；关键节点允许重新规划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DC79942-607A-43DE-AE5B-09A4AA49CC3E}"/>
              </a:ext>
            </a:extLst>
          </p:cNvPr>
          <p:cNvSpPr>
            <a:spLocks noGrp="1"/>
          </p:cNvSpPr>
          <p:nvPr/>
        </p:nvSpPr>
        <p:spPr>
          <a:xfrm>
            <a:off x="552450" y="3314700"/>
            <a:ext cx="1924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错误恢复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2F87800-2A5D-4EC3-870C-24E7F82C0106}"/>
              </a:ext>
            </a:extLst>
          </p:cNvPr>
          <p:cNvSpPr>
            <a:spLocks noGrp="1"/>
          </p:cNvSpPr>
          <p:nvPr/>
        </p:nvSpPr>
        <p:spPr>
          <a:xfrm>
            <a:off x="2476500" y="3314700"/>
            <a:ext cx="2686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死循环、超时、错误路由、工具崩溃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40F1031-8B83-49DF-80AB-F673F64A4774}"/>
              </a:ext>
            </a:extLst>
          </p:cNvPr>
          <p:cNvSpPr>
            <a:spLocks noGrp="1"/>
          </p:cNvSpPr>
          <p:nvPr/>
        </p:nvSpPr>
        <p:spPr>
          <a:xfrm>
            <a:off x="5162550" y="3314700"/>
            <a:ext cx="647700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幂等重试 + 指数退避 + 回滚 + 最大迭代数 + 人工接管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E107B08F-7E01-482D-8F5F-EFD2779023A2}"/>
              </a:ext>
            </a:extLst>
          </p:cNvPr>
          <p:cNvSpPr>
            <a:spLocks noGrp="1"/>
          </p:cNvSpPr>
          <p:nvPr/>
        </p:nvSpPr>
        <p:spPr>
          <a:xfrm>
            <a:off x="552450" y="3943350"/>
            <a:ext cx="19240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扩展与成本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A099746-4202-4EC4-908E-C372C8E90936}"/>
              </a:ext>
            </a:extLst>
          </p:cNvPr>
          <p:cNvSpPr>
            <a:spLocks noGrp="1"/>
          </p:cNvSpPr>
          <p:nvPr/>
        </p:nvSpPr>
        <p:spPr>
          <a:xfrm>
            <a:off x="2476500" y="3943350"/>
            <a:ext cx="268605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消息广播、协调器过载、Token 线性膨胀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A67039C-F965-4545-B554-43415EAAA6B6}"/>
              </a:ext>
            </a:extLst>
          </p:cNvPr>
          <p:cNvSpPr>
            <a:spLocks noGrp="1"/>
          </p:cNvSpPr>
          <p:nvPr/>
        </p:nvSpPr>
        <p:spPr>
          <a:xfrm>
            <a:off x="5162550" y="3943350"/>
            <a:ext cx="64770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子团队 + 发布订阅 + 结构化文档 + 轨迹压缩（输入 Token ↓40–60%）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78DB8A8-0EF0-48A8-95E4-49458C9BF063}"/>
              </a:ext>
            </a:extLst>
          </p:cNvPr>
          <p:cNvSpPr>
            <a:spLocks noGrp="1"/>
          </p:cNvSpPr>
          <p:nvPr/>
        </p:nvSpPr>
        <p:spPr>
          <a:xfrm>
            <a:off x="552450" y="4572000"/>
            <a:ext cx="1924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可观测与安全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A101639-A71B-4975-A23B-B7DFE2787775}"/>
              </a:ext>
            </a:extLst>
          </p:cNvPr>
          <p:cNvSpPr>
            <a:spLocks noGrp="1"/>
          </p:cNvSpPr>
          <p:nvPr/>
        </p:nvSpPr>
        <p:spPr>
          <a:xfrm>
            <a:off x="2476500" y="4572000"/>
            <a:ext cx="268605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责任链不清；权限随交接扩大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6DFDFCE-6D97-46A0-9A09-A9626D99C1E6}"/>
              </a:ext>
            </a:extLst>
          </p:cNvPr>
          <p:cNvSpPr>
            <a:spLocks noGrp="1"/>
          </p:cNvSpPr>
          <p:nvPr/>
        </p:nvSpPr>
        <p:spPr>
          <a:xfrm>
            <a:off x="5162550" y="4572000"/>
            <a:ext cx="6477000" cy="628650"/>
          </a:xfrm>
          <a:prstGeom prst="rect">
            <a:avLst/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95250" tIns="76200" rIns="95250" bIns="7620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全链路 Trace + 最小权限 + 能力预算 + 超时与循环检测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497503B9-5EFD-46F9-955E-99F8B1A9F4EC}"/>
              </a:ext>
            </a:extLst>
          </p:cNvPr>
          <p:cNvSpPr>
            <a:spLocks noGrp="1"/>
          </p:cNvSpPr>
          <p:nvPr/>
        </p:nvSpPr>
        <p:spPr>
          <a:xfrm>
            <a:off x="7334250" y="5324475"/>
            <a:ext cx="4305300" cy="400050"/>
          </a:xfrm>
          <a:prstGeom prst="roundRect">
            <a:avLst>
              <a:gd name="adj" fmla="val 19048"/>
            </a:avLst>
          </a:prstGeom>
          <a:solidFill>
            <a:srgbClr val="164B7A"/>
          </a:solidFill>
          <a:ln w="9525">
            <a:solidFill>
              <a:srgbClr val="164B7A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生产基线：可持久 · 可恢复 · 可观测 · 可介入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CE8C5B5-52A4-4EDA-B26C-A05C1664A805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13 页</a:t>
            </a:r>
          </a:p>
        </p:txBody>
      </p:sp>
      <p:sp>
        <p:nvSpPr>
          <p:cNvPr id="3" name="文本框 6">
            <a:extLst>
              <a:ext uri="{FF2B5EF4-FFF2-40B4-BE49-F238E27FC236}">
                <a16:creationId xmlns:a16="http://schemas.microsoft.com/office/drawing/2014/main" id="{11B0013C-D486-D4CC-4FA7-A1CE8B74300B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sz="2025" b="1" dirty="0">
                <a:solidFill>
                  <a:srgbClr val="1F2D3D"/>
                </a:solidFill>
              </a:rPr>
              <a:t>1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生产设计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5333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A726C327-A1E3-48D8-B546-8FCFFA057264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94E672A1-2F29-480F-8422-3C49B95A8044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0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4A41B27-D8D6-4058-AF43-FD7994BDE1F8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攻击不会停留在单个智能体，而会沿消息、共享状态与工具权限扩散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A882B65-FB17-4CD7-9B29-05886BDA8828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拓扑决定攻击面，也决定最有效的防御位置；认证可信不等于内容可信。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F05B4C8-EA0C-45D1-9781-674F6AA3E046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C9D97D3-F372-4A50-B391-0EC7F711D097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69545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BDDE3FF-AC2B-4397-92BE-3C837C5361F5}"/>
              </a:ext>
            </a:extLst>
          </p:cNvPr>
          <p:cNvSpPr>
            <a:spLocks noGrp="1"/>
          </p:cNvSpPr>
          <p:nvPr/>
        </p:nvSpPr>
        <p:spPr>
          <a:xfrm>
            <a:off x="2781300" y="1809750"/>
            <a:ext cx="169545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798E39-DFAA-4CD3-B34D-65A7C1B4224A}"/>
              </a:ext>
            </a:extLst>
          </p:cNvPr>
          <p:cNvSpPr>
            <a:spLocks noGrp="1"/>
          </p:cNvSpPr>
          <p:nvPr/>
        </p:nvSpPr>
        <p:spPr>
          <a:xfrm>
            <a:off x="4895850" y="1809750"/>
            <a:ext cx="169545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2FB2F0-EE93-4EF3-9A45-E6160D1E08F6}"/>
              </a:ext>
            </a:extLst>
          </p:cNvPr>
          <p:cNvSpPr>
            <a:spLocks noGrp="1"/>
          </p:cNvSpPr>
          <p:nvPr/>
        </p:nvSpPr>
        <p:spPr>
          <a:xfrm>
            <a:off x="7010400" y="1809750"/>
            <a:ext cx="169545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9932C63-9D9D-473E-83A7-E714D3BC34B6}"/>
              </a:ext>
            </a:extLst>
          </p:cNvPr>
          <p:cNvSpPr>
            <a:spLocks noGrp="1"/>
          </p:cNvSpPr>
          <p:nvPr/>
        </p:nvSpPr>
        <p:spPr>
          <a:xfrm>
            <a:off x="9124950" y="1809750"/>
            <a:ext cx="1695450" cy="87630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80" name="直接箭头连接符 62"/>
          <p:cNvCxnSpPr>
            <a:stCxn id="12" idx="3"/>
            <a:endCxn id="13" idx="1"/>
          </p:cNvCxnSpPr>
          <p:nvPr/>
        </p:nvCxnSpPr>
        <p:spPr>
          <a:xfrm>
            <a:off x="2362200" y="2247900"/>
            <a:ext cx="419100" cy="0"/>
          </a:xfrm>
          <a:prstGeom prst="straightConnector1">
            <a:avLst/>
          </a:prstGeom>
          <a:ln w="20955">
            <a:solidFill>
              <a:srgbClr val="D24D57"/>
            </a:solidFill>
            <a:prstDash val="solid"/>
            <a:tailEnd type="arrow" w="med" len="med"/>
          </a:ln>
        </p:spPr>
      </p:cxnSp>
      <p:cxnSp>
        <p:nvCxnSpPr>
          <p:cNvPr id="81" name="直接箭头连接符 63"/>
          <p:cNvCxnSpPr>
            <a:stCxn id="13" idx="3"/>
            <a:endCxn id="14" idx="1"/>
          </p:cNvCxnSpPr>
          <p:nvPr/>
        </p:nvCxnSpPr>
        <p:spPr>
          <a:xfrm>
            <a:off x="4476750" y="2247900"/>
            <a:ext cx="419100" cy="0"/>
          </a:xfrm>
          <a:prstGeom prst="straightConnector1">
            <a:avLst/>
          </a:prstGeom>
          <a:ln w="20955">
            <a:solidFill>
              <a:srgbClr val="D24D57"/>
            </a:solidFill>
            <a:prstDash val="solid"/>
            <a:tailEnd type="arrow" w="med" len="med"/>
          </a:ln>
        </p:spPr>
      </p:cxnSp>
      <p:cxnSp>
        <p:nvCxnSpPr>
          <p:cNvPr id="82" name="直接箭头连接符 64"/>
          <p:cNvCxnSpPr>
            <a:stCxn id="14" idx="3"/>
            <a:endCxn id="15" idx="1"/>
          </p:cNvCxnSpPr>
          <p:nvPr/>
        </p:nvCxnSpPr>
        <p:spPr>
          <a:xfrm>
            <a:off x="6591300" y="2247900"/>
            <a:ext cx="419100" cy="0"/>
          </a:xfrm>
          <a:prstGeom prst="straightConnector1">
            <a:avLst/>
          </a:prstGeom>
          <a:ln w="20955">
            <a:solidFill>
              <a:srgbClr val="D24D57"/>
            </a:solidFill>
            <a:prstDash val="solid"/>
            <a:tailEnd type="arrow" w="med" len="med"/>
          </a:ln>
        </p:spPr>
      </p:cxnSp>
      <p:cxnSp>
        <p:nvCxnSpPr>
          <p:cNvPr id="83" name="直接箭头连接符 65"/>
          <p:cNvCxnSpPr>
            <a:stCxn id="15" idx="3"/>
            <a:endCxn id="16" idx="1"/>
          </p:cNvCxnSpPr>
          <p:nvPr/>
        </p:nvCxnSpPr>
        <p:spPr>
          <a:xfrm>
            <a:off x="8705850" y="2247900"/>
            <a:ext cx="419100" cy="0"/>
          </a:xfrm>
          <a:prstGeom prst="straightConnector1">
            <a:avLst/>
          </a:prstGeom>
          <a:ln w="20955">
            <a:solidFill>
              <a:srgbClr val="D24D57"/>
            </a:solidFill>
            <a:prstDash val="solid"/>
            <a:tailEnd type="arrow" w="med" len="med"/>
          </a:ln>
        </p:spPr>
      </p:cxn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99F589FD-1679-4A88-97C6-F3132A9FF298}"/>
              </a:ext>
            </a:extLst>
          </p:cNvPr>
          <p:cNvSpPr>
            <a:spLocks noGrp="1"/>
          </p:cNvSpPr>
          <p:nvPr/>
        </p:nvSpPr>
        <p:spPr>
          <a:xfrm>
            <a:off x="666750" y="180975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CECEF"/>
          </a:solidFill>
          <a:ln w="15240">
            <a:solidFill>
              <a:srgbClr val="D24D57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5CC345D-A495-470E-96B6-800D783CB02D}"/>
              </a:ext>
            </a:extLst>
          </p:cNvPr>
          <p:cNvSpPr>
            <a:spLocks noGrp="1"/>
          </p:cNvSpPr>
          <p:nvPr/>
        </p:nvSpPr>
        <p:spPr>
          <a:xfrm>
            <a:off x="723900" y="19050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恶意输入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A266CE-37AD-41A9-91CF-4EB6A63BC9F9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提示注入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71D75B3-BB46-4650-9037-9A9E06C22EFC}"/>
              </a:ext>
            </a:extLst>
          </p:cNvPr>
          <p:cNvSpPr>
            <a:spLocks noGrp="1"/>
          </p:cNvSpPr>
          <p:nvPr/>
        </p:nvSpPr>
        <p:spPr>
          <a:xfrm>
            <a:off x="2781300" y="180975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FF5E4"/>
          </a:solidFill>
          <a:ln w="15240">
            <a:solidFill>
              <a:srgbClr val="D8891C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3AA0DF2-C01C-4A90-B3ED-690404740933}"/>
              </a:ext>
            </a:extLst>
          </p:cNvPr>
          <p:cNvSpPr>
            <a:spLocks noGrp="1"/>
          </p:cNvSpPr>
          <p:nvPr/>
        </p:nvSpPr>
        <p:spPr>
          <a:xfrm>
            <a:off x="2838450" y="19050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被感染智能体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59D76D3-F30C-4977-89B0-26ABC58FFC27}"/>
              </a:ext>
            </a:extLst>
          </p:cNvPr>
          <p:cNvSpPr>
            <a:spLocks noGrp="1"/>
          </p:cNvSpPr>
          <p:nvPr/>
        </p:nvSpPr>
        <p:spPr>
          <a:xfrm>
            <a:off x="2838450" y="22574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指令被劫持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92B0BE57-99AF-4592-BD49-FB75D5E8F0E2}"/>
              </a:ext>
            </a:extLst>
          </p:cNvPr>
          <p:cNvSpPr>
            <a:spLocks noGrp="1"/>
          </p:cNvSpPr>
          <p:nvPr/>
        </p:nvSpPr>
        <p:spPr>
          <a:xfrm>
            <a:off x="4895850" y="180975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EAF7FC"/>
          </a:solidFill>
          <a:ln w="15240">
            <a:solidFill>
              <a:srgbClr val="168FD0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B9021F4-33E4-4B05-A091-DABD6831F5EC}"/>
              </a:ext>
            </a:extLst>
          </p:cNvPr>
          <p:cNvSpPr>
            <a:spLocks noGrp="1"/>
          </p:cNvSpPr>
          <p:nvPr/>
        </p:nvSpPr>
        <p:spPr>
          <a:xfrm>
            <a:off x="4953000" y="19050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共享内存 / 消息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C80D5D9-5A74-4B6F-BCA8-010E43A090B6}"/>
              </a:ext>
            </a:extLst>
          </p:cNvPr>
          <p:cNvSpPr>
            <a:spLocks noGrp="1"/>
          </p:cNvSpPr>
          <p:nvPr/>
        </p:nvSpPr>
        <p:spPr>
          <a:xfrm>
            <a:off x="4953000" y="22574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状态污染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BD0944DD-FBA0-469C-9768-2DA606A51336}"/>
              </a:ext>
            </a:extLst>
          </p:cNvPr>
          <p:cNvSpPr>
            <a:spLocks noGrp="1"/>
          </p:cNvSpPr>
          <p:nvPr/>
        </p:nvSpPr>
        <p:spPr>
          <a:xfrm>
            <a:off x="7010400" y="180975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0EEFA"/>
          </a:solidFill>
          <a:ln w="15240">
            <a:solidFill>
              <a:srgbClr val="6559A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CE502BF-811E-4E0E-82AC-074C4EEC67BE}"/>
              </a:ext>
            </a:extLst>
          </p:cNvPr>
          <p:cNvSpPr>
            <a:spLocks noGrp="1"/>
          </p:cNvSpPr>
          <p:nvPr/>
        </p:nvSpPr>
        <p:spPr>
          <a:xfrm>
            <a:off x="7067550" y="19050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其他智能体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4B69DBD-5D8B-4133-8437-6D485D96EA4F}"/>
              </a:ext>
            </a:extLst>
          </p:cNvPr>
          <p:cNvSpPr>
            <a:spLocks noGrp="1"/>
          </p:cNvSpPr>
          <p:nvPr/>
        </p:nvSpPr>
        <p:spPr>
          <a:xfrm>
            <a:off x="7067550" y="22574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横向传播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1A62F2D-3BC4-4269-B7F0-6D75E2BCB45A}"/>
              </a:ext>
            </a:extLst>
          </p:cNvPr>
          <p:cNvSpPr>
            <a:spLocks noGrp="1"/>
          </p:cNvSpPr>
          <p:nvPr/>
        </p:nvSpPr>
        <p:spPr>
          <a:xfrm>
            <a:off x="9124950" y="1809750"/>
            <a:ext cx="1695450" cy="876300"/>
          </a:xfrm>
          <a:prstGeom prst="roundRect">
            <a:avLst>
              <a:gd name="adj" fmla="val 13043"/>
            </a:avLst>
          </a:prstGeom>
          <a:solidFill>
            <a:srgbClr val="FCECEF"/>
          </a:solidFill>
          <a:ln w="15240">
            <a:solidFill>
              <a:srgbClr val="D24D57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C1DDA42-912A-4F43-BC7B-C1BF8790323F}"/>
              </a:ext>
            </a:extLst>
          </p:cNvPr>
          <p:cNvSpPr>
            <a:spLocks noGrp="1"/>
          </p:cNvSpPr>
          <p:nvPr/>
        </p:nvSpPr>
        <p:spPr>
          <a:xfrm>
            <a:off x="9182100" y="190500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工具 / 外部系统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A8D313B-5F0A-4719-AA0A-6813567D4389}"/>
              </a:ext>
            </a:extLst>
          </p:cNvPr>
          <p:cNvSpPr>
            <a:spLocks noGrp="1"/>
          </p:cNvSpPr>
          <p:nvPr/>
        </p:nvSpPr>
        <p:spPr>
          <a:xfrm>
            <a:off x="9182100" y="2257425"/>
            <a:ext cx="15811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2593"/>
          </a:bodyPr>
          <a:lstStyle/>
          <a:p>
            <a:pPr algn="ctr">
              <a:lnSpc>
                <a:spcPct val="108000"/>
              </a:lnSpc>
              <a:buNone/>
              <a:def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越权与泄露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AB0C83C-7B4F-4D69-83F4-10D5E1D59795}"/>
              </a:ext>
            </a:extLst>
          </p:cNvPr>
          <p:cNvSpPr>
            <a:spLocks noGrp="1"/>
          </p:cNvSpPr>
          <p:nvPr/>
        </p:nvSpPr>
        <p:spPr>
          <a:xfrm>
            <a:off x="552450" y="2952750"/>
            <a:ext cx="3543300" cy="1981200"/>
          </a:xfrm>
          <a:prstGeom prst="roundRect">
            <a:avLst>
              <a:gd name="adj" fmla="val 5769"/>
            </a:avLst>
          </a:prstGeom>
          <a:solidFill>
            <a:srgbClr val="EAF7FC"/>
          </a:solidFill>
          <a:ln w="11430">
            <a:solidFill>
              <a:srgbClr val="168FD0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735DA5C-F654-497E-A4E7-A8595AFD0E34}"/>
              </a:ext>
            </a:extLst>
          </p:cNvPr>
          <p:cNvSpPr>
            <a:spLocks noGrp="1"/>
          </p:cNvSpPr>
          <p:nvPr/>
        </p:nvSpPr>
        <p:spPr>
          <a:xfrm>
            <a:off x="704850" y="30670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集中式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5D843591-93BC-4702-B1B6-0DBCB9CF768B}"/>
              </a:ext>
            </a:extLst>
          </p:cNvPr>
          <p:cNvSpPr>
            <a:spLocks noGrp="1"/>
          </p:cNvSpPr>
          <p:nvPr/>
        </p:nvSpPr>
        <p:spPr>
          <a:xfrm>
            <a:off x="704850" y="3429000"/>
            <a:ext cx="3238500" cy="304800"/>
          </a:xfrm>
          <a:prstGeom prst="roundRect">
            <a:avLst>
              <a:gd name="adj" fmla="val 50000"/>
            </a:avLst>
          </a:prstGeom>
          <a:solidFill>
            <a:srgbClr val="168FD0"/>
          </a:solidFill>
          <a:ln w="9525">
            <a:solidFill>
              <a:srgbClr val="168FD0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一个防守闸门，也是一处高价值目标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1DB31A2-6E8D-4315-AA9D-A1858D8703F1}"/>
              </a:ext>
            </a:extLst>
          </p:cNvPr>
          <p:cNvSpPr>
            <a:spLocks noGrp="1"/>
          </p:cNvSpPr>
          <p:nvPr/>
        </p:nvSpPr>
        <p:spPr>
          <a:xfrm>
            <a:off x="704850" y="3810000"/>
            <a:ext cx="3238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风险：监督者被攻破后污染全部下游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防御：入口净化、统一 Guardrail、集中审计、热备监督者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6E5224D7-EAAB-4D89-B3D6-3ADE0B7C2CF7}"/>
              </a:ext>
            </a:extLst>
          </p:cNvPr>
          <p:cNvSpPr>
            <a:spLocks noGrp="1"/>
          </p:cNvSpPr>
          <p:nvPr/>
        </p:nvSpPr>
        <p:spPr>
          <a:xfrm>
            <a:off x="4324350" y="2952750"/>
            <a:ext cx="3543300" cy="1981200"/>
          </a:xfrm>
          <a:prstGeom prst="roundRect">
            <a:avLst>
              <a:gd name="adj" fmla="val 5769"/>
            </a:avLst>
          </a:prstGeom>
          <a:solidFill>
            <a:srgbClr val="F0EEFA"/>
          </a:solidFill>
          <a:ln w="11430">
            <a:solidFill>
              <a:srgbClr val="6559A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FBBE188-0253-415A-BC32-DFF94E7C130C}"/>
              </a:ext>
            </a:extLst>
          </p:cNvPr>
          <p:cNvSpPr>
            <a:spLocks noGrp="1"/>
          </p:cNvSpPr>
          <p:nvPr/>
        </p:nvSpPr>
        <p:spPr>
          <a:xfrm>
            <a:off x="4476750" y="30670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去中心化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8FBF3BE9-3F01-467B-BD20-E5BD7B9C02C2}"/>
              </a:ext>
            </a:extLst>
          </p:cNvPr>
          <p:cNvSpPr>
            <a:spLocks noGrp="1"/>
          </p:cNvSpPr>
          <p:nvPr/>
        </p:nvSpPr>
        <p:spPr>
          <a:xfrm>
            <a:off x="4476750" y="3429000"/>
            <a:ext cx="3238500" cy="304800"/>
          </a:xfrm>
          <a:prstGeom prst="roundRect">
            <a:avLst>
              <a:gd name="adj" fmla="val 50000"/>
            </a:avLst>
          </a:prstGeom>
          <a:solidFill>
            <a:srgbClr val="6559A8"/>
          </a:solidFill>
          <a:ln w="9525">
            <a:solidFill>
              <a:srgbClr val="6559A8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没有单点失效，也没有统一隔离点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5A6F13E-B9F9-48B6-89A8-B8956F7ED0D8}"/>
              </a:ext>
            </a:extLst>
          </p:cNvPr>
          <p:cNvSpPr>
            <a:spLocks noGrp="1"/>
          </p:cNvSpPr>
          <p:nvPr/>
        </p:nvSpPr>
        <p:spPr>
          <a:xfrm>
            <a:off x="4476750" y="3810000"/>
            <a:ext cx="3238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风险：感染在网状通信中自复制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防御：逐智能体过滤、签名身份、能力范围凭证、出口白名单</a:t>
            </a: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7E0DF59E-9F1F-478D-8943-85533274C83C}"/>
              </a:ext>
            </a:extLst>
          </p:cNvPr>
          <p:cNvSpPr>
            <a:spLocks noGrp="1"/>
          </p:cNvSpPr>
          <p:nvPr/>
        </p:nvSpPr>
        <p:spPr>
          <a:xfrm>
            <a:off x="8096250" y="2952750"/>
            <a:ext cx="3543300" cy="1981200"/>
          </a:xfrm>
          <a:prstGeom prst="roundRect">
            <a:avLst>
              <a:gd name="adj" fmla="val 5769"/>
            </a:avLst>
          </a:prstGeom>
          <a:solidFill>
            <a:srgbClr val="EAF7F2"/>
          </a:solidFill>
          <a:ln w="11430">
            <a:solidFill>
              <a:srgbClr val="2B8A6E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3EFB036-3BC2-4FE7-8DF7-62EDA4746F99}"/>
              </a:ext>
            </a:extLst>
          </p:cNvPr>
          <p:cNvSpPr>
            <a:spLocks noGrp="1"/>
          </p:cNvSpPr>
          <p:nvPr/>
        </p:nvSpPr>
        <p:spPr>
          <a:xfrm>
            <a:off x="8248650" y="3067050"/>
            <a:ext cx="1095375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532"/>
          </a:bodyPr>
          <a:lstStyle/>
          <a:p>
            <a:pPr algn="l">
              <a:lnSpc>
                <a:spcPct val="108000"/>
              </a:lnSpc>
              <a:buNone/>
              <a:defRPr sz="157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层级式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2176271A-5F84-4990-850F-EA8D74DB8B99}"/>
              </a:ext>
            </a:extLst>
          </p:cNvPr>
          <p:cNvSpPr>
            <a:spLocks noGrp="1"/>
          </p:cNvSpPr>
          <p:nvPr/>
        </p:nvSpPr>
        <p:spPr>
          <a:xfrm>
            <a:off x="8248650" y="3429000"/>
            <a:ext cx="3238500" cy="304800"/>
          </a:xfrm>
          <a:prstGeom prst="roundRect">
            <a:avLst>
              <a:gd name="adj" fmla="val 50000"/>
            </a:avLst>
          </a:prstGeom>
          <a:solidFill>
            <a:srgbClr val="2B8A6E"/>
          </a:solidFill>
          <a:ln w="9525">
            <a:solidFill>
              <a:srgbClr val="2B8A6E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子树限制爆炸半径，顶层仍集中风险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BD67404D-1459-495C-817F-E619E5523831}"/>
              </a:ext>
            </a:extLst>
          </p:cNvPr>
          <p:cNvSpPr>
            <a:spLocks noGrp="1"/>
          </p:cNvSpPr>
          <p:nvPr/>
        </p:nvSpPr>
        <p:spPr>
          <a:xfrm>
            <a:off x="8248650" y="3810000"/>
            <a:ext cx="32385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风险：中层管理者污染全部后代</a:t>
            </a:r>
          </a:p>
          <a:p>
            <a:pPr algn="l">
              <a:lnSpc>
                <a:spcPct val="116000"/>
              </a:lnSpc>
              <a:buNone/>
              <a:def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防御：逐层消息校验、权限随深度收敛、跨子树检查点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BEBD7089-F297-4DF9-8044-0F9DCE5CF8B0}"/>
              </a:ext>
            </a:extLst>
          </p:cNvPr>
          <p:cNvSpPr>
            <a:spLocks noGrp="1"/>
          </p:cNvSpPr>
          <p:nvPr/>
        </p:nvSpPr>
        <p:spPr>
          <a:xfrm>
            <a:off x="552450" y="5105400"/>
            <a:ext cx="11087100" cy="514350"/>
          </a:xfrm>
          <a:prstGeom prst="roundRect">
            <a:avLst>
              <a:gd name="adj" fmla="val 14815"/>
            </a:avLst>
          </a:prstGeom>
          <a:solidFill>
            <a:srgbClr val="164B7A"/>
          </a:solidFill>
          <a:ln w="9525">
            <a:solidFill>
              <a:srgbClr val="164B7A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签名与认证只能确认“谁发的”；已被感染但身份合法的智能体，仍会传播恶意内容。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41DCBBC-2771-48ED-A6F4-A5E01A2D943A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14 页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D3B97779-4228-30E9-CBC8-F14E7B75CDE6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altLang="zh-CN" sz="2025" b="1" dirty="0">
                <a:solidFill>
                  <a:srgbClr val="1F2D3D"/>
                </a:solidFill>
              </a:rPr>
              <a:t>2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安全风险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8305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AC2EC00B-6AC4-40C7-83B5-12314335F709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0FC6FCE0-6E78-4291-A4C0-FB14FE5B96C0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84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101A1FF-6F45-47F3-A311-D3F755E0287E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只看最终答案，会掩盖分工、通信、成本与稳定性问题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F36317C-9FE2-44BB-BA1F-13FAC79799BB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论文提出六维框架，将任务结果、协作过程与资源消耗放在同一评价面上。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D88599-9C94-4C2F-90B1-9AF3A5F3C0A5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A81E3C8-6D63-4226-8AD4-C8CC379F1A8F}"/>
              </a:ext>
            </a:extLst>
          </p:cNvPr>
          <p:cNvSpPr>
            <a:spLocks noGrp="1"/>
          </p:cNvSpPr>
          <p:nvPr/>
        </p:nvSpPr>
        <p:spPr>
          <a:xfrm>
            <a:off x="3543300" y="3400425"/>
            <a:ext cx="1809750" cy="11239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F29DE1-D65C-41C4-AB5E-15B70996CAFF}"/>
              </a:ext>
            </a:extLst>
          </p:cNvPr>
          <p:cNvSpPr>
            <a:spLocks noGrp="1"/>
          </p:cNvSpPr>
          <p:nvPr/>
        </p:nvSpPr>
        <p:spPr>
          <a:xfrm>
            <a:off x="1123950" y="1790700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375D21F-E23B-47B3-9FFA-03294BA2DC8B}"/>
              </a:ext>
            </a:extLst>
          </p:cNvPr>
          <p:cNvSpPr>
            <a:spLocks noGrp="1"/>
          </p:cNvSpPr>
          <p:nvPr/>
        </p:nvSpPr>
        <p:spPr>
          <a:xfrm>
            <a:off x="3790950" y="1657350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BDC302-4FFF-46CA-A43A-E54B3708BCD2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AB9E0C-F729-40D6-9571-69E408A1C423}"/>
              </a:ext>
            </a:extLst>
          </p:cNvPr>
          <p:cNvSpPr>
            <a:spLocks noGrp="1"/>
          </p:cNvSpPr>
          <p:nvPr/>
        </p:nvSpPr>
        <p:spPr>
          <a:xfrm>
            <a:off x="6115050" y="4343400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BFA4CD8-51A8-4211-BC88-F72854164080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BC32C64-8762-471A-9954-61874F56510C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2000250" cy="81915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96" name="直接箭头连接符 74"/>
          <p:cNvCxnSpPr>
            <a:stCxn id="12" idx="0"/>
            <a:endCxn id="13" idx="3"/>
          </p:cNvCxnSpPr>
          <p:nvPr/>
        </p:nvCxnSpPr>
        <p:spPr>
          <a:xfrm flipH="1" flipV="1">
            <a:off x="3124200" y="2200275"/>
            <a:ext cx="1323975" cy="1200150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cxnSp>
        <p:nvCxnSpPr>
          <p:cNvPr id="97" name="直接箭头连接符 75"/>
          <p:cNvCxnSpPr>
            <a:stCxn id="12" idx="0"/>
            <a:endCxn id="14" idx="2"/>
          </p:cNvCxnSpPr>
          <p:nvPr/>
        </p:nvCxnSpPr>
        <p:spPr>
          <a:xfrm flipV="1">
            <a:off x="4448175" y="2476500"/>
            <a:ext cx="342900" cy="923925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cxnSp>
        <p:nvCxnSpPr>
          <p:cNvPr id="98" name="直接箭头连接符 76"/>
          <p:cNvCxnSpPr>
            <a:stCxn id="12" idx="3"/>
            <a:endCxn id="15" idx="1"/>
          </p:cNvCxnSpPr>
          <p:nvPr/>
        </p:nvCxnSpPr>
        <p:spPr>
          <a:xfrm flipV="1">
            <a:off x="5353050" y="2838450"/>
            <a:ext cx="838200" cy="1123950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cxnSp>
        <p:nvCxnSpPr>
          <p:cNvPr id="99" name="直接箭头连接符 77"/>
          <p:cNvCxnSpPr>
            <a:stCxn id="12" idx="3"/>
            <a:endCxn id="16" idx="1"/>
          </p:cNvCxnSpPr>
          <p:nvPr/>
        </p:nvCxnSpPr>
        <p:spPr>
          <a:xfrm>
            <a:off x="5353050" y="3962400"/>
            <a:ext cx="762000" cy="790575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cxnSp>
        <p:nvCxnSpPr>
          <p:cNvPr id="100" name="直接箭头连接符 78"/>
          <p:cNvCxnSpPr>
            <a:stCxn id="12" idx="2"/>
            <a:endCxn id="17" idx="0"/>
          </p:cNvCxnSpPr>
          <p:nvPr/>
        </p:nvCxnSpPr>
        <p:spPr>
          <a:xfrm flipH="1">
            <a:off x="4333875" y="4524375"/>
            <a:ext cx="114300" cy="285750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cxnSp>
        <p:nvCxnSpPr>
          <p:cNvPr id="101" name="直接箭头连接符 79"/>
          <p:cNvCxnSpPr>
            <a:stCxn id="12" idx="1"/>
            <a:endCxn id="18" idx="3"/>
          </p:cNvCxnSpPr>
          <p:nvPr/>
        </p:nvCxnSpPr>
        <p:spPr>
          <a:xfrm flipH="1">
            <a:off x="2895600" y="3962400"/>
            <a:ext cx="647700" cy="304800"/>
          </a:xfrm>
          <a:prstGeom prst="straightConnector1">
            <a:avLst/>
          </a:prstGeom>
          <a:ln w="19050">
            <a:solidFill>
              <a:srgbClr val="C7DCEB"/>
            </a:solidFill>
            <a:prstDash val="solid"/>
          </a:ln>
        </p:spPr>
      </p:cxn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3F07DA8-813C-4B6A-8CE9-76A936F6413E}"/>
              </a:ext>
            </a:extLst>
          </p:cNvPr>
          <p:cNvSpPr>
            <a:spLocks noGrp="1"/>
          </p:cNvSpPr>
          <p:nvPr/>
        </p:nvSpPr>
        <p:spPr>
          <a:xfrm>
            <a:off x="1123950" y="1790700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EAF7FC"/>
          </a:solidFill>
          <a:ln w="14288">
            <a:solidFill>
              <a:srgbClr val="168FD0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F7EC35-E4A2-4A6E-A21E-7965369B28D5}"/>
              </a:ext>
            </a:extLst>
          </p:cNvPr>
          <p:cNvSpPr>
            <a:spLocks noGrp="1"/>
          </p:cNvSpPr>
          <p:nvPr/>
        </p:nvSpPr>
        <p:spPr>
          <a:xfrm>
            <a:off x="1238250" y="186690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任务质量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A253B33-CA21-4C2E-AEA7-47F7E3AE24E5}"/>
              </a:ext>
            </a:extLst>
          </p:cNvPr>
          <p:cNvSpPr>
            <a:spLocks noGrp="1"/>
          </p:cNvSpPr>
          <p:nvPr/>
        </p:nvSpPr>
        <p:spPr>
          <a:xfrm>
            <a:off x="1238250" y="21907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成功任务 / 总任务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001935BA-36BD-4FF2-8D3C-FBC849DD3052}"/>
              </a:ext>
            </a:extLst>
          </p:cNvPr>
          <p:cNvSpPr>
            <a:spLocks noGrp="1"/>
          </p:cNvSpPr>
          <p:nvPr/>
        </p:nvSpPr>
        <p:spPr>
          <a:xfrm>
            <a:off x="3790950" y="1657350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EAF7F2"/>
          </a:solidFill>
          <a:ln w="14288">
            <a:solidFill>
              <a:srgbClr val="2B8A6E"/>
            </a:solidFill>
            <a:prstDash val="solid"/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51189E9-E605-41F2-95F1-C7EE2B4704A5}"/>
              </a:ext>
            </a:extLst>
          </p:cNvPr>
          <p:cNvSpPr>
            <a:spLocks noGrp="1"/>
          </p:cNvSpPr>
          <p:nvPr/>
        </p:nvSpPr>
        <p:spPr>
          <a:xfrm>
            <a:off x="3905250" y="173355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协调效率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6EB4A1C-7BF0-4406-9F56-98C0C2875DB8}"/>
              </a:ext>
            </a:extLst>
          </p:cNvPr>
          <p:cNvSpPr>
            <a:spLocks noGrp="1"/>
          </p:cNvSpPr>
          <p:nvPr/>
        </p:nvSpPr>
        <p:spPr>
          <a:xfrm>
            <a:off x="3905250" y="205740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有效 Token / 总 Token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2FA6452C-1F46-4339-961C-AA6B1EA60746}"/>
              </a:ext>
            </a:extLst>
          </p:cNvPr>
          <p:cNvSpPr>
            <a:spLocks noGrp="1"/>
          </p:cNvSpPr>
          <p:nvPr/>
        </p:nvSpPr>
        <p:spPr>
          <a:xfrm>
            <a:off x="6191250" y="2428875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FFF5E4"/>
          </a:solidFill>
          <a:ln w="14288">
            <a:solidFill>
              <a:srgbClr val="D8891C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6FC3DB9-0F9F-4979-9E97-A09B8D7428A8}"/>
              </a:ext>
            </a:extLst>
          </p:cNvPr>
          <p:cNvSpPr>
            <a:spLocks noGrp="1"/>
          </p:cNvSpPr>
          <p:nvPr/>
        </p:nvSpPr>
        <p:spPr>
          <a:xfrm>
            <a:off x="6305550" y="250507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可扩展性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CC960A7-DEA3-47E2-99F2-C17EE9BFAE15}"/>
              </a:ext>
            </a:extLst>
          </p:cNvPr>
          <p:cNvSpPr>
            <a:spLocks noGrp="1"/>
          </p:cNvSpPr>
          <p:nvPr/>
        </p:nvSpPr>
        <p:spPr>
          <a:xfrm>
            <a:off x="6305550" y="282892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d Token / dN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6679953-7E74-40A7-ACED-9C6C045836D6}"/>
              </a:ext>
            </a:extLst>
          </p:cNvPr>
          <p:cNvSpPr>
            <a:spLocks noGrp="1"/>
          </p:cNvSpPr>
          <p:nvPr/>
        </p:nvSpPr>
        <p:spPr>
          <a:xfrm>
            <a:off x="6115050" y="4343400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FCECEF"/>
          </a:solidFill>
          <a:ln w="14288">
            <a:solidFill>
              <a:srgbClr val="D24D57"/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96EB821-7A08-4F9C-BC4B-981184CF7532}"/>
              </a:ext>
            </a:extLst>
          </p:cNvPr>
          <p:cNvSpPr>
            <a:spLocks noGrp="1"/>
          </p:cNvSpPr>
          <p:nvPr/>
        </p:nvSpPr>
        <p:spPr>
          <a:xfrm>
            <a:off x="6229350" y="4419600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成本效率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F48F289-F8FE-4618-90DD-B9BF7A7BBFBF}"/>
              </a:ext>
            </a:extLst>
          </p:cNvPr>
          <p:cNvSpPr>
            <a:spLocks noGrp="1"/>
          </p:cNvSpPr>
          <p:nvPr/>
        </p:nvSpPr>
        <p:spPr>
          <a:xfrm>
            <a:off x="6229350" y="4743450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总成本 / 任务</a:t>
            </a:r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CA369064-A131-473B-93B5-64379B39077D}"/>
              </a:ext>
            </a:extLst>
          </p:cNvPr>
          <p:cNvSpPr>
            <a:spLocks noGrp="1"/>
          </p:cNvSpPr>
          <p:nvPr/>
        </p:nvSpPr>
        <p:spPr>
          <a:xfrm>
            <a:off x="3333750" y="4810125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F0EEFA"/>
          </a:solidFill>
          <a:ln w="14288">
            <a:solidFill>
              <a:srgbClr val="6559A8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634DA9C-F68F-4F3E-9A6E-D3259DB4E912}"/>
              </a:ext>
            </a:extLst>
          </p:cNvPr>
          <p:cNvSpPr>
            <a:spLocks noGrp="1"/>
          </p:cNvSpPr>
          <p:nvPr/>
        </p:nvSpPr>
        <p:spPr>
          <a:xfrm>
            <a:off x="3448050" y="488632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鲁棒性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802F634B-5B82-45C0-8BE5-240BF3AD6493}"/>
              </a:ext>
            </a:extLst>
          </p:cNvPr>
          <p:cNvSpPr>
            <a:spLocks noGrp="1"/>
          </p:cNvSpPr>
          <p:nvPr/>
        </p:nvSpPr>
        <p:spPr>
          <a:xfrm>
            <a:off x="3448050" y="521017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扰动后 / 基线表现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7713B263-874D-4DB4-82C7-A95B3874014B}"/>
              </a:ext>
            </a:extLst>
          </p:cNvPr>
          <p:cNvSpPr>
            <a:spLocks noGrp="1"/>
          </p:cNvSpPr>
          <p:nvPr/>
        </p:nvSpPr>
        <p:spPr>
          <a:xfrm>
            <a:off x="895350" y="3857625"/>
            <a:ext cx="2000250" cy="819150"/>
          </a:xfrm>
          <a:prstGeom prst="roundRect">
            <a:avLst>
              <a:gd name="adj" fmla="val 50000"/>
            </a:avLst>
          </a:prstGeom>
          <a:solidFill>
            <a:srgbClr val="E9F1F8"/>
          </a:solidFill>
          <a:ln w="14288">
            <a:solidFill>
              <a:srgbClr val="164B7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5D435D0-876E-4EC9-9605-C2ED29BBEE51}"/>
              </a:ext>
            </a:extLst>
          </p:cNvPr>
          <p:cNvSpPr>
            <a:spLocks noGrp="1"/>
          </p:cNvSpPr>
          <p:nvPr/>
        </p:nvSpPr>
        <p:spPr>
          <a:xfrm>
            <a:off x="1009650" y="3933825"/>
            <a:ext cx="17716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6844" lnSpcReduction="10000"/>
          </a:bodyPr>
          <a:lstStyle/>
          <a:p>
            <a:pPr algn="ctr">
              <a:lnSpc>
                <a:spcPct val="108000"/>
              </a:lnSpc>
              <a:buNone/>
              <a:defRPr sz="142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涌现行为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5BC5B6E-B410-4EBC-8936-33F72D4489AD}"/>
              </a:ext>
            </a:extLst>
          </p:cNvPr>
          <p:cNvSpPr>
            <a:spLocks noGrp="1"/>
          </p:cNvSpPr>
          <p:nvPr/>
        </p:nvSpPr>
        <p:spPr>
          <a:xfrm>
            <a:off x="1009650" y="4257675"/>
            <a:ext cx="1771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ctr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计划外消息 / 全部消息</a:t>
            </a: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D19C8215-5F78-418E-8BBE-2AD94583D3C7}"/>
              </a:ext>
            </a:extLst>
          </p:cNvPr>
          <p:cNvSpPr>
            <a:spLocks noGrp="1"/>
          </p:cNvSpPr>
          <p:nvPr/>
        </p:nvSpPr>
        <p:spPr>
          <a:xfrm>
            <a:off x="3543300" y="3400425"/>
            <a:ext cx="1809750" cy="1123950"/>
          </a:xfrm>
          <a:prstGeom prst="ellipse">
            <a:avLst/>
          </a:prstGeom>
          <a:solidFill>
            <a:srgbClr val="164B7A"/>
          </a:solidFill>
          <a:ln w="28575">
            <a:solidFill>
              <a:srgbClr val="53C4D5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87DBF64-EC58-4CB3-9BEF-BF6184E18039}"/>
              </a:ext>
            </a:extLst>
          </p:cNvPr>
          <p:cNvSpPr>
            <a:spLocks noGrp="1"/>
          </p:cNvSpPr>
          <p:nvPr/>
        </p:nvSpPr>
        <p:spPr>
          <a:xfrm>
            <a:off x="3657600" y="3571875"/>
            <a:ext cx="15811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协作质量</a:t>
            </a:r>
          </a:p>
          <a:p>
            <a:pPr algn="ctr">
              <a:lnSpc>
                <a:spcPct val="108000"/>
              </a:lnSpc>
              <a:buNone/>
              <a:def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不是单一分数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54C22D-660F-4DFE-90CE-B9E7FFF7D7B4}"/>
              </a:ext>
            </a:extLst>
          </p:cNvPr>
          <p:cNvSpPr>
            <a:spLocks noGrp="1"/>
          </p:cNvSpPr>
          <p:nvPr/>
        </p:nvSpPr>
        <p:spPr>
          <a:xfrm>
            <a:off x="8096250" y="1771650"/>
            <a:ext cx="3238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8518" lnSpcReduction="10000"/>
          </a:bodyPr>
          <a:lstStyle/>
          <a:p>
            <a:pPr algn="ctr">
              <a:lnSpc>
                <a:spcPct val="108000"/>
              </a:lnSpc>
              <a:buNone/>
              <a:defRPr sz="150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现有基准揭示了结果差距，却难解释协作过程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2F5ADCD-347E-401C-B0BD-4546E0305A34}"/>
              </a:ext>
            </a:extLst>
          </p:cNvPr>
          <p:cNvSpPr>
            <a:spLocks noGrp="1"/>
          </p:cNvSpPr>
          <p:nvPr/>
        </p:nvSpPr>
        <p:spPr>
          <a:xfrm>
            <a:off x="8153400" y="2419350"/>
            <a:ext cx="76200" cy="666750"/>
          </a:xfrm>
          <a:prstGeom prst="rect">
            <a:avLst/>
          </a:prstGeom>
          <a:solidFill>
            <a:srgbClr val="168FD0"/>
          </a:solidFill>
          <a:ln w="0">
            <a:noFill/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56325F3-A302-453E-B4BE-16BCB6B5A74E}"/>
              </a:ext>
            </a:extLst>
          </p:cNvPr>
          <p:cNvSpPr>
            <a:spLocks noGrp="1"/>
          </p:cNvSpPr>
          <p:nvPr/>
        </p:nvSpPr>
        <p:spPr>
          <a:xfrm>
            <a:off x="8324850" y="24003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GAIA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BC39D39-D62B-4DE2-B650-6DDA0EB2F1DC}"/>
              </a:ext>
            </a:extLst>
          </p:cNvPr>
          <p:cNvSpPr>
            <a:spLocks noGrp="1"/>
          </p:cNvSpPr>
          <p:nvPr/>
        </p:nvSpPr>
        <p:spPr>
          <a:xfrm>
            <a:off x="9544050" y="2419350"/>
            <a:ext cx="188468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/>
          <a:lstStyle/>
          <a:p>
            <a:pPr algn="r">
              <a:lnSpc>
                <a:spcPct val="108000"/>
              </a:lnSpc>
              <a:buClrTx/>
              <a:buSzTx/>
              <a:buFontTx/>
              <a:buNone/>
              <a:defRPr sz="127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000"/>
              <a:t>人类 92%  vs  智能体 15%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FEC204CE-FA44-471C-B69D-A8FC05D28183}"/>
              </a:ext>
            </a:extLst>
          </p:cNvPr>
          <p:cNvSpPr>
            <a:spLocks noGrp="1"/>
          </p:cNvSpPr>
          <p:nvPr/>
        </p:nvSpPr>
        <p:spPr>
          <a:xfrm>
            <a:off x="8324850" y="27241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多步推理 + 工具使用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2934776-0381-4526-BD5E-18B227C31F70}"/>
              </a:ext>
            </a:extLst>
          </p:cNvPr>
          <p:cNvSpPr>
            <a:spLocks noGrp="1"/>
          </p:cNvSpPr>
          <p:nvPr/>
        </p:nvSpPr>
        <p:spPr>
          <a:xfrm>
            <a:off x="8153400" y="3295650"/>
            <a:ext cx="76200" cy="6667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7090941-2A56-4544-B90E-4515C7435B7A}"/>
              </a:ext>
            </a:extLst>
          </p:cNvPr>
          <p:cNvSpPr>
            <a:spLocks noGrp="1"/>
          </p:cNvSpPr>
          <p:nvPr/>
        </p:nvSpPr>
        <p:spPr>
          <a:xfrm>
            <a:off x="8324850" y="32766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WebArena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D96D6DF-8AB5-4114-887D-A916CE96D178}"/>
              </a:ext>
            </a:extLst>
          </p:cNvPr>
          <p:cNvSpPr>
            <a:spLocks noGrp="1"/>
          </p:cNvSpPr>
          <p:nvPr/>
        </p:nvSpPr>
        <p:spPr>
          <a:xfrm>
            <a:off x="9302115" y="3248025"/>
            <a:ext cx="2181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/>
          <a:lstStyle/>
          <a:p>
            <a:pPr algn="r">
              <a:lnSpc>
                <a:spcPct val="108000"/>
              </a:lnSpc>
              <a:buClrTx/>
              <a:buSzTx/>
              <a:buFontTx/>
              <a:buNone/>
              <a:defRPr sz="127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000"/>
              <a:t>人类 78.24%  vs  智能体 14.41%</a:t>
            </a: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BDFB862-6028-4EE2-853D-F7E92C0E2F7F}"/>
              </a:ext>
            </a:extLst>
          </p:cNvPr>
          <p:cNvSpPr>
            <a:spLocks noGrp="1"/>
          </p:cNvSpPr>
          <p:nvPr/>
        </p:nvSpPr>
        <p:spPr>
          <a:xfrm>
            <a:off x="8324850" y="36004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长程网页操作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67D991DE-8B8B-4369-ADB2-C26FFBFC0A13}"/>
              </a:ext>
            </a:extLst>
          </p:cNvPr>
          <p:cNvSpPr>
            <a:spLocks noGrp="1"/>
          </p:cNvSpPr>
          <p:nvPr/>
        </p:nvSpPr>
        <p:spPr>
          <a:xfrm>
            <a:off x="8153400" y="4171950"/>
            <a:ext cx="76200" cy="666750"/>
          </a:xfrm>
          <a:prstGeom prst="rect">
            <a:avLst/>
          </a:prstGeom>
          <a:solidFill>
            <a:srgbClr val="6559A8"/>
          </a:solidFill>
          <a:ln w="0">
            <a:noFill/>
            <a:prstDash val="solid"/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8983116-B020-4DD4-93D4-78534206023B}"/>
              </a:ext>
            </a:extLst>
          </p:cNvPr>
          <p:cNvSpPr>
            <a:spLocks noGrp="1"/>
          </p:cNvSpPr>
          <p:nvPr/>
        </p:nvSpPr>
        <p:spPr>
          <a:xfrm>
            <a:off x="8324850" y="4152900"/>
            <a:ext cx="12192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5734"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OSWorld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21B12C2A-6D83-4C2C-B318-AB360A605130}"/>
              </a:ext>
            </a:extLst>
          </p:cNvPr>
          <p:cNvSpPr>
            <a:spLocks noGrp="1"/>
          </p:cNvSpPr>
          <p:nvPr/>
        </p:nvSpPr>
        <p:spPr>
          <a:xfrm>
            <a:off x="9312275" y="4152900"/>
            <a:ext cx="211645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/>
          <a:lstStyle/>
          <a:p>
            <a:pPr algn="r">
              <a:lnSpc>
                <a:spcPct val="108000"/>
              </a:lnSpc>
              <a:buClrTx/>
              <a:buSzTx/>
              <a:buFontTx/>
              <a:buNone/>
              <a:defRPr sz="127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000"/>
              <a:t>人类 72.36%  vs  智能体 12.24%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80597EDF-4C80-40CE-AF45-EC80A151D1DE}"/>
              </a:ext>
            </a:extLst>
          </p:cNvPr>
          <p:cNvSpPr>
            <a:spLocks noGrp="1"/>
          </p:cNvSpPr>
          <p:nvPr/>
        </p:nvSpPr>
        <p:spPr>
          <a:xfrm>
            <a:off x="8324850" y="4476750"/>
            <a:ext cx="3009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95741"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真实计算机环境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67AD0EB7-B77C-4E80-AD0A-080D3CD838FD}"/>
              </a:ext>
            </a:extLst>
          </p:cNvPr>
          <p:cNvSpPr>
            <a:spLocks noGrp="1"/>
          </p:cNvSpPr>
          <p:nvPr/>
        </p:nvSpPr>
        <p:spPr>
          <a:xfrm>
            <a:off x="8096250" y="50101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3F8FC"/>
          </a:solidFill>
          <a:ln w="9525">
            <a:solidFill>
              <a:srgbClr val="C7DCEB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20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评价应加入：重复运行 · Agent 数量扩展 · 成本预算 · 扰动测试 · 跨会话恢复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E29E531-9415-448D-8BB2-CE7FF2D9AFAF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15 页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8CB854D6-B479-B73B-DD82-E743D9F7C6DA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altLang="zh-CN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评价体系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3556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BC8B2969-E1D1-436F-878D-8127B5D79CA9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47CC31CD-172A-4C0B-9BD9-489A0C684167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54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D329A8D-BC91-4B02-9899-6F4F365AFC2B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应用成熟度取决于证据层级，不只取决于演示效果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8F13EF0-00C2-44F3-9C2B-B433BB9A1984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论文区分实验、研究部署、试点与生产；厂商自报效率提升不等同于独立验证。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D43CCE-5774-4AB7-A1B0-2590C1D4966A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F49DEBA6-ACE9-423C-A3B1-3253CE8E61AE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2628900" cy="3524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168FD0"/>
            </a:solidFill>
            <a:prstDash val="solid"/>
          </a:ln>
        </p:spPr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54A50DA4-6631-467D-881F-607437B774A5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2628900" cy="571500"/>
          </a:xfrm>
          <a:prstGeom prst="roundRect">
            <a:avLst>
              <a:gd name="adj" fmla="val 20000"/>
            </a:avLst>
          </a:prstGeom>
          <a:solidFill>
            <a:srgbClr val="168FD0"/>
          </a:solidFill>
          <a:ln w="9525">
            <a:solidFill>
              <a:srgbClr val="168FD0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8687CB-28DD-4E10-AB21-281C2DAD0D13}"/>
              </a:ext>
            </a:extLst>
          </p:cNvPr>
          <p:cNvSpPr>
            <a:spLocks noGrp="1"/>
          </p:cNvSpPr>
          <p:nvPr/>
        </p:nvSpPr>
        <p:spPr>
          <a:xfrm>
            <a:off x="666750" y="175260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软件工程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537A84DF-FD10-45AD-B719-E0DE3320FC0F}"/>
              </a:ext>
            </a:extLst>
          </p:cNvPr>
          <p:cNvSpPr>
            <a:spLocks noGrp="1"/>
          </p:cNvSpPr>
          <p:nvPr/>
        </p:nvSpPr>
        <p:spPr>
          <a:xfrm>
            <a:off x="762000" y="2362200"/>
            <a:ext cx="2209800" cy="304800"/>
          </a:xfrm>
          <a:prstGeom prst="roundRect">
            <a:avLst>
              <a:gd name="adj" fmla="val 50000"/>
            </a:avLst>
          </a:prstGeom>
          <a:solidFill>
            <a:srgbClr val="EAF7FC"/>
          </a:solidFill>
          <a:ln w="9525">
            <a:solidFill>
              <a:srgbClr val="EAF7FC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同行评审 + 榜单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A61A6E7-5026-4A0B-AE25-C1E8A1DB002A}"/>
              </a:ext>
            </a:extLst>
          </p:cNvPr>
          <p:cNvSpPr>
            <a:spLocks noGrp="1"/>
          </p:cNvSpPr>
          <p:nvPr/>
        </p:nvSpPr>
        <p:spPr>
          <a:xfrm>
            <a:off x="742950" y="28003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7449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核心任务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9D2E652-34C9-4C35-8EDA-F203B2507BE3}"/>
              </a:ext>
            </a:extLst>
          </p:cNvPr>
          <p:cNvSpPr>
            <a:spLocks noGrp="1"/>
          </p:cNvSpPr>
          <p:nvPr/>
        </p:nvSpPr>
        <p:spPr>
          <a:xfrm>
            <a:off x="742950" y="3057525"/>
            <a:ext cx="2247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规划 → 编码 → 测试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3ADD53-B0C4-4E2C-BAE4-76BA44C9FCD0}"/>
              </a:ext>
            </a:extLst>
          </p:cNvPr>
          <p:cNvSpPr>
            <a:spLocks noGrp="1"/>
          </p:cNvSpPr>
          <p:nvPr/>
        </p:nvSpPr>
        <p:spPr>
          <a:xfrm>
            <a:off x="742950" y="3524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典型拓扑：层级式 + 动态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331B02-ED35-4579-B2F2-85A76D0E971E}"/>
              </a:ext>
            </a:extLst>
          </p:cNvPr>
          <p:cNvSpPr>
            <a:spLocks noGrp="1"/>
          </p:cNvSpPr>
          <p:nvPr/>
        </p:nvSpPr>
        <p:spPr>
          <a:xfrm>
            <a:off x="742950" y="3905250"/>
            <a:ext cx="2247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2000"/>
              </a:lnSpc>
              <a:buClrTx/>
              <a:buSzTx/>
              <a:buFontTx/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t>MetaGPT：HumanEval 85.9%</a:t>
            </a:r>
          </a:p>
          <a:p>
            <a:pPr algn="l">
              <a:lnSpc>
                <a:spcPct val="112000"/>
              </a:lnSpc>
              <a:buClrTx/>
              <a:buSzTx/>
              <a:buFontTx/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t>OpenHands：SWE-Bench Lite 26%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0A5F5C9D-A851-41F0-8ECD-ABD414FAAC9F}"/>
              </a:ext>
            </a:extLst>
          </p:cNvPr>
          <p:cNvSpPr>
            <a:spLocks noGrp="1"/>
          </p:cNvSpPr>
          <p:nvPr/>
        </p:nvSpPr>
        <p:spPr>
          <a:xfrm>
            <a:off x="742950" y="4705350"/>
            <a:ext cx="2247900" cy="381000"/>
          </a:xfrm>
          <a:prstGeom prst="roundRect">
            <a:avLst>
              <a:gd name="adj" fmla="val 15000"/>
            </a:avLst>
          </a:prstGeom>
          <a:solidFill>
            <a:srgbClr val="EAF7FC"/>
          </a:solidFill>
          <a:ln w="9525">
            <a:solidFill>
              <a:srgbClr val="EAF7FC"/>
            </a:solidFill>
            <a:prstDash val="solid"/>
          </a:ln>
        </p:spPr>
        <p:txBody>
          <a:bodyPr wrap="square" lIns="66675" tIns="47625" rIns="66675" bIns="47625" anchor="ctr">
            <a:normAutofit fontScale="87939" lnSpcReduction="20000"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研究系统进入生产；邻近工具多为厂商披露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E819EFED-53F1-4CB3-816C-D3A7F3240009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628900" cy="3524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2B8A6E"/>
            </a:solidFill>
            <a:prstDash val="solid"/>
          </a:ln>
        </p:spPr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61CB3AF-26DA-4AEA-8254-CDC42B976EFD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628900" cy="571500"/>
          </a:xfrm>
          <a:prstGeom prst="roundRect">
            <a:avLst>
              <a:gd name="adj" fmla="val 20000"/>
            </a:avLst>
          </a:prstGeom>
          <a:solidFill>
            <a:srgbClr val="2B8A6E"/>
          </a:solidFill>
          <a:ln w="9525">
            <a:solidFill>
              <a:srgbClr val="2B8A6E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90B81CC-E19B-46FF-85EE-55AF5D46C2F3}"/>
              </a:ext>
            </a:extLst>
          </p:cNvPr>
          <p:cNvSpPr>
            <a:spLocks noGrp="1"/>
          </p:cNvSpPr>
          <p:nvPr/>
        </p:nvSpPr>
        <p:spPr>
          <a:xfrm>
            <a:off x="3486150" y="175260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科学研究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29881264-B842-4338-B640-2746C83842D0}"/>
              </a:ext>
            </a:extLst>
          </p:cNvPr>
          <p:cNvSpPr>
            <a:spLocks noGrp="1"/>
          </p:cNvSpPr>
          <p:nvPr/>
        </p:nvSpPr>
        <p:spPr>
          <a:xfrm>
            <a:off x="3581400" y="2362200"/>
            <a:ext cx="2209800" cy="304800"/>
          </a:xfrm>
          <a:prstGeom prst="roundRect">
            <a:avLst>
              <a:gd name="adj" fmla="val 50000"/>
            </a:avLst>
          </a:prstGeom>
          <a:solidFill>
            <a:srgbClr val="EAF7F2"/>
          </a:solidFill>
          <a:ln w="9525">
            <a:solidFill>
              <a:srgbClr val="EAF7F2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同行评审 + 作者报告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EC6801C-E491-4E67-A376-9BFE3F6ED863}"/>
              </a:ext>
            </a:extLst>
          </p:cNvPr>
          <p:cNvSpPr>
            <a:spLocks noGrp="1"/>
          </p:cNvSpPr>
          <p:nvPr/>
        </p:nvSpPr>
        <p:spPr>
          <a:xfrm>
            <a:off x="3562350" y="28003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7449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核心任务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BD57648-25AA-412A-A54E-003D7CD56303}"/>
              </a:ext>
            </a:extLst>
          </p:cNvPr>
          <p:cNvSpPr>
            <a:spLocks noGrp="1"/>
          </p:cNvSpPr>
          <p:nvPr/>
        </p:nvSpPr>
        <p:spPr>
          <a:xfrm>
            <a:off x="3562350" y="3057525"/>
            <a:ext cx="2247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08000"/>
              </a:lnSpc>
              <a:buNone/>
              <a:def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检索 → 假设 → 实验 → 写作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0CAA744-AA3B-436B-AF59-80E17F4F9A50}"/>
              </a:ext>
            </a:extLst>
          </p:cNvPr>
          <p:cNvSpPr>
            <a:spLocks noGrp="1"/>
          </p:cNvSpPr>
          <p:nvPr/>
        </p:nvSpPr>
        <p:spPr>
          <a:xfrm>
            <a:off x="3562350" y="3524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典型拓扑：层级式 / 集中式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C35A692-A556-440F-B8E1-E169F758D51A}"/>
              </a:ext>
            </a:extLst>
          </p:cNvPr>
          <p:cNvSpPr>
            <a:spLocks noGrp="1"/>
          </p:cNvSpPr>
          <p:nvPr/>
        </p:nvSpPr>
        <p:spPr>
          <a:xfrm>
            <a:off x="3562350" y="3905250"/>
            <a:ext cx="2247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AI Scientist：约 $15 / 篇（作者报告）</a:t>
            </a:r>
          </a:p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ChemCrow：集成 18 个化学工具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B4ECBDC6-DFFC-43ED-B2F7-D76E3CC51457}"/>
              </a:ext>
            </a:extLst>
          </p:cNvPr>
          <p:cNvSpPr>
            <a:spLocks noGrp="1"/>
          </p:cNvSpPr>
          <p:nvPr/>
        </p:nvSpPr>
        <p:spPr>
          <a:xfrm>
            <a:off x="3562350" y="4705350"/>
            <a:ext cx="2247900" cy="381000"/>
          </a:xfrm>
          <a:prstGeom prst="roundRect">
            <a:avLst>
              <a:gd name="adj" fmla="val 15000"/>
            </a:avLst>
          </a:prstGeom>
          <a:solidFill>
            <a:srgbClr val="EAF7F2"/>
          </a:solidFill>
          <a:ln w="9525">
            <a:solidFill>
              <a:srgbClr val="EAF7F2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以实验和研究部署为主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2C73536D-B388-44B1-85F5-30CEA37595F3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2628900" cy="3524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D8891C"/>
            </a:solidFill>
            <a:prstDash val="solid"/>
          </a:ln>
        </p:spPr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70FD6B0D-4235-46A2-8656-BB4E73B4A006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2628900" cy="571500"/>
          </a:xfrm>
          <a:prstGeom prst="roundRect">
            <a:avLst>
              <a:gd name="adj" fmla="val 20000"/>
            </a:avLst>
          </a:prstGeom>
          <a:solidFill>
            <a:srgbClr val="D8891C"/>
          </a:solidFill>
          <a:ln w="9525">
            <a:solidFill>
              <a:srgbClr val="D8891C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AB54F39-066F-4036-920C-D10EDC13D939}"/>
              </a:ext>
            </a:extLst>
          </p:cNvPr>
          <p:cNvSpPr>
            <a:spLocks noGrp="1"/>
          </p:cNvSpPr>
          <p:nvPr/>
        </p:nvSpPr>
        <p:spPr>
          <a:xfrm>
            <a:off x="6305550" y="175260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客服与业务流程</a:t>
            </a:r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4CF0B510-D94F-4D8E-A83F-4436F9E0138D}"/>
              </a:ext>
            </a:extLst>
          </p:cNvPr>
          <p:cNvSpPr>
            <a:spLocks noGrp="1"/>
          </p:cNvSpPr>
          <p:nvPr/>
        </p:nvSpPr>
        <p:spPr>
          <a:xfrm>
            <a:off x="6400800" y="2362200"/>
            <a:ext cx="2209800" cy="304800"/>
          </a:xfrm>
          <a:prstGeom prst="roundRect">
            <a:avLst>
              <a:gd name="adj" fmla="val 50000"/>
            </a:avLst>
          </a:prstGeom>
          <a:solidFill>
            <a:srgbClr val="FFF5E4"/>
          </a:solidFill>
          <a:ln w="9525">
            <a:solidFill>
              <a:srgbClr val="FFF5E4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厂商报告为主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924C32E-2C14-43FF-A2A4-7E4D0BC2DB70}"/>
              </a:ext>
            </a:extLst>
          </p:cNvPr>
          <p:cNvSpPr>
            <a:spLocks noGrp="1"/>
          </p:cNvSpPr>
          <p:nvPr/>
        </p:nvSpPr>
        <p:spPr>
          <a:xfrm>
            <a:off x="6381750" y="28003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7449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核心任务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7C26AD4-C200-4698-8A50-2E324E9FD1EB}"/>
              </a:ext>
            </a:extLst>
          </p:cNvPr>
          <p:cNvSpPr>
            <a:spLocks noGrp="1"/>
          </p:cNvSpPr>
          <p:nvPr/>
        </p:nvSpPr>
        <p:spPr>
          <a:xfrm>
            <a:off x="6381750" y="3057525"/>
            <a:ext cx="2247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 fontScale="97061"/>
          </a:bodyPr>
          <a:lstStyle/>
          <a:p>
            <a:pPr algn="l">
              <a:lnSpc>
                <a:spcPct val="108000"/>
              </a:lnSpc>
              <a:buNone/>
              <a:def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分流 → 策略 → 工具 → 转人工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E8420E4-46D7-4EC0-878F-2C3E791AD8BC}"/>
              </a:ext>
            </a:extLst>
          </p:cNvPr>
          <p:cNvSpPr>
            <a:spLocks noGrp="1"/>
          </p:cNvSpPr>
          <p:nvPr/>
        </p:nvSpPr>
        <p:spPr>
          <a:xfrm>
            <a:off x="6381750" y="3524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典型拓扑：集中式 / 层级式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402B583-CF67-4B8C-88C3-0A8F8C121986}"/>
              </a:ext>
            </a:extLst>
          </p:cNvPr>
          <p:cNvSpPr>
            <a:spLocks noGrp="1"/>
          </p:cNvSpPr>
          <p:nvPr/>
        </p:nvSpPr>
        <p:spPr>
          <a:xfrm>
            <a:off x="6381750" y="3905250"/>
            <a:ext cx="2247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 fontScale="88314" lnSpcReduction="10000"/>
          </a:bodyPr>
          <a:lstStyle/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Klarna：2/3 对话自动化；11→&lt;2 分钟</a:t>
            </a:r>
          </a:p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但独立政府评估显示团队生产率未显著改善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BB1F79FA-D928-494B-833B-57052D6E67EA}"/>
              </a:ext>
            </a:extLst>
          </p:cNvPr>
          <p:cNvSpPr>
            <a:spLocks noGrp="1"/>
          </p:cNvSpPr>
          <p:nvPr/>
        </p:nvSpPr>
        <p:spPr>
          <a:xfrm>
            <a:off x="6381750" y="4705350"/>
            <a:ext cx="2247900" cy="381000"/>
          </a:xfrm>
          <a:prstGeom prst="roundRect">
            <a:avLst>
              <a:gd name="adj" fmla="val 15000"/>
            </a:avLst>
          </a:prstGeom>
          <a:solidFill>
            <a:srgbClr val="FFF5E4"/>
          </a:solidFill>
          <a:ln w="9525">
            <a:solidFill>
              <a:srgbClr val="FFF5E4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早期生产试点，独立证据混合</a:t>
            </a: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5A005876-25A0-4CDE-8557-C5BCD95FDCAB}"/>
              </a:ext>
            </a:extLst>
          </p:cNvPr>
          <p:cNvSpPr>
            <a:spLocks noGrp="1"/>
          </p:cNvSpPr>
          <p:nvPr/>
        </p:nvSpPr>
        <p:spPr>
          <a:xfrm>
            <a:off x="9010650" y="1676400"/>
            <a:ext cx="2628900" cy="352425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5240">
            <a:solidFill>
              <a:srgbClr val="6559A8"/>
            </a:solidFill>
            <a:prstDash val="solid"/>
          </a:ln>
        </p:spPr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FE0665CF-3B34-41E4-AFAE-0A5869FCFF5A}"/>
              </a:ext>
            </a:extLst>
          </p:cNvPr>
          <p:cNvSpPr>
            <a:spLocks noGrp="1"/>
          </p:cNvSpPr>
          <p:nvPr/>
        </p:nvSpPr>
        <p:spPr>
          <a:xfrm>
            <a:off x="9010650" y="1676400"/>
            <a:ext cx="2628900" cy="571500"/>
          </a:xfrm>
          <a:prstGeom prst="roundRect">
            <a:avLst>
              <a:gd name="adj" fmla="val 20000"/>
            </a:avLst>
          </a:prstGeom>
          <a:solidFill>
            <a:srgbClr val="6559A8"/>
          </a:solidFill>
          <a:ln w="9525">
            <a:solidFill>
              <a:srgbClr val="6559A8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09DBF3D-AE8C-4891-B39A-6E4746969B0F}"/>
              </a:ext>
            </a:extLst>
          </p:cNvPr>
          <p:cNvSpPr>
            <a:spLocks noGrp="1"/>
          </p:cNvSpPr>
          <p:nvPr/>
        </p:nvSpPr>
        <p:spPr>
          <a:xfrm>
            <a:off x="9124950" y="1752600"/>
            <a:ext cx="24003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医疗与教育</a:t>
            </a:r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C5EB2487-16B5-4216-9BD7-6301911D03AD}"/>
              </a:ext>
            </a:extLst>
          </p:cNvPr>
          <p:cNvSpPr>
            <a:spLocks noGrp="1"/>
          </p:cNvSpPr>
          <p:nvPr/>
        </p:nvSpPr>
        <p:spPr>
          <a:xfrm>
            <a:off x="9220200" y="2362200"/>
            <a:ext cx="2209800" cy="304800"/>
          </a:xfrm>
          <a:prstGeom prst="roundRect">
            <a:avLst>
              <a:gd name="adj" fmla="val 50000"/>
            </a:avLst>
          </a:prstGeom>
          <a:solidFill>
            <a:srgbClr val="F0EEFA"/>
          </a:solidFill>
          <a:ln w="9525">
            <a:solidFill>
              <a:srgbClr val="F0EEFA"/>
            </a:solidFill>
            <a:prstDash val="solid"/>
          </a:ln>
        </p:spPr>
        <p:txBody>
          <a:bodyPr wrap="square" lIns="76200" tIns="19050" rIns="762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1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01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预印本 + 同行评审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CE164EC-3EAF-4500-92F3-3DCA83175582}"/>
              </a:ext>
            </a:extLst>
          </p:cNvPr>
          <p:cNvSpPr>
            <a:spLocks noGrp="1"/>
          </p:cNvSpPr>
          <p:nvPr/>
        </p:nvSpPr>
        <p:spPr>
          <a:xfrm>
            <a:off x="9201150" y="2800350"/>
            <a:ext cx="87630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 fontScale="87449"/>
          </a:bodyPr>
          <a:lstStyle/>
          <a:p>
            <a:pPr algn="l">
              <a:lnSpc>
                <a:spcPct val="108000"/>
              </a:lnSpc>
              <a:buNone/>
              <a:defRPr sz="112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核心任务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F414B08-7E82-41AC-BD3B-1D36E1A8AFBD}"/>
              </a:ext>
            </a:extLst>
          </p:cNvPr>
          <p:cNvSpPr>
            <a:spLocks noGrp="1"/>
          </p:cNvSpPr>
          <p:nvPr/>
        </p:nvSpPr>
        <p:spPr>
          <a:xfrm>
            <a:off x="9201150" y="3057525"/>
            <a:ext cx="22479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 fontScale="92354"/>
          </a:bodyPr>
          <a:lstStyle/>
          <a:p>
            <a:pPr algn="l">
              <a:lnSpc>
                <a:spcPct val="108000"/>
              </a:lnSpc>
              <a:buNone/>
              <a:def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24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专家协作 + 安全审计 + 数据隔离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97E9014-38D2-403E-89D9-739DCDD60C34}"/>
              </a:ext>
            </a:extLst>
          </p:cNvPr>
          <p:cNvSpPr>
            <a:spLocks noGrp="1"/>
          </p:cNvSpPr>
          <p:nvPr/>
        </p:nvSpPr>
        <p:spPr>
          <a:xfrm>
            <a:off x="9201150" y="3524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典型拓扑：层级式 / 专家面板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2B50DED-1D80-4049-9609-45A78DBAED1E}"/>
              </a:ext>
            </a:extLst>
          </p:cNvPr>
          <p:cNvSpPr>
            <a:spLocks noGrp="1"/>
          </p:cNvSpPr>
          <p:nvPr/>
        </p:nvSpPr>
        <p:spPr>
          <a:xfrm>
            <a:off x="9201150" y="3905250"/>
            <a:ext cx="22479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Polaris：多专家星座架构</a:t>
            </a:r>
          </a:p>
          <a:p>
            <a:pPr algn="l">
              <a:lnSpc>
                <a:spcPct val="112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AMIE：双盲 OSCE 研究；教育多为研究试点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923DBE52-58F9-4650-A2EE-FF549AA7AED6}"/>
              </a:ext>
            </a:extLst>
          </p:cNvPr>
          <p:cNvSpPr>
            <a:spLocks noGrp="1"/>
          </p:cNvSpPr>
          <p:nvPr/>
        </p:nvSpPr>
        <p:spPr>
          <a:xfrm>
            <a:off x="9201150" y="4705350"/>
            <a:ext cx="2247900" cy="381000"/>
          </a:xfrm>
          <a:prstGeom prst="roundRect">
            <a:avLst>
              <a:gd name="adj" fmla="val 15000"/>
            </a:avLst>
          </a:prstGeom>
          <a:solidFill>
            <a:srgbClr val="F0EEFA"/>
          </a:solidFill>
          <a:ln w="9525">
            <a:solidFill>
              <a:srgbClr val="F0EEFA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研究部署 / 试点；高风险合规先行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016BCE13-D486-4204-BF85-8F4B394B3CB2}"/>
              </a:ext>
            </a:extLst>
          </p:cNvPr>
          <p:cNvSpPr>
            <a:spLocks noGrp="1"/>
          </p:cNvSpPr>
          <p:nvPr/>
        </p:nvSpPr>
        <p:spPr>
          <a:xfrm>
            <a:off x="552450" y="5334000"/>
            <a:ext cx="11087100" cy="400050"/>
          </a:xfrm>
          <a:prstGeom prst="roundRect">
            <a:avLst>
              <a:gd name="adj" fmla="val 19048"/>
            </a:avLst>
          </a:prstGeom>
          <a:solidFill>
            <a:srgbClr val="164B7A"/>
          </a:solidFill>
          <a:ln w="9525">
            <a:solidFill>
              <a:srgbClr val="164B7A"/>
            </a:solidFill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成熟度：实验演示  →  研究部署  →  限定试点  →  独立验证的规模化生产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69E8F5F-9F34-4ED0-81E7-21F3C1221BA8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16 页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A958DB1C-02F0-CDD6-669D-05E966210E89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altLang="zh-CN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应用成熟度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426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7B4E1D2B-E932-4412-AC1D-964DD04D97EA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61F85A62-7F79-4A96-84D6-B1481CEDECCB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38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210E263-06FF-4876-B06F-64D00EED7D1A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八项挑战可以归为四个工程问题：能否互通、能否自治、是否划算、是否可信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DBE1AAC-8A9E-4187-BFA1-99E4ABAF8ADA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真正限制规模化落地的不是单个模型能力，而是跨层接口、长程状态、成本评价与安全泛化。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621EF9-101F-4DAE-8CDC-2292457B9B87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0280C20-A843-4353-BFCF-FF2DF7FF0C49}"/>
              </a:ext>
            </a:extLst>
          </p:cNvPr>
          <p:cNvSpPr>
            <a:spLocks noGrp="1"/>
          </p:cNvSpPr>
          <p:nvPr/>
        </p:nvSpPr>
        <p:spPr>
          <a:xfrm>
            <a:off x="552450" y="1676400"/>
            <a:ext cx="5448300" cy="1695450"/>
          </a:xfrm>
          <a:prstGeom prst="roundRect">
            <a:avLst>
              <a:gd name="adj" fmla="val 6742"/>
            </a:avLst>
          </a:prstGeom>
          <a:solidFill>
            <a:srgbClr val="EAF7FC"/>
          </a:solidFill>
          <a:ln w="14288">
            <a:solidFill>
              <a:srgbClr val="168FD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FA0902-DE2A-44AC-8FE4-41CF30C52853}"/>
              </a:ext>
            </a:extLst>
          </p:cNvPr>
          <p:cNvSpPr>
            <a:spLocks noGrp="1"/>
          </p:cNvSpPr>
          <p:nvPr/>
        </p:nvSpPr>
        <p:spPr>
          <a:xfrm>
            <a:off x="723900" y="18288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9C6E19A-8E79-4E27-BC3D-8EE3FFD0FD31}"/>
              </a:ext>
            </a:extLst>
          </p:cNvPr>
          <p:cNvSpPr>
            <a:spLocks noGrp="1"/>
          </p:cNvSpPr>
          <p:nvPr/>
        </p:nvSpPr>
        <p:spPr>
          <a:xfrm>
            <a:off x="1371600" y="18097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协议互操作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589C7D-04B6-4AE1-8A56-CBC3B653C0B3}"/>
              </a:ext>
            </a:extLst>
          </p:cNvPr>
          <p:cNvSpPr>
            <a:spLocks noGrp="1"/>
          </p:cNvSpPr>
          <p:nvPr/>
        </p:nvSpPr>
        <p:spPr>
          <a:xfrm>
            <a:off x="819150" y="2286000"/>
            <a:ext cx="4914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MCP ↔ A2A ↔ ANP 缺少标准桥接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版本兼容与开放一致性测试仍空缺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跨组织信任边界需要重新认证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E4CFB2D-BE0D-42FA-9C22-D7BF54F4100F}"/>
              </a:ext>
            </a:extLst>
          </p:cNvPr>
          <p:cNvSpPr>
            <a:spLocks noGrp="1"/>
          </p:cNvSpPr>
          <p:nvPr/>
        </p:nvSpPr>
        <p:spPr>
          <a:xfrm>
            <a:off x="819150" y="3009900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3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近期目标：规范映射 + Conformance Suite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66ADA7D1-8D48-40E3-AA28-F2EFB3553BC5}"/>
              </a:ext>
            </a:extLst>
          </p:cNvPr>
          <p:cNvSpPr>
            <a:spLocks noGrp="1"/>
          </p:cNvSpPr>
          <p:nvPr/>
        </p:nvSpPr>
        <p:spPr>
          <a:xfrm>
            <a:off x="6191250" y="1676400"/>
            <a:ext cx="5448300" cy="1695450"/>
          </a:xfrm>
          <a:prstGeom prst="roundRect">
            <a:avLst>
              <a:gd name="adj" fmla="val 6742"/>
            </a:avLst>
          </a:prstGeom>
          <a:solidFill>
            <a:srgbClr val="EAF7F2"/>
          </a:solidFill>
          <a:ln w="14288">
            <a:solidFill>
              <a:srgbClr val="2B8A6E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B1C2327-8F53-4261-AD19-DA573A426462}"/>
              </a:ext>
            </a:extLst>
          </p:cNvPr>
          <p:cNvSpPr>
            <a:spLocks noGrp="1"/>
          </p:cNvSpPr>
          <p:nvPr/>
        </p:nvSpPr>
        <p:spPr>
          <a:xfrm>
            <a:off x="6362700" y="182880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27AE11-9F12-494D-972C-AB5B6B91670A}"/>
              </a:ext>
            </a:extLst>
          </p:cNvPr>
          <p:cNvSpPr>
            <a:spLocks noGrp="1"/>
          </p:cNvSpPr>
          <p:nvPr/>
        </p:nvSpPr>
        <p:spPr>
          <a:xfrm>
            <a:off x="7010400" y="180975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自组织与长程规划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3A7AE5-761D-4496-98EC-115FF1AEAF28}"/>
              </a:ext>
            </a:extLst>
          </p:cNvPr>
          <p:cNvSpPr>
            <a:spLocks noGrp="1"/>
          </p:cNvSpPr>
          <p:nvPr/>
        </p:nvSpPr>
        <p:spPr>
          <a:xfrm>
            <a:off x="6457950" y="2286000"/>
            <a:ext cx="4914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角色、成员与拓扑由系统动态学习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跨会话状态与协调策略必须持久化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区分状态漂移与策略漂移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1AC997-E750-47D8-839C-5B1967B07F4B}"/>
              </a:ext>
            </a:extLst>
          </p:cNvPr>
          <p:cNvSpPr>
            <a:spLocks noGrp="1"/>
          </p:cNvSpPr>
          <p:nvPr/>
        </p:nvSpPr>
        <p:spPr>
          <a:xfrm>
            <a:off x="6457950" y="3009900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3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关键缺口：中间检查点 + 跨会话恢复测试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681D3DE2-1944-47B1-980C-368AD583E769}"/>
              </a:ext>
            </a:extLst>
          </p:cNvPr>
          <p:cNvSpPr>
            <a:spLocks noGrp="1"/>
          </p:cNvSpPr>
          <p:nvPr/>
        </p:nvSpPr>
        <p:spPr>
          <a:xfrm>
            <a:off x="552450" y="3562350"/>
            <a:ext cx="5448300" cy="1695450"/>
          </a:xfrm>
          <a:prstGeom prst="roundRect">
            <a:avLst>
              <a:gd name="adj" fmla="val 6742"/>
            </a:avLst>
          </a:prstGeom>
          <a:solidFill>
            <a:srgbClr val="FFF5E4"/>
          </a:solidFill>
          <a:ln w="14288">
            <a:solidFill>
              <a:srgbClr val="D8891C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B252D9A-C7B5-4C3F-BF0C-D6201F7D71DF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DB326E9-7EF3-476E-BFA8-451C570DFCEA}"/>
              </a:ext>
            </a:extLst>
          </p:cNvPr>
          <p:cNvSpPr>
            <a:spLocks noGrp="1"/>
          </p:cNvSpPr>
          <p:nvPr/>
        </p:nvSpPr>
        <p:spPr>
          <a:xfrm>
            <a:off x="1371600" y="369570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成本与评价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3D9A86C-DF75-4180-BD02-B350A14BFE2C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4914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按 Agent 数量、扰动与预算系统化测试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评价有效通信而非只看最终准确率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报告性能 / 美元与多次运行可靠性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6154DC4-15AD-447D-89A3-0E8387022B7A}"/>
              </a:ext>
            </a:extLst>
          </p:cNvPr>
          <p:cNvSpPr>
            <a:spLocks noGrp="1"/>
          </p:cNvSpPr>
          <p:nvPr/>
        </p:nvSpPr>
        <p:spPr>
          <a:xfrm>
            <a:off x="819150" y="4895850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3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D8891C"/>
                </a:solidFill>
                <a:latin typeface="微软雅黑"/>
                <a:ea typeface="微软雅黑"/>
                <a:cs typeface="微软雅黑"/>
              </a:rPr>
              <a:t>轨迹压缩：Token ↓40–60%；GPTSwarm：约 20× 降本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AD36D1C-5777-46D1-984A-4DB0AA8C50F9}"/>
              </a:ext>
            </a:extLst>
          </p:cNvPr>
          <p:cNvSpPr>
            <a:spLocks noGrp="1"/>
          </p:cNvSpPr>
          <p:nvPr/>
        </p:nvSpPr>
        <p:spPr>
          <a:xfrm>
            <a:off x="6191250" y="3562350"/>
            <a:ext cx="5448300" cy="1695450"/>
          </a:xfrm>
          <a:prstGeom prst="roundRect">
            <a:avLst>
              <a:gd name="adj" fmla="val 6742"/>
            </a:avLst>
          </a:prstGeom>
          <a:solidFill>
            <a:srgbClr val="FCECEF"/>
          </a:solidFill>
          <a:ln w="14288">
            <a:solidFill>
              <a:srgbClr val="D24D57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F209704-C4C7-4C20-B116-2A811DA10833}"/>
              </a:ext>
            </a:extLst>
          </p:cNvPr>
          <p:cNvSpPr>
            <a:spLocks noGrp="1"/>
          </p:cNvSpPr>
          <p:nvPr/>
        </p:nvSpPr>
        <p:spPr>
          <a:xfrm>
            <a:off x="6362700" y="3714750"/>
            <a:ext cx="5524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7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9CA2157-1F84-4D22-A6AC-5C10C50105E6}"/>
              </a:ext>
            </a:extLst>
          </p:cNvPr>
          <p:cNvSpPr>
            <a:spLocks noGrp="1"/>
          </p:cNvSpPr>
          <p:nvPr/>
        </p:nvSpPr>
        <p:spPr>
          <a:xfrm>
            <a:off x="7010400" y="3695700"/>
            <a:ext cx="42481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安全、泛化与对齐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0FC94B5-43EC-4B8F-B002-2CCE7061541F}"/>
              </a:ext>
            </a:extLst>
          </p:cNvPr>
          <p:cNvSpPr>
            <a:spLocks noGrp="1"/>
          </p:cNvSpPr>
          <p:nvPr/>
        </p:nvSpPr>
        <p:spPr>
          <a:xfrm>
            <a:off x="6457950" y="4171950"/>
            <a:ext cx="49149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0" rIns="38100" bIns="0" anchor="t">
            <a:normAutofit/>
          </a:bodyPr>
          <a:lstStyle/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提示感染会沿网络传播并放大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因果审计、人在环与权限预算缺一不可</a:t>
            </a:r>
          </a:p>
          <a:p>
            <a:pPr marL="0" indent="0" algn="l">
              <a:lnSpc>
                <a:spcPct val="110000"/>
              </a:lnSpc>
              <a:buNone/>
              <a:def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165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学习到的拓扑与防护需跨域迁移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0BCB8B3F-6D93-4184-9F24-4BB1D4569D0C}"/>
              </a:ext>
            </a:extLst>
          </p:cNvPr>
          <p:cNvSpPr>
            <a:spLocks noGrp="1"/>
          </p:cNvSpPr>
          <p:nvPr/>
        </p:nvSpPr>
        <p:spPr>
          <a:xfrm>
            <a:off x="6457950" y="4895850"/>
            <a:ext cx="49149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0" rIns="1905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3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035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25/30 系统未披露内部安全评估；攻击下星型拓扑表现 ↓29.7%</a:t>
            </a: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6EEC9D91-E7E3-4E8E-B613-6098713B47D7}"/>
              </a:ext>
            </a:extLst>
          </p:cNvPr>
          <p:cNvSpPr>
            <a:spLocks noGrp="1"/>
          </p:cNvSpPr>
          <p:nvPr/>
        </p:nvSpPr>
        <p:spPr>
          <a:xfrm>
            <a:off x="552450" y="5391150"/>
            <a:ext cx="11087100" cy="342900"/>
          </a:xfrm>
          <a:prstGeom prst="roundRect">
            <a:avLst>
              <a:gd name="adj" fmla="val 22222"/>
            </a:avLst>
          </a:prstGeom>
          <a:solidFill>
            <a:srgbClr val="164B7A"/>
          </a:solidFill>
          <a:ln w="9525">
            <a:solidFill>
              <a:srgbClr val="164B7A"/>
            </a:solidFill>
            <a:prstDash val="solid"/>
          </a:ln>
        </p:spPr>
        <p:txBody>
          <a:bodyPr wrap="square" lIns="66675" tIns="47625" rIns="66675" bIns="47625" anchor="ctr">
            <a:normAutofit fontScale="96740"/>
          </a:bodyPr>
          <a:lstStyle/>
          <a:p>
            <a:pPr algn="ctr">
              <a:lnSpc>
                <a:spcPct val="108000"/>
              </a:lnSpc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论文判断：近期更可能胜出的是“可互操作、可审计、边界清晰的有限自治”，而非完全自主的智能体生态。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B6ADAA1-61EE-4BDE-9B28-B8010903360F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17 页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F5B548F6-7235-2A9D-62AF-1C156DCFAB4E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altLang="zh-CN" sz="2025" b="1" dirty="0">
                <a:solidFill>
                  <a:srgbClr val="1F2D3D"/>
                </a:solidFill>
              </a:rPr>
              <a:t>4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开放挑战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492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8">
            <a:extLst>
              <a:ext uri="{FF2B5EF4-FFF2-40B4-BE49-F238E27FC236}">
                <a16:creationId xmlns:a16="http://schemas.microsoft.com/office/drawing/2014/main" id="{DE2FF0E1-1243-4BEB-952E-7341DAB57AAE}"/>
              </a:ext>
            </a:extLst>
          </p:cNvPr>
          <p:cNvSpPr>
            <a:spLocks noGrp="1"/>
          </p:cNvSpPr>
          <p:nvPr/>
        </p:nvSpPr>
        <p:spPr>
          <a:xfrm>
            <a:off x="0" y="6267785"/>
            <a:ext cx="12192000" cy="590215"/>
          </a:xfrm>
          <a:custGeom>
            <a:avLst/>
            <a:gdLst/>
            <a:ahLst/>
            <a:cxnLst/>
            <a:rect l="l" t="t" r="r" b="b"/>
            <a:pathLst>
              <a:path w="12192000" h="590215">
                <a:moveTo>
                  <a:pt x="12192000" y="0"/>
                </a:moveTo>
                <a:lnTo>
                  <a:pt x="12192000" y="590215"/>
                </a:lnTo>
                <a:lnTo>
                  <a:pt x="7535465" y="590215"/>
                </a:lnTo>
                <a:lnTo>
                  <a:pt x="7843248" y="580203"/>
                </a:lnTo>
                <a:cubicBezTo>
                  <a:pt x="9518645" y="506914"/>
                  <a:pt x="10951040" y="330694"/>
                  <a:pt x="11893337" y="93553"/>
                </a:cubicBezTo>
                <a:close/>
                <a:moveTo>
                  <a:pt x="0" y="0"/>
                </a:moveTo>
                <a:lnTo>
                  <a:pt x="298663" y="93553"/>
                </a:lnTo>
                <a:cubicBezTo>
                  <a:pt x="1240960" y="330694"/>
                  <a:pt x="2673355" y="506914"/>
                  <a:pt x="4348753" y="580203"/>
                </a:cubicBezTo>
                <a:lnTo>
                  <a:pt x="4656536" y="590215"/>
                </a:lnTo>
                <a:lnTo>
                  <a:pt x="0" y="590215"/>
                </a:lnTo>
                <a:close/>
              </a:path>
            </a:pathLst>
          </a:custGeom>
          <a:solidFill>
            <a:srgbClr val="1B81ED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任意多边形: 形状 99">
            <a:extLst>
              <a:ext uri="{FF2B5EF4-FFF2-40B4-BE49-F238E27FC236}">
                <a16:creationId xmlns:a16="http://schemas.microsoft.com/office/drawing/2014/main" id="{FC7E7D6A-8ABA-4344-BC0E-7149CB7E5845}"/>
              </a:ext>
            </a:extLst>
          </p:cNvPr>
          <p:cNvSpPr>
            <a:spLocks noGrp="1"/>
          </p:cNvSpPr>
          <p:nvPr/>
        </p:nvSpPr>
        <p:spPr>
          <a:xfrm>
            <a:off x="0" y="6466523"/>
            <a:ext cx="12192000" cy="391479"/>
          </a:xfrm>
          <a:custGeom>
            <a:avLst/>
            <a:gdLst/>
            <a:ahLst/>
            <a:cxnLst/>
            <a:rect l="l" t="t" r="r" b="b"/>
            <a:pathLst>
              <a:path w="12192000" h="391478">
                <a:moveTo>
                  <a:pt x="12192000" y="0"/>
                </a:moveTo>
                <a:lnTo>
                  <a:pt x="12192000" y="391478"/>
                </a:lnTo>
                <a:lnTo>
                  <a:pt x="7981470" y="391478"/>
                </a:lnTo>
                <a:lnTo>
                  <a:pt x="8659552" y="365905"/>
                </a:lnTo>
                <a:cubicBezTo>
                  <a:pt x="9982496" y="305265"/>
                  <a:pt x="11108090" y="199076"/>
                  <a:pt x="11893337" y="63963"/>
                </a:cubicBezTo>
                <a:close/>
                <a:moveTo>
                  <a:pt x="0" y="0"/>
                </a:moveTo>
                <a:lnTo>
                  <a:pt x="298663" y="63963"/>
                </a:lnTo>
                <a:cubicBezTo>
                  <a:pt x="1083911" y="199076"/>
                  <a:pt x="2209504" y="305265"/>
                  <a:pt x="3532448" y="365905"/>
                </a:cubicBezTo>
                <a:lnTo>
                  <a:pt x="4210531" y="391478"/>
                </a:lnTo>
                <a:lnTo>
                  <a:pt x="0" y="391478"/>
                </a:lnTo>
                <a:close/>
              </a:path>
            </a:pathLst>
          </a:custGeom>
          <a:solidFill>
            <a:srgbClr val="113CCF"/>
          </a:solidFill>
          <a:ln w="12700" cmpd="sng">
            <a:noFill/>
            <a:prstDash val="solid"/>
          </a:ln>
        </p:spPr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72" name="图片 5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737725" y="97155"/>
            <a:ext cx="2309495" cy="499745"/>
          </a:xfrm>
          <a:prstGeom prst="rect">
            <a:avLst/>
          </a:prstGeom>
          <a:ln>
            <a:noFill/>
          </a:ln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208E5DE9-66B9-4B5E-B1EC-68248FAFD9ED}"/>
              </a:ext>
            </a:extLst>
          </p:cNvPr>
          <p:cNvSpPr>
            <a:spLocks noGrp="1"/>
          </p:cNvSpPr>
          <p:nvPr/>
        </p:nvSpPr>
        <p:spPr>
          <a:xfrm>
            <a:off x="552450" y="876300"/>
            <a:ext cx="11087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没有唯一最佳框架，只有与任务结构、风险和证据相匹配的组合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3FE5E2-2FDD-4473-AD9B-D3AB66DB7AA7}"/>
              </a:ext>
            </a:extLst>
          </p:cNvPr>
          <p:cNvSpPr>
            <a:spLocks noGrp="1"/>
          </p:cNvSpPr>
          <p:nvPr/>
        </p:nvSpPr>
        <p:spPr>
          <a:xfrm>
            <a:off x="552450" y="1219200"/>
            <a:ext cx="110871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完整决策链应从组织拓扑出发，经过框架与协议，最终接受生产约束和过程评价。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5D6498-351E-4B46-9E6B-BFB379F5E515}"/>
              </a:ext>
            </a:extLst>
          </p:cNvPr>
          <p:cNvSpPr>
            <a:spLocks noGrp="1"/>
          </p:cNvSpPr>
          <p:nvPr/>
        </p:nvSpPr>
        <p:spPr>
          <a:xfrm>
            <a:off x="552450" y="1504950"/>
            <a:ext cx="1108710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79DBA4-766A-4BD9-9E9C-8A0E350952A6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2381250" cy="1066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9D8B57-696A-4E51-ACA8-5433E7FF8189}"/>
              </a:ext>
            </a:extLst>
          </p:cNvPr>
          <p:cNvSpPr>
            <a:spLocks noGrp="1"/>
          </p:cNvSpPr>
          <p:nvPr/>
        </p:nvSpPr>
        <p:spPr>
          <a:xfrm>
            <a:off x="3381375" y="1733550"/>
            <a:ext cx="2381250" cy="1066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BDE4097-EB1A-4398-A1EA-7D4548F8EFA9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2381250" cy="1066800"/>
          </a:xfrm>
          <a:prstGeom prst="rect">
            <a:avLst/>
          </a:prstGeom>
          <a:noFill/>
          <a:ln w="0">
            <a:noFill/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77F87D-B4AD-4BFB-A52F-7BD07015856F}"/>
              </a:ext>
            </a:extLst>
          </p:cNvPr>
          <p:cNvSpPr>
            <a:spLocks noGrp="1"/>
          </p:cNvSpPr>
          <p:nvPr/>
        </p:nvSpPr>
        <p:spPr>
          <a:xfrm>
            <a:off x="8810625" y="1733550"/>
            <a:ext cx="2381250" cy="1066800"/>
          </a:xfrm>
          <a:prstGeom prst="rect">
            <a:avLst/>
          </a:prstGeom>
          <a:noFill/>
          <a:ln w="0">
            <a:noFill/>
            <a:prstDash val="solid"/>
          </a:ln>
        </p:spPr>
      </p:sp>
      <p:cxnSp>
        <p:nvCxnSpPr>
          <p:cNvPr id="81" name="直接箭头连接符 65"/>
          <p:cNvCxnSpPr>
            <a:stCxn id="12" idx="3"/>
            <a:endCxn id="13" idx="1"/>
          </p:cNvCxnSpPr>
          <p:nvPr/>
        </p:nvCxnSpPr>
        <p:spPr>
          <a:xfrm>
            <a:off x="3048000" y="2266950"/>
            <a:ext cx="333375" cy="0"/>
          </a:xfrm>
          <a:prstGeom prst="straightConnector1">
            <a:avLst/>
          </a:prstGeom>
          <a:ln w="23813">
            <a:solidFill>
              <a:srgbClr val="C7DCEB"/>
            </a:solidFill>
            <a:prstDash val="solid"/>
            <a:tailEnd type="arrow" w="med" len="med"/>
          </a:ln>
        </p:spPr>
      </p:cxnSp>
      <p:cxnSp>
        <p:nvCxnSpPr>
          <p:cNvPr id="82" name="直接箭头连接符 66"/>
          <p:cNvCxnSpPr>
            <a:stCxn id="13" idx="3"/>
            <a:endCxn id="14" idx="1"/>
          </p:cNvCxnSpPr>
          <p:nvPr/>
        </p:nvCxnSpPr>
        <p:spPr>
          <a:xfrm>
            <a:off x="5762625" y="2266950"/>
            <a:ext cx="333375" cy="0"/>
          </a:xfrm>
          <a:prstGeom prst="straightConnector1">
            <a:avLst/>
          </a:prstGeom>
          <a:ln w="23813">
            <a:solidFill>
              <a:srgbClr val="C7DCEB"/>
            </a:solidFill>
            <a:prstDash val="solid"/>
            <a:tailEnd type="arrow" w="med" len="med"/>
          </a:ln>
        </p:spPr>
      </p:cxnSp>
      <p:cxnSp>
        <p:nvCxnSpPr>
          <p:cNvPr id="83" name="直接箭头连接符 67"/>
          <p:cNvCxnSpPr>
            <a:stCxn id="14" idx="3"/>
            <a:endCxn id="15" idx="1"/>
          </p:cNvCxnSpPr>
          <p:nvPr/>
        </p:nvCxnSpPr>
        <p:spPr>
          <a:xfrm>
            <a:off x="8477250" y="2266950"/>
            <a:ext cx="333375" cy="0"/>
          </a:xfrm>
          <a:prstGeom prst="straightConnector1">
            <a:avLst/>
          </a:prstGeom>
          <a:ln w="23813">
            <a:solidFill>
              <a:srgbClr val="C7DCEB"/>
            </a:solidFill>
            <a:prstDash val="solid"/>
            <a:tailEnd type="arrow" w="med" len="med"/>
          </a:ln>
        </p:spPr>
      </p:cxn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07551EE5-93CE-4616-B946-9A5BC8EEF4F4}"/>
              </a:ext>
            </a:extLst>
          </p:cNvPr>
          <p:cNvSpPr>
            <a:spLocks noGrp="1"/>
          </p:cNvSpPr>
          <p:nvPr/>
        </p:nvSpPr>
        <p:spPr>
          <a:xfrm>
            <a:off x="666750" y="17335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EAF7FC"/>
          </a:solidFill>
          <a:ln w="15240">
            <a:solidFill>
              <a:srgbClr val="168FD0"/>
            </a:solidFill>
            <a:prstDash val="solid"/>
          </a:ln>
        </p:spPr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54AAF7A6-08B8-4B85-A9A0-9D25D779B36B}"/>
              </a:ext>
            </a:extLst>
          </p:cNvPr>
          <p:cNvSpPr>
            <a:spLocks noGrp="1"/>
          </p:cNvSpPr>
          <p:nvPr/>
        </p:nvSpPr>
        <p:spPr>
          <a:xfrm>
            <a:off x="800100" y="1857375"/>
            <a:ext cx="476250" cy="476250"/>
          </a:xfrm>
          <a:prstGeom prst="ellipse">
            <a:avLst/>
          </a:prstGeom>
          <a:solidFill>
            <a:srgbClr val="168FD0"/>
          </a:solidFill>
          <a:ln w="9525">
            <a:solidFill>
              <a:srgbClr val="168FD0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244666C-D977-4306-B14B-529D6BB7F9B7}"/>
              </a:ext>
            </a:extLst>
          </p:cNvPr>
          <p:cNvSpPr>
            <a:spLocks noGrp="1"/>
          </p:cNvSpPr>
          <p:nvPr/>
        </p:nvSpPr>
        <p:spPr>
          <a:xfrm>
            <a:off x="800100" y="18573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64B551E-AC7B-47A7-A08D-CD3FCC343515}"/>
              </a:ext>
            </a:extLst>
          </p:cNvPr>
          <p:cNvSpPr>
            <a:spLocks noGrp="1"/>
          </p:cNvSpPr>
          <p:nvPr/>
        </p:nvSpPr>
        <p:spPr>
          <a:xfrm>
            <a:off x="1371600" y="18288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68FD0"/>
                </a:solidFill>
                <a:latin typeface="微软雅黑"/>
                <a:ea typeface="微软雅黑"/>
                <a:cs typeface="微软雅黑"/>
              </a:rPr>
              <a:t>拓扑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60C7A04E-C0D5-4CF6-8329-2F53E7E1AA03}"/>
              </a:ext>
            </a:extLst>
          </p:cNvPr>
          <p:cNvSpPr>
            <a:spLocks noGrp="1"/>
          </p:cNvSpPr>
          <p:nvPr/>
        </p:nvSpPr>
        <p:spPr>
          <a:xfrm>
            <a:off x="1371600" y="2171700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任务结构、Agent 数量</a:t>
            </a:r>
          </a:p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容错与成本边界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49889475-B5A7-42DA-9112-3565D4F968DA}"/>
              </a:ext>
            </a:extLst>
          </p:cNvPr>
          <p:cNvSpPr>
            <a:spLocks noGrp="1"/>
          </p:cNvSpPr>
          <p:nvPr/>
        </p:nvSpPr>
        <p:spPr>
          <a:xfrm>
            <a:off x="3381375" y="17335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EAF7F2"/>
          </a:solidFill>
          <a:ln w="15240">
            <a:solidFill>
              <a:srgbClr val="2B8A6E"/>
            </a:solidFill>
            <a:prstDash val="solid"/>
          </a:ln>
        </p:spPr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51323B29-B6E4-44F2-B491-785F96048D8D}"/>
              </a:ext>
            </a:extLst>
          </p:cNvPr>
          <p:cNvSpPr>
            <a:spLocks noGrp="1"/>
          </p:cNvSpPr>
          <p:nvPr/>
        </p:nvSpPr>
        <p:spPr>
          <a:xfrm>
            <a:off x="3514725" y="1857375"/>
            <a:ext cx="476250" cy="476250"/>
          </a:xfrm>
          <a:prstGeom prst="ellipse">
            <a:avLst/>
          </a:prstGeom>
          <a:solidFill>
            <a:srgbClr val="2B8A6E"/>
          </a:solidFill>
          <a:ln w="9525">
            <a:solidFill>
              <a:srgbClr val="2B8A6E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1607A0D-06F6-4098-9A21-E242B6B23638}"/>
              </a:ext>
            </a:extLst>
          </p:cNvPr>
          <p:cNvSpPr>
            <a:spLocks noGrp="1"/>
          </p:cNvSpPr>
          <p:nvPr/>
        </p:nvSpPr>
        <p:spPr>
          <a:xfrm>
            <a:off x="3514725" y="18573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6D3D71-E2FA-4E15-8D95-A3E5F91176B3}"/>
              </a:ext>
            </a:extLst>
          </p:cNvPr>
          <p:cNvSpPr>
            <a:spLocks noGrp="1"/>
          </p:cNvSpPr>
          <p:nvPr/>
        </p:nvSpPr>
        <p:spPr>
          <a:xfrm>
            <a:off x="4086225" y="18288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B8A6E"/>
                </a:solidFill>
                <a:latin typeface="微软雅黑"/>
                <a:ea typeface="微软雅黑"/>
                <a:cs typeface="微软雅黑"/>
              </a:rPr>
              <a:t>框架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7F3A1FB-6304-4E5F-9C55-5E119D7EA689}"/>
              </a:ext>
            </a:extLst>
          </p:cNvPr>
          <p:cNvSpPr>
            <a:spLocks noGrp="1"/>
          </p:cNvSpPr>
          <p:nvPr/>
        </p:nvSpPr>
        <p:spPr>
          <a:xfrm>
            <a:off x="4086225" y="2171700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状态图、角色团队</a:t>
            </a:r>
          </a:p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对话、交接或编译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8D984D5B-F46F-490C-9624-C2B500640CFA}"/>
              </a:ext>
            </a:extLst>
          </p:cNvPr>
          <p:cNvSpPr>
            <a:spLocks noGrp="1"/>
          </p:cNvSpPr>
          <p:nvPr/>
        </p:nvSpPr>
        <p:spPr>
          <a:xfrm>
            <a:off x="6096000" y="17335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F0EEFA"/>
          </a:solidFill>
          <a:ln w="15240">
            <a:solidFill>
              <a:srgbClr val="6559A8"/>
            </a:solidFill>
            <a:prstDash val="solid"/>
          </a:ln>
        </p:spPr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BE888FCB-46B4-4D08-9A9C-6446E3E555F6}"/>
              </a:ext>
            </a:extLst>
          </p:cNvPr>
          <p:cNvSpPr>
            <a:spLocks noGrp="1"/>
          </p:cNvSpPr>
          <p:nvPr/>
        </p:nvSpPr>
        <p:spPr>
          <a:xfrm>
            <a:off x="6229350" y="1857375"/>
            <a:ext cx="476250" cy="476250"/>
          </a:xfrm>
          <a:prstGeom prst="ellipse">
            <a:avLst/>
          </a:prstGeom>
          <a:solidFill>
            <a:srgbClr val="6559A8"/>
          </a:solidFill>
          <a:ln w="9525">
            <a:solidFill>
              <a:srgbClr val="6559A8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488DC3E-F413-43CE-BA8A-C7F10B540DCB}"/>
              </a:ext>
            </a:extLst>
          </p:cNvPr>
          <p:cNvSpPr>
            <a:spLocks noGrp="1"/>
          </p:cNvSpPr>
          <p:nvPr/>
        </p:nvSpPr>
        <p:spPr>
          <a:xfrm>
            <a:off x="6229350" y="18573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086D1FF-ED56-4005-A98C-A9BDA00A8478}"/>
              </a:ext>
            </a:extLst>
          </p:cNvPr>
          <p:cNvSpPr>
            <a:spLocks noGrp="1"/>
          </p:cNvSpPr>
          <p:nvPr/>
        </p:nvSpPr>
        <p:spPr>
          <a:xfrm>
            <a:off x="6800850" y="18288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6559A8"/>
                </a:solidFill>
                <a:latin typeface="微软雅黑"/>
                <a:ea typeface="微软雅黑"/>
                <a:cs typeface="微软雅黑"/>
              </a:rPr>
              <a:t>协议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9655F61-139A-48CB-ADD1-BECDCC5F1632}"/>
              </a:ext>
            </a:extLst>
          </p:cNvPr>
          <p:cNvSpPr>
            <a:spLocks noGrp="1"/>
          </p:cNvSpPr>
          <p:nvPr/>
        </p:nvSpPr>
        <p:spPr>
          <a:xfrm>
            <a:off x="6800850" y="2171700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3981"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MCP 工具层</a:t>
            </a:r>
          </a:p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A2A 协作层 / ANP 发现层</a:t>
            </a: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4E34970C-4BC8-468B-97FA-5841238F25FF}"/>
              </a:ext>
            </a:extLst>
          </p:cNvPr>
          <p:cNvSpPr>
            <a:spLocks noGrp="1"/>
          </p:cNvSpPr>
          <p:nvPr/>
        </p:nvSpPr>
        <p:spPr>
          <a:xfrm>
            <a:off x="8810625" y="1733550"/>
            <a:ext cx="2381250" cy="1066800"/>
          </a:xfrm>
          <a:prstGeom prst="roundRect">
            <a:avLst>
              <a:gd name="adj" fmla="val 10714"/>
            </a:avLst>
          </a:prstGeom>
          <a:solidFill>
            <a:srgbClr val="FCECEF"/>
          </a:solidFill>
          <a:ln w="15240">
            <a:solidFill>
              <a:srgbClr val="D24D57"/>
            </a:solidFill>
            <a:prstDash val="solid"/>
          </a:ln>
        </p:spPr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8181D696-BE86-43BF-8334-F234BB78B353}"/>
              </a:ext>
            </a:extLst>
          </p:cNvPr>
          <p:cNvSpPr>
            <a:spLocks noGrp="1"/>
          </p:cNvSpPr>
          <p:nvPr/>
        </p:nvSpPr>
        <p:spPr>
          <a:xfrm>
            <a:off x="8943975" y="1857375"/>
            <a:ext cx="476250" cy="476250"/>
          </a:xfrm>
          <a:prstGeom prst="ellipse">
            <a:avLst/>
          </a:prstGeom>
          <a:solidFill>
            <a:srgbClr val="D24D57"/>
          </a:solidFill>
          <a:ln w="9525">
            <a:solidFill>
              <a:srgbClr val="D24D57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A81BC80-F31C-4E55-B151-F83AE917CB7C}"/>
              </a:ext>
            </a:extLst>
          </p:cNvPr>
          <p:cNvSpPr>
            <a:spLocks noGrp="1"/>
          </p:cNvSpPr>
          <p:nvPr/>
        </p:nvSpPr>
        <p:spPr>
          <a:xfrm>
            <a:off x="8943975" y="1857375"/>
            <a:ext cx="4762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A9DAB7-42F6-44C3-A2B8-5EBB3E007D1F}"/>
              </a:ext>
            </a:extLst>
          </p:cNvPr>
          <p:cNvSpPr>
            <a:spLocks noGrp="1"/>
          </p:cNvSpPr>
          <p:nvPr/>
        </p:nvSpPr>
        <p:spPr>
          <a:xfrm>
            <a:off x="9515475" y="1828800"/>
            <a:ext cx="15049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50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D24D57"/>
                </a:solidFill>
                <a:latin typeface="微软雅黑"/>
                <a:ea typeface="微软雅黑"/>
                <a:cs typeface="微软雅黑"/>
              </a:rPr>
              <a:t>生产与评价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FBDF030A-90FD-4E78-AA62-C2DEB81527D1}"/>
              </a:ext>
            </a:extLst>
          </p:cNvPr>
          <p:cNvSpPr>
            <a:spLocks noGrp="1"/>
          </p:cNvSpPr>
          <p:nvPr/>
        </p:nvSpPr>
        <p:spPr>
          <a:xfrm>
            <a:off x="9515475" y="2171700"/>
            <a:ext cx="1524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19050" tIns="19050" rIns="19050" bIns="19050" anchor="t">
            <a:normAutofit fontScale="95752"/>
          </a:bodyPr>
          <a:lstStyle/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状态、恢复、安全、成本</a:t>
            </a:r>
          </a:p>
          <a:p>
            <a:pPr algn="l">
              <a:lnSpc>
                <a:spcPct val="108000"/>
              </a:lnSpc>
              <a:buNone/>
              <a:def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090" b="0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六维协作质量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3DE33D4-77BA-4CB1-81D4-6E33F465B459}"/>
              </a:ext>
            </a:extLst>
          </p:cNvPr>
          <p:cNvSpPr>
            <a:spLocks noGrp="1"/>
          </p:cNvSpPr>
          <p:nvPr/>
        </p:nvSpPr>
        <p:spPr>
          <a:xfrm>
            <a:off x="552450" y="3086100"/>
            <a:ext cx="685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6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我们的三点判断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DEB533DB-3A4F-46B4-9017-D07DB29A61B8}"/>
              </a:ext>
            </a:extLst>
          </p:cNvPr>
          <p:cNvSpPr>
            <a:spLocks noGrp="1"/>
          </p:cNvSpPr>
          <p:nvPr/>
        </p:nvSpPr>
        <p:spPr>
          <a:xfrm>
            <a:off x="590550" y="3619500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168FD0"/>
          </a:solidFill>
          <a:ln w="9525">
            <a:solidFill>
              <a:srgbClr val="168FD0"/>
            </a:solidFill>
            <a:prstDash val="solid"/>
          </a:ln>
        </p:spPr>
        <p:txBody>
          <a:bodyPr wrap="square" lIns="76200" tIns="19050" rIns="76200" bIns="19050" anchor="ctr">
            <a:normAutofit fontScale="95821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1AA556C-5D1C-45FD-B194-91C5127FE5A1}"/>
              </a:ext>
            </a:extLst>
          </p:cNvPr>
          <p:cNvSpPr>
            <a:spLocks noGrp="1"/>
          </p:cNvSpPr>
          <p:nvPr/>
        </p:nvSpPr>
        <p:spPr>
          <a:xfrm>
            <a:off x="1238250" y="3524250"/>
            <a:ext cx="2143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先证明协作收益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18BE99D-A26C-4986-919A-B72EABEB3CEA}"/>
              </a:ext>
            </a:extLst>
          </p:cNvPr>
          <p:cNvSpPr>
            <a:spLocks noGrp="1"/>
          </p:cNvSpPr>
          <p:nvPr/>
        </p:nvSpPr>
        <p:spPr>
          <a:xfrm>
            <a:off x="3429000" y="352425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/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Agent 越多并不天然越好；新增通信与延迟必须换来可测的质量或鲁棒性提升。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A9F05C72-7AB2-407F-8CAF-C7F184A5FAFA}"/>
              </a:ext>
            </a:extLst>
          </p:cNvPr>
          <p:cNvSpPr>
            <a:spLocks noGrp="1"/>
          </p:cNvSpPr>
          <p:nvPr/>
        </p:nvSpPr>
        <p:spPr>
          <a:xfrm>
            <a:off x="590550" y="4257675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2B8A6E"/>
          </a:solidFill>
          <a:ln w="9525">
            <a:solidFill>
              <a:srgbClr val="2B8A6E"/>
            </a:solidFill>
            <a:prstDash val="solid"/>
          </a:ln>
        </p:spPr>
        <p:txBody>
          <a:bodyPr wrap="square" lIns="76200" tIns="19050" rIns="76200" bIns="19050" anchor="ctr">
            <a:normAutofit fontScale="95821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01B84F-4F0A-4C74-8CD2-AA69D299B246}"/>
              </a:ext>
            </a:extLst>
          </p:cNvPr>
          <p:cNvSpPr>
            <a:spLocks noGrp="1"/>
          </p:cNvSpPr>
          <p:nvPr/>
        </p:nvSpPr>
        <p:spPr>
          <a:xfrm>
            <a:off x="1238250" y="4162425"/>
            <a:ext cx="2143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高风险场景坚持有限自治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6988723-D65D-494E-8D08-ECF9E37566E4}"/>
              </a:ext>
            </a:extLst>
          </p:cNvPr>
          <p:cNvSpPr>
            <a:spLocks noGrp="1"/>
          </p:cNvSpPr>
          <p:nvPr/>
        </p:nvSpPr>
        <p:spPr>
          <a:xfrm>
            <a:off x="3429000" y="4162425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/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权限按角色收敛，关键动作人在环，并保留完整因果链与可回滚状态。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2B726EBE-B215-40F4-9E67-BD71F1CDD8B6}"/>
              </a:ext>
            </a:extLst>
          </p:cNvPr>
          <p:cNvSpPr>
            <a:spLocks noGrp="1"/>
          </p:cNvSpPr>
          <p:nvPr/>
        </p:nvSpPr>
        <p:spPr>
          <a:xfrm>
            <a:off x="590550" y="4895850"/>
            <a:ext cx="533400" cy="304800"/>
          </a:xfrm>
          <a:prstGeom prst="roundRect">
            <a:avLst>
              <a:gd name="adj" fmla="val 50000"/>
            </a:avLst>
          </a:prstGeom>
          <a:solidFill>
            <a:srgbClr val="6559A8"/>
          </a:solidFill>
          <a:ln w="9525">
            <a:solidFill>
              <a:srgbClr val="6559A8"/>
            </a:solidFill>
            <a:prstDash val="solid"/>
          </a:ln>
        </p:spPr>
        <p:txBody>
          <a:bodyPr wrap="square" lIns="76200" tIns="19050" rIns="76200" bIns="19050" anchor="ctr">
            <a:normAutofit fontScale="95821"/>
          </a:bodyPr>
          <a:lstStyle/>
          <a:p>
            <a:pPr algn="ctr">
              <a:lnSpc>
                <a:spcPct val="108000"/>
              </a:lnSpc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D3E7B48-4098-4253-A7D3-522B7871A25C}"/>
              </a:ext>
            </a:extLst>
          </p:cNvPr>
          <p:cNvSpPr>
            <a:spLocks noGrp="1"/>
          </p:cNvSpPr>
          <p:nvPr/>
        </p:nvSpPr>
        <p:spPr>
          <a:xfrm>
            <a:off x="1238250" y="4800600"/>
            <a:ext cx="214312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l">
              <a:lnSpc>
                <a:spcPct val="108000"/>
              </a:lnSpc>
              <a:buNone/>
              <a:def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24364B"/>
                </a:solidFill>
                <a:latin typeface="微软雅黑"/>
                <a:ea typeface="微软雅黑"/>
                <a:cs typeface="微软雅黑"/>
              </a:rPr>
              <a:t>把证据分层写进决策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58E9CB6-F8A4-4EF1-87BD-750BF5560EFE}"/>
              </a:ext>
            </a:extLst>
          </p:cNvPr>
          <p:cNvSpPr>
            <a:spLocks noGrp="1"/>
          </p:cNvSpPr>
          <p:nvPr/>
        </p:nvSpPr>
        <p:spPr>
          <a:xfrm>
            <a:off x="3429000" y="4800600"/>
            <a:ext cx="4000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/>
          <a:lstStyle/>
          <a:p>
            <a:pPr algn="l">
              <a:lnSpc>
                <a:spcPct val="108000"/>
              </a:lnSpc>
              <a:buNone/>
              <a:defRPr sz="1165" b="0">
                <a:solidFill>
                  <a:srgbClr val="68798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8798B"/>
                </a:solidFill>
                <a:latin typeface="微软雅黑"/>
                <a:ea typeface="微软雅黑"/>
                <a:cs typeface="微软雅黑"/>
              </a:rPr>
              <a:t>厂商数据可作为线索，但采购与上线应优先依赖独立评估、真实任务和重复运行。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BAB1BA79-B132-4F92-B299-FFEE6FDE0364}"/>
              </a:ext>
            </a:extLst>
          </p:cNvPr>
          <p:cNvSpPr>
            <a:spLocks noGrp="1"/>
          </p:cNvSpPr>
          <p:nvPr/>
        </p:nvSpPr>
        <p:spPr>
          <a:xfrm>
            <a:off x="7810500" y="3086100"/>
            <a:ext cx="3829050" cy="2381250"/>
          </a:xfrm>
          <a:prstGeom prst="roundRect">
            <a:avLst>
              <a:gd name="adj" fmla="val 4800"/>
            </a:avLst>
          </a:prstGeom>
          <a:solidFill>
            <a:srgbClr val="164B7A"/>
          </a:solidFill>
          <a:ln w="19050">
            <a:solidFill>
              <a:srgbClr val="53C4D5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9B4CA02-8EB7-40E7-9FA4-F75F707AA6BD}"/>
              </a:ext>
            </a:extLst>
          </p:cNvPr>
          <p:cNvSpPr>
            <a:spLocks noGrp="1"/>
          </p:cNvSpPr>
          <p:nvPr/>
        </p:nvSpPr>
        <p:spPr>
          <a:xfrm>
            <a:off x="8096250" y="3276600"/>
            <a:ext cx="32575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Q &amp; A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61482D4F-EE1D-46F8-B253-DAA34FF1DB55}"/>
              </a:ext>
            </a:extLst>
          </p:cNvPr>
          <p:cNvSpPr>
            <a:spLocks noGrp="1"/>
          </p:cNvSpPr>
          <p:nvPr/>
        </p:nvSpPr>
        <p:spPr>
          <a:xfrm>
            <a:off x="8420100" y="3819525"/>
            <a:ext cx="2609850" cy="19050"/>
          </a:xfrm>
          <a:prstGeom prst="rect">
            <a:avLst/>
          </a:prstGeom>
          <a:solidFill>
            <a:srgbClr val="53C4D5"/>
          </a:solidFill>
          <a:ln w="0">
            <a:noFill/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331E82A-925C-4C44-8280-37676570D26B}"/>
              </a:ext>
            </a:extLst>
          </p:cNvPr>
          <p:cNvSpPr>
            <a:spLocks noGrp="1"/>
          </p:cNvSpPr>
          <p:nvPr/>
        </p:nvSpPr>
        <p:spPr>
          <a:xfrm>
            <a:off x="8153400" y="3962400"/>
            <a:ext cx="31432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66675" tIns="47625" rIns="66675" bIns="47625" anchor="t">
            <a:normAutofit/>
          </a:bodyPr>
          <a:lstStyle/>
          <a:p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多智能体一定优于单智能体吗？</a:t>
            </a:r>
          </a:p>
          <a:p>
            <a:endParaRPr sz="12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MCP 与 A2A 如何配合？</a:t>
            </a:r>
          </a:p>
          <a:p>
            <a:endParaRPr sz="1275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ct val="110000"/>
              </a:lnSpc>
              <a:buNone/>
              <a:def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• 怎样衡量协调质量？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C533D4A4-B417-462E-ABD0-6DEE468A86FF}"/>
              </a:ext>
            </a:extLst>
          </p:cNvPr>
          <p:cNvSpPr>
            <a:spLocks noGrp="1"/>
          </p:cNvSpPr>
          <p:nvPr/>
        </p:nvSpPr>
        <p:spPr>
          <a:xfrm>
            <a:off x="10096500" y="5810250"/>
            <a:ext cx="1524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lnSpc>
                <a:spcPct val="108000"/>
              </a:lnSpc>
              <a:buNone/>
              <a:def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164B7A"/>
                </a:solidFill>
                <a:latin typeface="微软雅黑"/>
                <a:ea typeface="微软雅黑"/>
                <a:cs typeface="微软雅黑"/>
              </a:rPr>
              <a:t>第 18 页</a:t>
            </a:r>
          </a:p>
        </p:txBody>
      </p:sp>
      <p:sp>
        <p:nvSpPr>
          <p:cNvPr id="2" name="文本框 6">
            <a:extLst>
              <a:ext uri="{FF2B5EF4-FFF2-40B4-BE49-F238E27FC236}">
                <a16:creationId xmlns:a16="http://schemas.microsoft.com/office/drawing/2014/main" id="{9FB8D87D-DBB3-DF78-788F-CC328A2FEBDB}"/>
              </a:ext>
            </a:extLst>
          </p:cNvPr>
          <p:cNvSpPr>
            <a:spLocks noGrp="1"/>
          </p:cNvSpPr>
          <p:nvPr/>
        </p:nvSpPr>
        <p:spPr>
          <a:xfrm>
            <a:off x="169545" y="123190"/>
            <a:ext cx="7043420" cy="57848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marL="0" algn="l">
              <a:buNone/>
              <a:defRPr sz="2025" b="1">
                <a:solidFill>
                  <a:srgbClr val="1F2D3D"/>
                </a:solidFill>
              </a:defRPr>
            </a:pPr>
            <a:r>
              <a:rPr lang="en-US" sz="2025" b="1" dirty="0">
                <a:solidFill>
                  <a:srgbClr val="1F2D3D"/>
                </a:solidFill>
              </a:rPr>
              <a:t>3</a:t>
            </a:r>
            <a:r>
              <a:rPr sz="2025" b="1" dirty="0">
                <a:solidFill>
                  <a:srgbClr val="1F2D3D"/>
                </a:solidFill>
              </a:rPr>
              <a:t>.</a:t>
            </a:r>
            <a:r>
              <a:rPr lang="en-US" altLang="zh-CN" sz="2025" b="1" dirty="0">
                <a:solidFill>
                  <a:srgbClr val="1F2D3D"/>
                </a:solidFill>
              </a:rPr>
              <a:t>5</a:t>
            </a:r>
            <a:r>
              <a:rPr sz="2025" b="1" dirty="0">
                <a:solidFill>
                  <a:srgbClr val="1F2D3D"/>
                </a:solidFill>
              </a:rPr>
              <a:t>  </a:t>
            </a:r>
            <a:r>
              <a:rPr lang="en-US" sz="2025" b="1" dirty="0" err="1">
                <a:solidFill>
                  <a:srgbClr val="1F2D3D"/>
                </a:solidFill>
              </a:rPr>
              <a:t>生产设计</a:t>
            </a:r>
            <a:endParaRPr sz="2025" b="1" dirty="0">
              <a:solidFill>
                <a:srgbClr val="1F2D3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6389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0" y="2680120"/>
            <a:ext cx="213245" cy="1782763"/>
          </a:xfrm>
          <a:prstGeom prst="rect">
            <a:avLst/>
          </a:prstGeom>
          <a:gradFill>
            <a:gsLst>
              <a:gs pos="75000">
                <a:srgbClr val="7B395B"/>
              </a:gs>
              <a:gs pos="0">
                <a:srgbClr val="3063AD"/>
              </a:gs>
              <a:gs pos="100000">
                <a:srgbClr val="B81717"/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85" name="文本框 184"/>
          <p:cNvSpPr txBox="1"/>
          <p:nvPr>
            <p:custDataLst>
              <p:tags r:id="rId1"/>
            </p:custDataLst>
          </p:nvPr>
        </p:nvSpPr>
        <p:spPr>
          <a:xfrm>
            <a:off x="1901190" y="3048635"/>
            <a:ext cx="4525010" cy="761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zh-CN"/>
            </a:defPPr>
            <a:lvl1pPr marR="0" lvl="0" indent="0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sz="6000" b="0" i="0" u="none" strike="noStrike" cap="none" spc="-150" normalizeH="0" baseline="0">
                <a:ln>
                  <a:noFill/>
                </a:ln>
                <a:gradFill flip="none" rotWithShape="1">
                  <a:gsLst>
                    <a:gs pos="7000">
                      <a:srgbClr val="11779A"/>
                    </a:gs>
                    <a:gs pos="100000">
                      <a:srgbClr val="55B586"/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字体圈欣意冠黑体" panose="00000500000000000000" pitchFamily="2" charset="-122"/>
                <a:ea typeface="字体圈欣意冠黑体" panose="00000500000000000000" pitchFamily="2" charset="-122"/>
                <a:cs typeface="阿里巴巴普惠体 Medium" panose="00020600040101010101" pitchFamily="18" charset="-122"/>
              </a:defRPr>
            </a:lvl1pPr>
          </a:lstStyle>
          <a:p>
            <a:pPr>
              <a:lnSpc>
                <a:spcPct val="110000"/>
              </a:lnSpc>
            </a:pPr>
            <a:r>
              <a:rPr lang="zh-CN" altLang="en-US" sz="4500" dirty="0">
                <a:solidFill>
                  <a:schemeClr val="tx1"/>
                </a:solidFill>
                <a:latin typeface="优设标题黑" panose="00000500000000000000" pitchFamily="2" charset="-122"/>
                <a:ea typeface="优设标题黑" panose="00000500000000000000" pitchFamily="2" charset="-122"/>
                <a:cs typeface="OPPOSans B" panose="00020600040101010101" pitchFamily="18" charset="-122"/>
              </a:rPr>
              <a:t>恳请老师批评指正！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DJUSTMENTS" val="41.27409"/>
  <p:tag name="TEXTGLOW" val="0"/>
  <p:tag name="TEXTREFLECTION" val="0"/>
  <p:tag name="LINERULEAFTER" val="0"/>
  <p:tag name="MARGINBOTTOM" val="3.815984"/>
  <p:tag name="MARGINRIGHT" val="7.631968"/>
  <p:tag name="MARGINLEFT" val="7.631968"/>
  <p:tag name="MARGINTOP" val="3.815984"/>
  <p:tag name="FONTSIZE" val="19.08"/>
  <p:tag name="SOFTEDGE" val="0"/>
  <p:tag name="SHAPEGLOW" val="0"/>
  <p:tag name="SHAPEREFLECTION" val="-2.147484E+09"/>
  <p:tag name="HEIGHT" val="82.54819"/>
  <p:tag name="WIDTH" val="656"/>
  <p:tag name="LEFT" val="0"/>
  <p:tag name="TOP" val="220.470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GLOW" val="0"/>
  <p:tag name="TEXTREFLECTION" val="0"/>
  <p:tag name="LINERULEAFTER" val="0"/>
  <p:tag name="MARGINBOTTOM" val="0"/>
  <p:tag name="MARGINRIGHT" val="0"/>
  <p:tag name="MARGINLEFT" val="0"/>
  <p:tag name="MARGINTOP" val="0"/>
  <p:tag name="FONTSIZE" val="48"/>
  <p:tag name="SOFTEDGE" val="0"/>
  <p:tag name="SHAPEGLOW" val="0"/>
  <p:tag name="SHAPEREFLECTION" val="-2.147484E+09"/>
  <p:tag name="HEIGHT" val="141.5439"/>
  <p:tag name="WIDTH" val="590.7129"/>
  <p:tag name="LEFT" val="52.81063"/>
  <p:tag name="TOP" val="159.791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62.1775590551182,&quot;left&quot;:47.08834645669285,&quot;top&quot;:77.4015748031496,&quot;width&quot;:883.1116535433072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EXTGLOW" val="0"/>
  <p:tag name="TEXTREFLECTION" val="0"/>
  <p:tag name="LINERULEAFTER" val="0"/>
  <p:tag name="MARGINBOTTOM" val="0"/>
  <p:tag name="MARGINRIGHT" val="0"/>
  <p:tag name="MARGINLEFT" val="0"/>
  <p:tag name="MARGINTOP" val="0"/>
  <p:tag name="FONTSIZE" val="48"/>
  <p:tag name="SOFTEDGE" val="0"/>
  <p:tag name="SHAPEGLOW" val="0"/>
  <p:tag name="SHAPEREFLECTION" val="-2.147484E+09"/>
  <p:tag name="HEIGHT" val="141.5439"/>
  <p:tag name="WIDTH" val="590.7129"/>
  <p:tag name="LEFT" val="52.81063"/>
  <p:tag name="TOP" val="159.7912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588"/>
      </a:accent1>
      <a:accent2>
        <a:srgbClr val="FF9C00"/>
      </a:accent2>
      <a:accent3>
        <a:srgbClr val="0083C2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自定义 81">
      <a:dk1>
        <a:sysClr val="windowText" lastClr="000000"/>
      </a:dk1>
      <a:lt1>
        <a:sysClr val="window" lastClr="FFFFFF"/>
      </a:lt1>
      <a:dk2>
        <a:srgbClr val="2D3847"/>
      </a:dk2>
      <a:lt2>
        <a:srgbClr val="E7E6E6"/>
      </a:lt2>
      <a:accent1>
        <a:srgbClr val="113CCF"/>
      </a:accent1>
      <a:accent2>
        <a:srgbClr val="F4F9FD"/>
      </a:accent2>
      <a:accent3>
        <a:srgbClr val="1B81ED"/>
      </a:accent3>
      <a:accent4>
        <a:srgbClr val="FFC000"/>
      </a:accent4>
      <a:accent5>
        <a:srgbClr val="7F7F7F"/>
      </a:accent5>
      <a:accent6>
        <a:srgbClr val="595959"/>
      </a:accent6>
      <a:hlink>
        <a:srgbClr val="0563C1"/>
      </a:hlink>
      <a:folHlink>
        <a:srgbClr val="954F72"/>
      </a:folHlink>
    </a:clrScheme>
    <a:fontScheme name="全微软雅黑字体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自定义 8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鲍鱼素材https://baoyusucai.taobao.com/">
  <a:themeElements>
    <a:clrScheme name="自定义 113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3C8DBE"/>
      </a:accent1>
      <a:accent2>
        <a:srgbClr val="66C2CF"/>
      </a:accent2>
      <a:accent3>
        <a:srgbClr val="3C8DBE"/>
      </a:accent3>
      <a:accent4>
        <a:srgbClr val="66C2CF"/>
      </a:accent4>
      <a:accent5>
        <a:srgbClr val="3C8DBE"/>
      </a:accent5>
      <a:accent6>
        <a:srgbClr val="66C2CF"/>
      </a:accent6>
      <a:hlink>
        <a:srgbClr val="168BBA"/>
      </a:hlink>
      <a:folHlink>
        <a:srgbClr val="68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自定义 113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1958</Words>
  <Application>Microsoft Macintosh PowerPoint</Application>
  <DocSecurity>0</DocSecurity>
  <PresentationFormat>宽屏</PresentationFormat>
  <Paragraphs>585</Paragraphs>
  <Slides>24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宋体</vt:lpstr>
      <vt:lpstr>微软雅黑</vt:lpstr>
      <vt:lpstr>微软雅黑 Light</vt:lpstr>
      <vt:lpstr>优设标题黑</vt:lpstr>
      <vt:lpstr>Arial</vt:lpstr>
      <vt:lpstr>Arial Black</vt:lpstr>
      <vt:lpstr>Calibri</vt:lpstr>
      <vt:lpstr>WPS</vt:lpstr>
      <vt:lpstr>Office 主题</vt:lpstr>
      <vt:lpstr>Office 主题​​</vt:lpstr>
      <vt:lpstr>鲍鱼素材https://baoyusucai.taobao.com/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didi</cp:lastModifiedBy>
  <cp:revision>5</cp:revision>
  <dcterms:created xsi:type="dcterms:W3CDTF">2026-07-22T08:11:43Z</dcterms:created>
  <dcterms:modified xsi:type="dcterms:W3CDTF">2026-07-22T08:41:16Z</dcterms:modified>
</cp:coreProperties>
</file>